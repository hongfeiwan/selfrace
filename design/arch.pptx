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85" r:id="rId2"/>
    <p:sldId id="256" r:id="rId3"/>
    <p:sldId id="257" r:id="rId4"/>
    <p:sldId id="270" r:id="rId5"/>
    <p:sldId id="268" r:id="rId6"/>
    <p:sldId id="260" r:id="rId7"/>
    <p:sldId id="259" r:id="rId8"/>
    <p:sldId id="269" r:id="rId9"/>
    <p:sldId id="276" r:id="rId10"/>
    <p:sldId id="258" r:id="rId11"/>
    <p:sldId id="277" r:id="rId12"/>
    <p:sldId id="274" r:id="rId13"/>
    <p:sldId id="265" r:id="rId14"/>
    <p:sldId id="271" r:id="rId15"/>
    <p:sldId id="272" r:id="rId16"/>
    <p:sldId id="280" r:id="rId17"/>
    <p:sldId id="281" r:id="rId18"/>
    <p:sldId id="282" r:id="rId19"/>
    <p:sldId id="283" r:id="rId20"/>
    <p:sldId id="284" r:id="rId21"/>
    <p:sldId id="266" r:id="rId22"/>
    <p:sldId id="261" r:id="rId23"/>
    <p:sldId id="262" r:id="rId24"/>
    <p:sldId id="263" r:id="rId25"/>
    <p:sldId id="273" r:id="rId26"/>
    <p:sldId id="275" r:id="rId27"/>
    <p:sldId id="278" r:id="rId28"/>
    <p:sldId id="279" r:id="rId2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080C"/>
    <a:srgbClr val="FF0000"/>
    <a:srgbClr val="FF4EF9"/>
    <a:srgbClr val="8BCFEC"/>
    <a:srgbClr val="D3D7D3"/>
    <a:srgbClr val="F7CFC7"/>
    <a:srgbClr val="0000FF"/>
    <a:srgbClr val="00BFBF"/>
    <a:srgbClr val="870087"/>
    <a:srgbClr val="FF8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78" autoAdjust="0"/>
    <p:restoredTop sz="94411" autoAdjust="0"/>
  </p:normalViewPr>
  <p:slideViewPr>
    <p:cSldViewPr snapToGrid="0">
      <p:cViewPr>
        <p:scale>
          <a:sx n="66" d="100"/>
          <a:sy n="66" d="100"/>
        </p:scale>
        <p:origin x="772" y="-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Relationship Id="rId4" Type="http://schemas.openxmlformats.org/officeDocument/2006/relationships/image" Target="../media/image20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29.wmf"/><Relationship Id="rId3" Type="http://schemas.openxmlformats.org/officeDocument/2006/relationships/image" Target="../media/image24.wmf"/><Relationship Id="rId7" Type="http://schemas.openxmlformats.org/officeDocument/2006/relationships/image" Target="../media/image28.emf"/><Relationship Id="rId12" Type="http://schemas.openxmlformats.org/officeDocument/2006/relationships/image" Target="../media/image33.wmf"/><Relationship Id="rId2" Type="http://schemas.openxmlformats.org/officeDocument/2006/relationships/image" Target="../media/image23.wmf"/><Relationship Id="rId1" Type="http://schemas.openxmlformats.org/officeDocument/2006/relationships/image" Target="../media/image22.wmf"/><Relationship Id="rId6" Type="http://schemas.openxmlformats.org/officeDocument/2006/relationships/image" Target="../media/image27.wmf"/><Relationship Id="rId11" Type="http://schemas.openxmlformats.org/officeDocument/2006/relationships/image" Target="../media/image32.wmf"/><Relationship Id="rId5" Type="http://schemas.openxmlformats.org/officeDocument/2006/relationships/image" Target="../media/image26.wmf"/><Relationship Id="rId10" Type="http://schemas.openxmlformats.org/officeDocument/2006/relationships/image" Target="../media/image31.wmf"/><Relationship Id="rId4" Type="http://schemas.openxmlformats.org/officeDocument/2006/relationships/image" Target="../media/image25.wmf"/><Relationship Id="rId9" Type="http://schemas.openxmlformats.org/officeDocument/2006/relationships/image" Target="../media/image3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20D850-ECA6-4B73-A120-2CDB0DC198AF}" type="datetimeFigureOut">
              <a:rPr lang="zh-CN" altLang="en-US" smtClean="0"/>
              <a:t>2025/8/29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BF01C4-FEF3-4F65-968A-9FD0DBC28E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99108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BF01C4-FEF3-4F65-968A-9FD0DBC28ECE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3012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BF01C4-FEF3-4F65-968A-9FD0DBC28ECE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56565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0CB241-92B8-4F17-8BF0-35CB057785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1D81297-FDF1-49F8-968A-0FC12C56BE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C829D17-4935-42D8-B955-1D286796E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FDB15-7326-485A-A5C8-B9774FE10C0A}" type="datetimeFigureOut">
              <a:rPr lang="zh-CN" altLang="en-US" smtClean="0"/>
              <a:t>2025/8/29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D950FAA-3DB3-445C-A12F-810362FDB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115515A-52C2-4CDB-BCCB-326562C98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F076A-6317-4E01-8A66-A9E7A510E8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50039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7D6EE1-2387-4F0B-9B58-241AC70A7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08C77A-2A7C-471F-A4BD-2DAD0280A6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557AB58-A4AD-47CB-84A0-5489C507A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FDB15-7326-485A-A5C8-B9774FE10C0A}" type="datetimeFigureOut">
              <a:rPr lang="zh-CN" altLang="en-US" smtClean="0"/>
              <a:t>2025/8/29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516795B-FBCE-4B19-B9C1-538A62973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B09A781-FD49-4609-B957-86EA76A29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F076A-6317-4E01-8A66-A9E7A510E8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9143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7E2E3E-2CBB-4119-A9A0-CAF72D375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1A6B9DF-B04C-48A3-93A9-D452AA9455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AD5F530-11B5-4A9E-8145-2B995CC38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FDB15-7326-485A-A5C8-B9774FE10C0A}" type="datetimeFigureOut">
              <a:rPr lang="zh-CN" altLang="en-US" smtClean="0"/>
              <a:t>2025/8/29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EBF2D97-AB4C-4463-9B66-2621C18F8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58E4A6-709F-47C8-9EED-978E1D774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F076A-6317-4E01-8A66-A9E7A510E8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42820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0CD217-4A94-4C04-9F9E-24840505A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429B125-B09C-4510-9A05-BB8A035E75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AD8D26D-A8AB-4E01-8DDF-12D8C505F8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5835EB3-F073-4018-B871-AB088A14F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FDB15-7326-485A-A5C8-B9774FE10C0A}" type="datetimeFigureOut">
              <a:rPr lang="zh-CN" altLang="en-US" smtClean="0"/>
              <a:t>2025/8/29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BA4CF1D-95E4-466C-BA24-87B2C8E4E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7BB140B-893D-443C-9A2C-AB6E58BDD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F076A-6317-4E01-8A66-A9E7A510E8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3073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250B96-828C-4136-84FD-FA2F0B578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E8BE94E-7655-4BB8-9224-85E95F04E8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5DC5C45-5B3E-4107-9260-7E4CD02317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2289ABA-4092-478D-B4F4-9AD8906CF0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0525926-E3D2-4DAD-8694-2BD10F2923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D4E56A4-9856-414B-9CE1-B99A3BB29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FDB15-7326-485A-A5C8-B9774FE10C0A}" type="datetimeFigureOut">
              <a:rPr lang="zh-CN" altLang="en-US" smtClean="0"/>
              <a:t>2025/8/29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DBC5D51-7AAB-4FD5-9B80-006D8B6D1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F6EE5F5-E5CB-4D9F-9B1A-F21F8A20C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F076A-6317-4E01-8A66-A9E7A510E8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24849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1D5417-E21E-4DA6-A54F-FED85480E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AA602E2-AAAE-486D-B629-6D30091F2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FDB15-7326-485A-A5C8-B9774FE10C0A}" type="datetimeFigureOut">
              <a:rPr lang="zh-CN" altLang="en-US" smtClean="0"/>
              <a:t>2025/8/29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D148361-7B69-4C94-AB04-1B30F7BA1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E226EB2-FA15-404E-BCC2-2A4256328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F076A-6317-4E01-8A66-A9E7A510E8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38809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320ED65-C31E-4CD9-87C9-2F2DCF39E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FDB15-7326-485A-A5C8-B9774FE10C0A}" type="datetimeFigureOut">
              <a:rPr lang="zh-CN" altLang="en-US" smtClean="0"/>
              <a:t>2025/8/29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49BA448-B229-427E-9869-5B0C4B9EC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B86C58F-192A-4F19-A27F-81BA5C87A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F076A-6317-4E01-8A66-A9E7A510E8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58833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F550ED-E1EC-4DF9-BBD6-C03973D46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0091DD8-BA3C-4070-BF9E-A595840905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3DDD6B8-6543-4455-B1F9-AE26549047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BCC2B46-1683-4134-AA13-0DC6162A7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FDB15-7326-485A-A5C8-B9774FE10C0A}" type="datetimeFigureOut">
              <a:rPr lang="zh-CN" altLang="en-US" smtClean="0"/>
              <a:t>2025/8/29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8C4991E-8CB1-4776-9539-EB23BDFCB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BB34AB0-8F0F-4BDE-BA15-ED4301A34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F076A-6317-4E01-8A66-A9E7A510E8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1969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6DFF19-BF3E-4492-B48D-829A04BC90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8347449-42C4-4ACC-950C-DD87345AF7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B4C883A-937C-4D7E-8A63-EC62B4DABF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9BA56A4-C502-4E70-BE49-96D480FAE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FDB15-7326-485A-A5C8-B9774FE10C0A}" type="datetimeFigureOut">
              <a:rPr lang="zh-CN" altLang="en-US" smtClean="0"/>
              <a:t>2025/8/29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96DD371-A2CD-4C9F-884C-989F36B3D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EE27F08-140F-4BAC-AE52-63D9FBCAE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F076A-6317-4E01-8A66-A9E7A510E8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7110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6F5248-EB06-429A-8D1C-9037629DB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435856F-6309-4C90-8BE5-01C77B6C48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ED41B18-52CA-4A55-ADF9-7BC2E189D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FDB15-7326-485A-A5C8-B9774FE10C0A}" type="datetimeFigureOut">
              <a:rPr lang="zh-CN" altLang="en-US" smtClean="0"/>
              <a:t>2025/8/29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2066661-2336-4895-B5AB-46F78138C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ADEFA42-9F61-454F-86B2-31CBE0D8F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F076A-6317-4E01-8A66-A9E7A510E8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63659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F65DA2E-DE8E-4057-991D-D20788F0EC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FBBFBCD-29A9-49E4-B458-13D59503C1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AE8B5E-FE91-4450-9E0D-5879191E9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FDB15-7326-485A-A5C8-B9774FE10C0A}" type="datetimeFigureOut">
              <a:rPr lang="zh-CN" altLang="en-US" smtClean="0"/>
              <a:t>2025/8/29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EEA950-E190-42B5-B54B-1C82161E6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4A575B8-1B31-46DC-88CF-EDFE30D23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F076A-6317-4E01-8A66-A9E7A510E8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1199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B087E05-661E-4FE1-BB38-F7815B402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B599F1B-E9B4-45F7-9AC6-6582268748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AB15B1A-17C6-4ADC-A107-A36078A267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4FDB15-7326-485A-A5C8-B9774FE10C0A}" type="datetimeFigureOut">
              <a:rPr lang="zh-CN" altLang="en-US" smtClean="0"/>
              <a:t>2025/8/29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0ADA3B7-96C1-42C8-9BC4-ED8B33D5F3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BFF850-0476-49F3-8C8B-1AB586B874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BF076A-6317-4E01-8A66-A9E7A510E8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12325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13" Type="http://schemas.openxmlformats.org/officeDocument/2006/relationships/image" Target="../media/image20.wmf"/><Relationship Id="rId3" Type="http://schemas.openxmlformats.org/officeDocument/2006/relationships/notesSlide" Target="../notesSlides/notesSlide1.xml"/><Relationship Id="rId7" Type="http://schemas.openxmlformats.org/officeDocument/2006/relationships/oleObject" Target="../embeddings/oleObject2.bin"/><Relationship Id="rId12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7.wmf"/><Relationship Id="rId11" Type="http://schemas.openxmlformats.org/officeDocument/2006/relationships/image" Target="../media/image19.wmf"/><Relationship Id="rId5" Type="http://schemas.openxmlformats.org/officeDocument/2006/relationships/oleObject" Target="../embeddings/oleObject1.bin"/><Relationship Id="rId10" Type="http://schemas.openxmlformats.org/officeDocument/2006/relationships/oleObject" Target="../embeddings/oleObject3.bin"/><Relationship Id="rId4" Type="http://schemas.openxmlformats.org/officeDocument/2006/relationships/image" Target="../media/image21.png"/><Relationship Id="rId9" Type="http://schemas.openxmlformats.org/officeDocument/2006/relationships/image" Target="../media/image19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13" Type="http://schemas.openxmlformats.org/officeDocument/2006/relationships/image" Target="../media/image26.wmf"/><Relationship Id="rId18" Type="http://schemas.openxmlformats.org/officeDocument/2006/relationships/oleObject" Target="../embeddings/oleObject12.bin"/><Relationship Id="rId26" Type="http://schemas.openxmlformats.org/officeDocument/2006/relationships/oleObject" Target="../embeddings/oleObject16.bin"/><Relationship Id="rId3" Type="http://schemas.openxmlformats.org/officeDocument/2006/relationships/oleObject" Target="../embeddings/oleObject5.bin"/><Relationship Id="rId21" Type="http://schemas.openxmlformats.org/officeDocument/2006/relationships/image" Target="../media/image30.wmf"/><Relationship Id="rId7" Type="http://schemas.openxmlformats.org/officeDocument/2006/relationships/oleObject" Target="../embeddings/oleObject7.bin"/><Relationship Id="rId12" Type="http://schemas.openxmlformats.org/officeDocument/2006/relationships/oleObject" Target="../embeddings/oleObject9.bin"/><Relationship Id="rId17" Type="http://schemas.openxmlformats.org/officeDocument/2006/relationships/image" Target="../media/image28.emf"/><Relationship Id="rId25" Type="http://schemas.openxmlformats.org/officeDocument/2006/relationships/image" Target="../media/image32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1.bin"/><Relationship Id="rId20" Type="http://schemas.openxmlformats.org/officeDocument/2006/relationships/oleObject" Target="../embeddings/oleObject13.bin"/><Relationship Id="rId1" Type="http://schemas.openxmlformats.org/officeDocument/2006/relationships/vmlDrawing" Target="../drawings/vmlDrawing2.vml"/><Relationship Id="rId6" Type="http://schemas.openxmlformats.org/officeDocument/2006/relationships/image" Target="../media/image23.wmf"/><Relationship Id="rId11" Type="http://schemas.openxmlformats.org/officeDocument/2006/relationships/image" Target="../media/image33.png"/><Relationship Id="rId24" Type="http://schemas.openxmlformats.org/officeDocument/2006/relationships/oleObject" Target="../embeddings/oleObject15.bin"/><Relationship Id="rId5" Type="http://schemas.openxmlformats.org/officeDocument/2006/relationships/oleObject" Target="../embeddings/oleObject6.bin"/><Relationship Id="rId15" Type="http://schemas.openxmlformats.org/officeDocument/2006/relationships/image" Target="../media/image27.wmf"/><Relationship Id="rId23" Type="http://schemas.openxmlformats.org/officeDocument/2006/relationships/image" Target="../media/image31.wmf"/><Relationship Id="rId10" Type="http://schemas.openxmlformats.org/officeDocument/2006/relationships/image" Target="../media/image25.wmf"/><Relationship Id="rId19" Type="http://schemas.openxmlformats.org/officeDocument/2006/relationships/image" Target="../media/image29.wmf"/><Relationship Id="rId4" Type="http://schemas.openxmlformats.org/officeDocument/2006/relationships/image" Target="../media/image22.wmf"/><Relationship Id="rId9" Type="http://schemas.openxmlformats.org/officeDocument/2006/relationships/oleObject" Target="../embeddings/oleObject8.bin"/><Relationship Id="rId14" Type="http://schemas.openxmlformats.org/officeDocument/2006/relationships/oleObject" Target="../embeddings/oleObject10.bin"/><Relationship Id="rId22" Type="http://schemas.openxmlformats.org/officeDocument/2006/relationships/oleObject" Target="../embeddings/oleObject14.bin"/><Relationship Id="rId27" Type="http://schemas.openxmlformats.org/officeDocument/2006/relationships/image" Target="../media/image33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gif"/><Relationship Id="rId2" Type="http://schemas.openxmlformats.org/officeDocument/2006/relationships/image" Target="../media/image46.gi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FC511825-B5A9-46E8-9495-CF64ED4486C7}"/>
              </a:ext>
            </a:extLst>
          </p:cNvPr>
          <p:cNvGrpSpPr/>
          <p:nvPr/>
        </p:nvGrpSpPr>
        <p:grpSpPr>
          <a:xfrm>
            <a:off x="2147112" y="2271053"/>
            <a:ext cx="7897775" cy="2315894"/>
            <a:chOff x="2147112" y="2271053"/>
            <a:chExt cx="7897775" cy="2315894"/>
          </a:xfrm>
        </p:grpSpPr>
        <p:pic>
          <p:nvPicPr>
            <p:cNvPr id="6" name="图形 5" descr="汽车 纯色填充">
              <a:extLst>
                <a:ext uri="{FF2B5EF4-FFF2-40B4-BE49-F238E27FC236}">
                  <a16:creationId xmlns:a16="http://schemas.microsoft.com/office/drawing/2014/main" id="{E7FF3745-6A63-4413-8F25-C7B18AF969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918598" y="2271053"/>
              <a:ext cx="2315894" cy="2315894"/>
            </a:xfrm>
            <a:prstGeom prst="rect">
              <a:avLst/>
            </a:prstGeom>
          </p:spPr>
        </p:pic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B7164499-8C6B-4F2E-AC2E-B435BF9C03FD}"/>
                </a:ext>
              </a:extLst>
            </p:cNvPr>
            <p:cNvSpPr txBox="1"/>
            <p:nvPr/>
          </p:nvSpPr>
          <p:spPr>
            <a:xfrm>
              <a:off x="2147112" y="2767280"/>
              <a:ext cx="7897775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8000" b="1" dirty="0">
                  <a:solidFill>
                    <a:srgbClr val="7030A0"/>
                  </a:solidFill>
                  <a:latin typeface="BankGothic Md BT" panose="020B0807020203060204" pitchFamily="34" charset="0"/>
                </a:rPr>
                <a:t>Self      Race</a:t>
              </a:r>
              <a:endParaRPr lang="zh-CN" altLang="en-US" sz="8000" b="1" dirty="0">
                <a:solidFill>
                  <a:srgbClr val="7030A0"/>
                </a:solidFill>
                <a:latin typeface="BankGothic Md BT" panose="020B080702020306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654568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FD032728-F346-48AD-BC46-93BF309F8E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918" y="459463"/>
            <a:ext cx="5879082" cy="5939073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341009A1-A090-4B11-A97A-BBB61D0565E2}"/>
              </a:ext>
            </a:extLst>
          </p:cNvPr>
          <p:cNvSpPr/>
          <p:nvPr/>
        </p:nvSpPr>
        <p:spPr>
          <a:xfrm>
            <a:off x="5255491" y="3168073"/>
            <a:ext cx="489527" cy="1366982"/>
          </a:xfrm>
          <a:prstGeom prst="rect">
            <a:avLst/>
          </a:prstGeom>
          <a:noFill/>
          <a:ln w="254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EA1B3C1-ABB0-4C32-BF25-9679B0A425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304" y="459462"/>
            <a:ext cx="2945942" cy="5939073"/>
          </a:xfrm>
          <a:prstGeom prst="rect">
            <a:avLst/>
          </a:prstGeom>
        </p:spPr>
      </p:pic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C45DDF8A-C8D9-4EBF-97D0-798316DE6DEA}"/>
              </a:ext>
            </a:extLst>
          </p:cNvPr>
          <p:cNvCxnSpPr>
            <a:cxnSpLocks/>
          </p:cNvCxnSpPr>
          <p:nvPr/>
        </p:nvCxnSpPr>
        <p:spPr>
          <a:xfrm flipV="1">
            <a:off x="5745018" y="604982"/>
            <a:ext cx="937491" cy="25630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3A1330FD-AB8F-4788-A881-B07822664422}"/>
              </a:ext>
            </a:extLst>
          </p:cNvPr>
          <p:cNvCxnSpPr>
            <a:cxnSpLocks/>
          </p:cNvCxnSpPr>
          <p:nvPr/>
        </p:nvCxnSpPr>
        <p:spPr>
          <a:xfrm>
            <a:off x="5745018" y="4535055"/>
            <a:ext cx="937491" cy="15701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34B6AA90-A20D-421D-82C7-F62754ADE503}"/>
              </a:ext>
            </a:extLst>
          </p:cNvPr>
          <p:cNvSpPr/>
          <p:nvPr/>
        </p:nvSpPr>
        <p:spPr>
          <a:xfrm>
            <a:off x="9537932" y="1625603"/>
            <a:ext cx="517236" cy="196272"/>
          </a:xfrm>
          <a:prstGeom prst="rect">
            <a:avLst/>
          </a:prstGeom>
          <a:solidFill>
            <a:srgbClr val="8DCF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88F37AF-DE40-4FCF-B843-3F0B822F3523}"/>
              </a:ext>
            </a:extLst>
          </p:cNvPr>
          <p:cNvSpPr txBox="1"/>
          <p:nvPr/>
        </p:nvSpPr>
        <p:spPr>
          <a:xfrm>
            <a:off x="9467237" y="1821875"/>
            <a:ext cx="723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quads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左大括号 18">
            <a:extLst>
              <a:ext uri="{FF2B5EF4-FFF2-40B4-BE49-F238E27FC236}">
                <a16:creationId xmlns:a16="http://schemas.microsoft.com/office/drawing/2014/main" id="{FD8A9136-866A-471F-A1DF-06951A08C71F}"/>
              </a:ext>
            </a:extLst>
          </p:cNvPr>
          <p:cNvSpPr/>
          <p:nvPr/>
        </p:nvSpPr>
        <p:spPr>
          <a:xfrm>
            <a:off x="10181800" y="990600"/>
            <a:ext cx="125258" cy="1428750"/>
          </a:xfrm>
          <a:prstGeom prst="leftBrace">
            <a:avLst>
              <a:gd name="adj1" fmla="val 65616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1BA8C19-AD4A-41E0-84A9-9961F5107A02}"/>
              </a:ext>
            </a:extLst>
          </p:cNvPr>
          <p:cNvSpPr txBox="1"/>
          <p:nvPr/>
        </p:nvSpPr>
        <p:spPr>
          <a:xfrm>
            <a:off x="10342859" y="942022"/>
            <a:ext cx="122041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poly_Id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vertices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road_id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lane_id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5CB33432-76E5-4B3E-B6FC-8645B86B0F36}"/>
              </a:ext>
            </a:extLst>
          </p:cNvPr>
          <p:cNvSpPr/>
          <p:nvPr/>
        </p:nvSpPr>
        <p:spPr>
          <a:xfrm>
            <a:off x="9651790" y="4319200"/>
            <a:ext cx="180000" cy="180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F8170B0C-80F0-43A4-812F-02CB948879F8}"/>
              </a:ext>
            </a:extLst>
          </p:cNvPr>
          <p:cNvSpPr txBox="1"/>
          <p:nvPr/>
        </p:nvSpPr>
        <p:spPr>
          <a:xfrm>
            <a:off x="9380153" y="3666898"/>
            <a:ext cx="16039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traffic_controls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C0C20ED-509A-42FC-BDCA-35CFDADA8BE0}"/>
              </a:ext>
            </a:extLst>
          </p:cNvPr>
          <p:cNvSpPr/>
          <p:nvPr/>
        </p:nvSpPr>
        <p:spPr>
          <a:xfrm>
            <a:off x="9483172" y="5437472"/>
            <a:ext cx="517236" cy="50225"/>
          </a:xfrm>
          <a:prstGeom prst="rect">
            <a:avLst/>
          </a:prstGeom>
          <a:solidFill>
            <a:srgbClr val="FA080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左大括号 32">
            <a:extLst>
              <a:ext uri="{FF2B5EF4-FFF2-40B4-BE49-F238E27FC236}">
                <a16:creationId xmlns:a16="http://schemas.microsoft.com/office/drawing/2014/main" id="{068467BF-A14B-4112-8E34-FCF28D4848D5}"/>
              </a:ext>
            </a:extLst>
          </p:cNvPr>
          <p:cNvSpPr/>
          <p:nvPr/>
        </p:nvSpPr>
        <p:spPr>
          <a:xfrm>
            <a:off x="10056877" y="4096206"/>
            <a:ext cx="163097" cy="625989"/>
          </a:xfrm>
          <a:prstGeom prst="leftBrace">
            <a:avLst>
              <a:gd name="adj1" fmla="val 65616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FE70E30B-A60C-4B6E-8511-EEFE2D27D91E}"/>
              </a:ext>
            </a:extLst>
          </p:cNvPr>
          <p:cNvSpPr txBox="1"/>
          <p:nvPr/>
        </p:nvSpPr>
        <p:spPr>
          <a:xfrm>
            <a:off x="10131101" y="4075864"/>
            <a:ext cx="24183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traffic_light_id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traffic_light_location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左大括号 35">
            <a:extLst>
              <a:ext uri="{FF2B5EF4-FFF2-40B4-BE49-F238E27FC236}">
                <a16:creationId xmlns:a16="http://schemas.microsoft.com/office/drawing/2014/main" id="{FCB6DE01-B229-4296-BEE5-5811209D6105}"/>
              </a:ext>
            </a:extLst>
          </p:cNvPr>
          <p:cNvSpPr/>
          <p:nvPr/>
        </p:nvSpPr>
        <p:spPr>
          <a:xfrm>
            <a:off x="10094715" y="5283777"/>
            <a:ext cx="125259" cy="583623"/>
          </a:xfrm>
          <a:prstGeom prst="leftBrace">
            <a:avLst>
              <a:gd name="adj1" fmla="val 65616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566713A2-4BC2-46F3-812A-DF52063EC17F}"/>
              </a:ext>
            </a:extLst>
          </p:cNvPr>
          <p:cNvSpPr txBox="1"/>
          <p:nvPr/>
        </p:nvSpPr>
        <p:spPr>
          <a:xfrm>
            <a:off x="9651790" y="4920280"/>
            <a:ext cx="21440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stop_line_waypoints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AD49207F-1984-4614-AF20-F3721A645029}"/>
              </a:ext>
            </a:extLst>
          </p:cNvPr>
          <p:cNvSpPr txBox="1"/>
          <p:nvPr/>
        </p:nvSpPr>
        <p:spPr>
          <a:xfrm>
            <a:off x="10219974" y="5277918"/>
            <a:ext cx="9474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location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3BE8150C-4E15-4699-99BC-38247730D655}"/>
              </a:ext>
            </a:extLst>
          </p:cNvPr>
          <p:cNvSpPr txBox="1"/>
          <p:nvPr/>
        </p:nvSpPr>
        <p:spPr>
          <a:xfrm>
            <a:off x="10219974" y="5584614"/>
            <a:ext cx="9474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rotation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EE80BA0-53E8-41D5-88E2-4DE774254775}"/>
              </a:ext>
            </a:extLst>
          </p:cNvPr>
          <p:cNvSpPr txBox="1"/>
          <p:nvPr/>
        </p:nvSpPr>
        <p:spPr>
          <a:xfrm>
            <a:off x="10930051" y="0"/>
            <a:ext cx="12619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World_init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55475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61B162CA-EA9F-4672-B112-71F5A7F8D22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49" t="4445"/>
          <a:stretch/>
        </p:blipFill>
        <p:spPr>
          <a:xfrm>
            <a:off x="0" y="304800"/>
            <a:ext cx="4091543" cy="6553199"/>
          </a:xfrm>
          <a:prstGeom prst="rect">
            <a:avLst/>
          </a:prstGeom>
        </p:spPr>
      </p:pic>
      <p:sp>
        <p:nvSpPr>
          <p:cNvPr id="5" name="椭圆 4">
            <a:extLst>
              <a:ext uri="{FF2B5EF4-FFF2-40B4-BE49-F238E27FC236}">
                <a16:creationId xmlns:a16="http://schemas.microsoft.com/office/drawing/2014/main" id="{903B736C-1303-45A4-9F88-F35FC6196C4D}"/>
              </a:ext>
            </a:extLst>
          </p:cNvPr>
          <p:cNvSpPr/>
          <p:nvPr/>
        </p:nvSpPr>
        <p:spPr>
          <a:xfrm>
            <a:off x="5264093" y="1566475"/>
            <a:ext cx="180000" cy="180000"/>
          </a:xfrm>
          <a:prstGeom prst="ellipse">
            <a:avLst/>
          </a:prstGeom>
          <a:solidFill>
            <a:srgbClr val="D3D7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04F0114-68C9-4B88-8523-0609946290EE}"/>
              </a:ext>
            </a:extLst>
          </p:cNvPr>
          <p:cNvSpPr txBox="1"/>
          <p:nvPr/>
        </p:nvSpPr>
        <p:spPr>
          <a:xfrm>
            <a:off x="3819125" y="1110734"/>
            <a:ext cx="1753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all_quad_centers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B1FA2E9-2758-47ED-A4A1-6B606349F660}"/>
              </a:ext>
            </a:extLst>
          </p:cNvPr>
          <p:cNvSpPr txBox="1"/>
          <p:nvPr/>
        </p:nvSpPr>
        <p:spPr>
          <a:xfrm>
            <a:off x="4343400" y="1832884"/>
            <a:ext cx="12287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oob_points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7341F623-BD50-43A5-A844-25E997487CC3}"/>
              </a:ext>
            </a:extLst>
          </p:cNvPr>
          <p:cNvSpPr/>
          <p:nvPr/>
        </p:nvSpPr>
        <p:spPr>
          <a:xfrm>
            <a:off x="5264093" y="2288625"/>
            <a:ext cx="180000" cy="180000"/>
          </a:xfrm>
          <a:prstGeom prst="ellipse">
            <a:avLst/>
          </a:prstGeom>
          <a:solidFill>
            <a:srgbClr val="8BCF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92C315D-52A5-4CCF-BC22-350C451E01FA}"/>
              </a:ext>
            </a:extLst>
          </p:cNvPr>
          <p:cNvSpPr txBox="1"/>
          <p:nvPr/>
        </p:nvSpPr>
        <p:spPr>
          <a:xfrm>
            <a:off x="2983346" y="2555034"/>
            <a:ext cx="25887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global_w_lane_waypoints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乘号 13">
            <a:extLst>
              <a:ext uri="{FF2B5EF4-FFF2-40B4-BE49-F238E27FC236}">
                <a16:creationId xmlns:a16="http://schemas.microsoft.com/office/drawing/2014/main" id="{769941D9-CAB8-48C3-8FEE-5FAA9922F3CD}"/>
              </a:ext>
            </a:extLst>
          </p:cNvPr>
          <p:cNvSpPr/>
          <p:nvPr/>
        </p:nvSpPr>
        <p:spPr>
          <a:xfrm>
            <a:off x="5264093" y="2924366"/>
            <a:ext cx="180000" cy="180000"/>
          </a:xfrm>
          <a:prstGeom prst="mathMultiply">
            <a:avLst/>
          </a:prstGeom>
          <a:solidFill>
            <a:srgbClr val="FF4E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BD2833E-1978-408D-8E74-7197F939F5AE}"/>
              </a:ext>
            </a:extLst>
          </p:cNvPr>
          <p:cNvSpPr txBox="1"/>
          <p:nvPr/>
        </p:nvSpPr>
        <p:spPr>
          <a:xfrm>
            <a:off x="5572125" y="2185702"/>
            <a:ext cx="12287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[x,y,z]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B38924D-CEFA-4679-A6D7-992E2E342A24}"/>
              </a:ext>
            </a:extLst>
          </p:cNvPr>
          <p:cNvSpPr txBox="1"/>
          <p:nvPr/>
        </p:nvSpPr>
        <p:spPr>
          <a:xfrm>
            <a:off x="5574775" y="1471370"/>
            <a:ext cx="12287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[x,y,z]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左大括号 18">
            <a:extLst>
              <a:ext uri="{FF2B5EF4-FFF2-40B4-BE49-F238E27FC236}">
                <a16:creationId xmlns:a16="http://schemas.microsoft.com/office/drawing/2014/main" id="{D316BC0F-3371-4062-8451-B347377C9BC8}"/>
              </a:ext>
            </a:extLst>
          </p:cNvPr>
          <p:cNvSpPr/>
          <p:nvPr/>
        </p:nvSpPr>
        <p:spPr>
          <a:xfrm>
            <a:off x="5444093" y="2915627"/>
            <a:ext cx="125258" cy="1428750"/>
          </a:xfrm>
          <a:prstGeom prst="leftBrace">
            <a:avLst>
              <a:gd name="adj1" fmla="val 65616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7EDA752-E61E-47F0-9E01-9407679F1C08}"/>
              </a:ext>
            </a:extLst>
          </p:cNvPr>
          <p:cNvSpPr txBox="1"/>
          <p:nvPr/>
        </p:nvSpPr>
        <p:spPr>
          <a:xfrm>
            <a:off x="5574775" y="2919700"/>
            <a:ext cx="258878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[x,y,z]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direction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routing</a:t>
            </a:r>
          </a:p>
          <a:p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poly_id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carla_waypoint_info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左大括号 20">
            <a:extLst>
              <a:ext uri="{FF2B5EF4-FFF2-40B4-BE49-F238E27FC236}">
                <a16:creationId xmlns:a16="http://schemas.microsoft.com/office/drawing/2014/main" id="{9FCEFDA6-D5F3-4E73-AE61-02B8718A498E}"/>
              </a:ext>
            </a:extLst>
          </p:cNvPr>
          <p:cNvSpPr/>
          <p:nvPr/>
        </p:nvSpPr>
        <p:spPr>
          <a:xfrm>
            <a:off x="7757802" y="3511372"/>
            <a:ext cx="125258" cy="1428750"/>
          </a:xfrm>
          <a:prstGeom prst="leftBrace">
            <a:avLst>
              <a:gd name="adj1" fmla="val 65616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7BEA5B1-CC36-42DA-88CF-B4AC352C9451}"/>
              </a:ext>
            </a:extLst>
          </p:cNvPr>
          <p:cNvSpPr txBox="1"/>
          <p:nvPr/>
        </p:nvSpPr>
        <p:spPr>
          <a:xfrm>
            <a:off x="7881670" y="3511372"/>
            <a:ext cx="126233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road_id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lane_id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  <a:p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is_junction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星形: 五角 26">
            <a:extLst>
              <a:ext uri="{FF2B5EF4-FFF2-40B4-BE49-F238E27FC236}">
                <a16:creationId xmlns:a16="http://schemas.microsoft.com/office/drawing/2014/main" id="{FD37EEF6-44B4-46B3-92D7-9FA65EE0A91A}"/>
              </a:ext>
            </a:extLst>
          </p:cNvPr>
          <p:cNvSpPr/>
          <p:nvPr/>
        </p:nvSpPr>
        <p:spPr>
          <a:xfrm>
            <a:off x="5263212" y="5199696"/>
            <a:ext cx="180000" cy="180000"/>
          </a:xfrm>
          <a:prstGeom prst="star5">
            <a:avLst/>
          </a:prstGeom>
          <a:solidFill>
            <a:srgbClr val="FF8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286F7742-8AA5-43F9-A36D-C0E3A89E5FB4}"/>
              </a:ext>
            </a:extLst>
          </p:cNvPr>
          <p:cNvSpPr txBox="1"/>
          <p:nvPr/>
        </p:nvSpPr>
        <p:spPr>
          <a:xfrm>
            <a:off x="5574775" y="4922193"/>
            <a:ext cx="25887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trike="sngStrike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next_poi_id</a:t>
            </a:r>
          </a:p>
          <a:p>
            <a:r>
              <a:rPr lang="en-US" altLang="zh-CN" strike="sngStrik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dist_to_next_poi</a:t>
            </a:r>
            <a:endParaRPr lang="zh-CN" altLang="en-US" strike="sngStrik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左大括号 29">
            <a:extLst>
              <a:ext uri="{FF2B5EF4-FFF2-40B4-BE49-F238E27FC236}">
                <a16:creationId xmlns:a16="http://schemas.microsoft.com/office/drawing/2014/main" id="{5BBB9592-5303-49BB-9111-F14CEF0AB03C}"/>
              </a:ext>
            </a:extLst>
          </p:cNvPr>
          <p:cNvSpPr/>
          <p:nvPr/>
        </p:nvSpPr>
        <p:spPr>
          <a:xfrm>
            <a:off x="5445942" y="5064390"/>
            <a:ext cx="126103" cy="450613"/>
          </a:xfrm>
          <a:prstGeom prst="leftBrace">
            <a:avLst>
              <a:gd name="adj1" fmla="val 65616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星形: 五角 31">
            <a:extLst>
              <a:ext uri="{FF2B5EF4-FFF2-40B4-BE49-F238E27FC236}">
                <a16:creationId xmlns:a16="http://schemas.microsoft.com/office/drawing/2014/main" id="{133630AF-B4CA-47E4-B69F-0DF58FACC931}"/>
              </a:ext>
            </a:extLst>
          </p:cNvPr>
          <p:cNvSpPr/>
          <p:nvPr/>
        </p:nvSpPr>
        <p:spPr>
          <a:xfrm>
            <a:off x="5263212" y="5850859"/>
            <a:ext cx="180000" cy="180000"/>
          </a:xfrm>
          <a:prstGeom prst="star5">
            <a:avLst/>
          </a:prstGeom>
          <a:solidFill>
            <a:srgbClr val="8700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46A4E8AE-E3C1-45E1-ADB3-AE0F61C8BAD5}"/>
              </a:ext>
            </a:extLst>
          </p:cNvPr>
          <p:cNvSpPr txBox="1"/>
          <p:nvPr/>
        </p:nvSpPr>
        <p:spPr>
          <a:xfrm>
            <a:off x="5574775" y="5580372"/>
            <a:ext cx="25887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trike="sngStrik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prev_poi_id</a:t>
            </a:r>
            <a:endParaRPr lang="en-US" altLang="zh-CN" strike="sngStrik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trike="sngStrik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dist_to_prev_poi</a:t>
            </a:r>
            <a:endParaRPr lang="zh-CN" altLang="en-US" strike="sngStrik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左大括号 33">
            <a:extLst>
              <a:ext uri="{FF2B5EF4-FFF2-40B4-BE49-F238E27FC236}">
                <a16:creationId xmlns:a16="http://schemas.microsoft.com/office/drawing/2014/main" id="{CD124F61-0656-4153-9D49-971BB71D7F68}"/>
              </a:ext>
            </a:extLst>
          </p:cNvPr>
          <p:cNvSpPr/>
          <p:nvPr/>
        </p:nvSpPr>
        <p:spPr>
          <a:xfrm>
            <a:off x="5445942" y="5722569"/>
            <a:ext cx="126103" cy="450613"/>
          </a:xfrm>
          <a:prstGeom prst="leftBrace">
            <a:avLst>
              <a:gd name="adj1" fmla="val 65616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E6186EF6-034E-46FB-B773-7C77C52D2769}"/>
              </a:ext>
            </a:extLst>
          </p:cNvPr>
          <p:cNvSpPr txBox="1"/>
          <p:nvPr/>
        </p:nvSpPr>
        <p:spPr>
          <a:xfrm>
            <a:off x="5263212" y="6303026"/>
            <a:ext cx="13485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waypoint_id</a:t>
            </a:r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CF065961-38D7-44AB-BF5F-EE2D6ABA85E0}"/>
              </a:ext>
            </a:extLst>
          </p:cNvPr>
          <p:cNvSpPr/>
          <p:nvPr/>
        </p:nvSpPr>
        <p:spPr>
          <a:xfrm>
            <a:off x="6611721" y="2282449"/>
            <a:ext cx="180000" cy="1800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6909CB9F-9F7C-430B-8424-D2AFB5E29AE7}"/>
              </a:ext>
            </a:extLst>
          </p:cNvPr>
          <p:cNvSpPr txBox="1"/>
          <p:nvPr/>
        </p:nvSpPr>
        <p:spPr>
          <a:xfrm>
            <a:off x="9464181" y="1110734"/>
            <a:ext cx="24123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quad_to_next_waypoint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加号 39">
            <a:extLst>
              <a:ext uri="{FF2B5EF4-FFF2-40B4-BE49-F238E27FC236}">
                <a16:creationId xmlns:a16="http://schemas.microsoft.com/office/drawing/2014/main" id="{71BDF349-B271-42B1-9131-3FE6B9817A12}"/>
              </a:ext>
            </a:extLst>
          </p:cNvPr>
          <p:cNvSpPr/>
          <p:nvPr/>
        </p:nvSpPr>
        <p:spPr>
          <a:xfrm>
            <a:off x="9274945" y="1232568"/>
            <a:ext cx="180000" cy="180000"/>
          </a:xfrm>
          <a:prstGeom prst="mathPlus">
            <a:avLst/>
          </a:prstGeom>
          <a:solidFill>
            <a:srgbClr val="00BFB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C8A47A80-6F55-4D19-82A5-70E20081A831}"/>
              </a:ext>
            </a:extLst>
          </p:cNvPr>
          <p:cNvSpPr txBox="1"/>
          <p:nvPr/>
        </p:nvSpPr>
        <p:spPr>
          <a:xfrm>
            <a:off x="9464181" y="1414938"/>
            <a:ext cx="24123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quad_to_prev_waypoint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加号 41">
            <a:extLst>
              <a:ext uri="{FF2B5EF4-FFF2-40B4-BE49-F238E27FC236}">
                <a16:creationId xmlns:a16="http://schemas.microsoft.com/office/drawing/2014/main" id="{85DC9238-C7BF-425D-9117-A39E4A13735D}"/>
              </a:ext>
            </a:extLst>
          </p:cNvPr>
          <p:cNvSpPr/>
          <p:nvPr/>
        </p:nvSpPr>
        <p:spPr>
          <a:xfrm>
            <a:off x="9274945" y="1536772"/>
            <a:ext cx="180000" cy="180000"/>
          </a:xfrm>
          <a:prstGeom prst="mathPlus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星形: 五角 42">
            <a:extLst>
              <a:ext uri="{FF2B5EF4-FFF2-40B4-BE49-F238E27FC236}">
                <a16:creationId xmlns:a16="http://schemas.microsoft.com/office/drawing/2014/main" id="{BA7E470A-AA4D-41DC-A552-02DE44BC5E9A}"/>
              </a:ext>
            </a:extLst>
          </p:cNvPr>
          <p:cNvSpPr/>
          <p:nvPr/>
        </p:nvSpPr>
        <p:spPr>
          <a:xfrm>
            <a:off x="7832719" y="5857875"/>
            <a:ext cx="180000" cy="180000"/>
          </a:xfrm>
          <a:prstGeom prst="star5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327CD05A-8D3E-4314-AE74-472EF32A97F5}"/>
              </a:ext>
            </a:extLst>
          </p:cNvPr>
          <p:cNvSpPr txBox="1"/>
          <p:nvPr/>
        </p:nvSpPr>
        <p:spPr>
          <a:xfrm>
            <a:off x="8163555" y="5728048"/>
            <a:ext cx="19202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trike="sngStrike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points_of_interest</a:t>
            </a:r>
          </a:p>
        </p:txBody>
      </p:sp>
      <p:sp>
        <p:nvSpPr>
          <p:cNvPr id="46" name="椭圆 45">
            <a:extLst>
              <a:ext uri="{FF2B5EF4-FFF2-40B4-BE49-F238E27FC236}">
                <a16:creationId xmlns:a16="http://schemas.microsoft.com/office/drawing/2014/main" id="{2310F50D-0FF7-4240-AA80-39F26330B4A2}"/>
              </a:ext>
            </a:extLst>
          </p:cNvPr>
          <p:cNvSpPr/>
          <p:nvPr/>
        </p:nvSpPr>
        <p:spPr>
          <a:xfrm>
            <a:off x="5263212" y="802627"/>
            <a:ext cx="180000" cy="180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030EF7CE-FBC8-4214-BEAC-52F4664F8613}"/>
              </a:ext>
            </a:extLst>
          </p:cNvPr>
          <p:cNvSpPr txBox="1"/>
          <p:nvPr/>
        </p:nvSpPr>
        <p:spPr>
          <a:xfrm>
            <a:off x="3637102" y="356273"/>
            <a:ext cx="19322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cross_quad_center</a:t>
            </a:r>
            <a:endParaRPr lang="en-US" altLang="zh-CN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433E334E-555A-41F9-9473-12D06ED512E0}"/>
              </a:ext>
            </a:extLst>
          </p:cNvPr>
          <p:cNvSpPr txBox="1"/>
          <p:nvPr/>
        </p:nvSpPr>
        <p:spPr>
          <a:xfrm>
            <a:off x="10930051" y="0"/>
            <a:ext cx="12619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World_init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67E0C90-779E-4818-AC1F-238E9D8795CE}"/>
              </a:ext>
            </a:extLst>
          </p:cNvPr>
          <p:cNvSpPr txBox="1"/>
          <p:nvPr/>
        </p:nvSpPr>
        <p:spPr>
          <a:xfrm>
            <a:off x="6924675" y="2185702"/>
            <a:ext cx="18197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(partial observed)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83F4F71-B8F8-467E-8FAB-88B167CCBFF9}"/>
              </a:ext>
            </a:extLst>
          </p:cNvPr>
          <p:cNvSpPr/>
          <p:nvPr/>
        </p:nvSpPr>
        <p:spPr>
          <a:xfrm>
            <a:off x="10214079" y="2739701"/>
            <a:ext cx="555522" cy="771672"/>
          </a:xfrm>
          <a:prstGeom prst="rect">
            <a:avLst/>
          </a:prstGeom>
          <a:solidFill>
            <a:srgbClr val="D3D7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373D957F-CC43-4803-AAB9-97A26E970BB5}"/>
              </a:ext>
            </a:extLst>
          </p:cNvPr>
          <p:cNvSpPr/>
          <p:nvPr/>
        </p:nvSpPr>
        <p:spPr>
          <a:xfrm>
            <a:off x="10114828" y="2628530"/>
            <a:ext cx="747135" cy="973652"/>
          </a:xfrm>
          <a:prstGeom prst="rect">
            <a:avLst/>
          </a:prstGeom>
          <a:noFill/>
          <a:ln w="25400">
            <a:solidFill>
              <a:srgbClr val="8BCF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0E55C51-9A85-4D6C-A644-7C18C32A5DB0}"/>
              </a:ext>
            </a:extLst>
          </p:cNvPr>
          <p:cNvSpPr txBox="1"/>
          <p:nvPr/>
        </p:nvSpPr>
        <p:spPr>
          <a:xfrm>
            <a:off x="10891644" y="2642701"/>
            <a:ext cx="122982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oob points</a:t>
            </a:r>
          </a:p>
          <a:p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0.1m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away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quads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乘号 43">
            <a:extLst>
              <a:ext uri="{FF2B5EF4-FFF2-40B4-BE49-F238E27FC236}">
                <a16:creationId xmlns:a16="http://schemas.microsoft.com/office/drawing/2014/main" id="{E38D71E0-A07B-4FFB-A022-5E93D9FAC2B8}"/>
              </a:ext>
            </a:extLst>
          </p:cNvPr>
          <p:cNvSpPr/>
          <p:nvPr/>
        </p:nvSpPr>
        <p:spPr>
          <a:xfrm>
            <a:off x="10398395" y="2649700"/>
            <a:ext cx="180000" cy="180000"/>
          </a:xfrm>
          <a:prstGeom prst="mathMultiply">
            <a:avLst/>
          </a:prstGeom>
          <a:solidFill>
            <a:srgbClr val="FF4E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乘号 47">
            <a:extLst>
              <a:ext uri="{FF2B5EF4-FFF2-40B4-BE49-F238E27FC236}">
                <a16:creationId xmlns:a16="http://schemas.microsoft.com/office/drawing/2014/main" id="{5B4C5D31-E194-4BC2-BB6A-027A29950FE8}"/>
              </a:ext>
            </a:extLst>
          </p:cNvPr>
          <p:cNvSpPr/>
          <p:nvPr/>
        </p:nvSpPr>
        <p:spPr>
          <a:xfrm>
            <a:off x="10398395" y="3426278"/>
            <a:ext cx="180000" cy="180000"/>
          </a:xfrm>
          <a:prstGeom prst="mathMultiply">
            <a:avLst/>
          </a:prstGeom>
          <a:solidFill>
            <a:srgbClr val="FF4E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47302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CB7A28C0-6939-4CBE-94F4-B6B7294B52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604" y="0"/>
            <a:ext cx="7668062" cy="68580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E13265D8-C4E6-405B-B6D4-70ACDFF8C92D}"/>
              </a:ext>
            </a:extLst>
          </p:cNvPr>
          <p:cNvSpPr txBox="1"/>
          <p:nvPr/>
        </p:nvSpPr>
        <p:spPr>
          <a:xfrm>
            <a:off x="10930051" y="0"/>
            <a:ext cx="12619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World_init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0AF2679-27FE-47D5-880D-5F1882960C7A}"/>
              </a:ext>
            </a:extLst>
          </p:cNvPr>
          <p:cNvSpPr txBox="1"/>
          <p:nvPr/>
        </p:nvSpPr>
        <p:spPr>
          <a:xfrm>
            <a:off x="8193386" y="1294646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每个块的方向向量：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742535F9-B91F-457F-A983-5D4CF196D18E}"/>
              </a:ext>
            </a:extLst>
          </p:cNvPr>
          <p:cNvGrpSpPr/>
          <p:nvPr/>
        </p:nvGrpSpPr>
        <p:grpSpPr>
          <a:xfrm>
            <a:off x="8505065" y="3236549"/>
            <a:ext cx="1848544" cy="1518204"/>
            <a:chOff x="8298005" y="2027523"/>
            <a:chExt cx="1848544" cy="1518204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07F9E16A-BC1C-4718-B843-239D35711C82}"/>
                </a:ext>
              </a:extLst>
            </p:cNvPr>
            <p:cNvSpPr/>
            <p:nvPr/>
          </p:nvSpPr>
          <p:spPr>
            <a:xfrm>
              <a:off x="8982808" y="2404723"/>
              <a:ext cx="555522" cy="771672"/>
            </a:xfrm>
            <a:prstGeom prst="rect">
              <a:avLst/>
            </a:prstGeom>
            <a:solidFill>
              <a:srgbClr val="D3D7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341731DF-FD32-4E62-BCDB-E64FCB3182D2}"/>
                </a:ext>
              </a:extLst>
            </p:cNvPr>
            <p:cNvSpPr txBox="1"/>
            <p:nvPr/>
          </p:nvSpPr>
          <p:spPr>
            <a:xfrm>
              <a:off x="8298005" y="2035391"/>
              <a:ext cx="4331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P1</a:t>
              </a:r>
              <a:endParaRPr lang="zh-CN" altLang="en-US" dirty="0"/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6EE9EEB6-3C29-4307-BB20-7C9C86A54949}"/>
                </a:ext>
              </a:extLst>
            </p:cNvPr>
            <p:cNvSpPr txBox="1"/>
            <p:nvPr/>
          </p:nvSpPr>
          <p:spPr>
            <a:xfrm>
              <a:off x="9713417" y="2027523"/>
              <a:ext cx="4331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P0</a:t>
              </a:r>
              <a:endParaRPr lang="zh-CN" altLang="en-US" dirty="0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1CB1A20E-9863-40F6-868B-2B6758A43492}"/>
                </a:ext>
              </a:extLst>
            </p:cNvPr>
            <p:cNvSpPr txBox="1"/>
            <p:nvPr/>
          </p:nvSpPr>
          <p:spPr>
            <a:xfrm>
              <a:off x="8298005" y="3176395"/>
              <a:ext cx="4331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P2</a:t>
              </a:r>
              <a:endParaRPr lang="zh-CN" altLang="en-US" dirty="0"/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886304B8-D9AC-4C2D-9625-4F9E703BAAB3}"/>
                </a:ext>
              </a:extLst>
            </p:cNvPr>
            <p:cNvSpPr txBox="1"/>
            <p:nvPr/>
          </p:nvSpPr>
          <p:spPr>
            <a:xfrm>
              <a:off x="9713417" y="3176395"/>
              <a:ext cx="4331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P3</a:t>
              </a:r>
              <a:endParaRPr lang="zh-CN" altLang="en-US" dirty="0"/>
            </a:p>
          </p:txBody>
        </p:sp>
        <p:cxnSp>
          <p:nvCxnSpPr>
            <p:cNvPr id="17" name="直接箭头连接符 16">
              <a:extLst>
                <a:ext uri="{FF2B5EF4-FFF2-40B4-BE49-F238E27FC236}">
                  <a16:creationId xmlns:a16="http://schemas.microsoft.com/office/drawing/2014/main" id="{260F1C41-F23D-467D-BEFE-389C69B1E8DF}"/>
                </a:ext>
              </a:extLst>
            </p:cNvPr>
            <p:cNvCxnSpPr>
              <a:stCxn id="7" idx="2"/>
              <a:endCxn id="7" idx="0"/>
            </p:cNvCxnSpPr>
            <p:nvPr/>
          </p:nvCxnSpPr>
          <p:spPr>
            <a:xfrm flipV="1">
              <a:off x="9260569" y="2404723"/>
              <a:ext cx="0" cy="77167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7" name="文本框 26">
            <a:extLst>
              <a:ext uri="{FF2B5EF4-FFF2-40B4-BE49-F238E27FC236}">
                <a16:creationId xmlns:a16="http://schemas.microsoft.com/office/drawing/2014/main" id="{33CE6FFB-88CA-41BF-9ACD-D2CCA92A1ACE}"/>
              </a:ext>
            </a:extLst>
          </p:cNvPr>
          <p:cNvSpPr txBox="1"/>
          <p:nvPr/>
        </p:nvSpPr>
        <p:spPr>
          <a:xfrm>
            <a:off x="8654166" y="5444222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朴素的向量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11488EA0-7CF7-46D0-AA4B-8F1D6DD54A51}"/>
              </a:ext>
            </a:extLst>
          </p:cNvPr>
          <p:cNvSpPr txBox="1"/>
          <p:nvPr/>
        </p:nvSpPr>
        <p:spPr>
          <a:xfrm>
            <a:off x="9926094" y="2880746"/>
            <a:ext cx="16349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1" dirty="0">
                <a:effectLst/>
                <a:latin typeface="Consolas" panose="020B0609020204030204" pitchFamily="49" charset="0"/>
              </a:rPr>
              <a:t>vertices[2]</a:t>
            </a:r>
            <a:endParaRPr lang="en-US" altLang="zh-CN" b="0" dirty="0">
              <a:effectLst/>
              <a:latin typeface="Consolas" panose="020B0609020204030204" pitchFamily="49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9F5D485-FDE3-4E34-B4D7-67FB8F220499}"/>
              </a:ext>
            </a:extLst>
          </p:cNvPr>
          <p:cNvSpPr txBox="1"/>
          <p:nvPr/>
        </p:nvSpPr>
        <p:spPr>
          <a:xfrm>
            <a:off x="7949606" y="2874919"/>
            <a:ext cx="16349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1" dirty="0">
                <a:effectLst/>
                <a:latin typeface="Consolas" panose="020B0609020204030204" pitchFamily="49" charset="0"/>
              </a:rPr>
              <a:t>vertices[1]</a:t>
            </a:r>
            <a:endParaRPr lang="en-US" altLang="zh-CN" b="0" dirty="0">
              <a:effectLst/>
              <a:latin typeface="Consolas" panose="020B0609020204030204" pitchFamily="49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FFA2246-A8AE-4E61-BAF9-68E3376C5A02}"/>
              </a:ext>
            </a:extLst>
          </p:cNvPr>
          <p:cNvSpPr txBox="1"/>
          <p:nvPr/>
        </p:nvSpPr>
        <p:spPr>
          <a:xfrm>
            <a:off x="7949606" y="4672550"/>
            <a:ext cx="16349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1" dirty="0">
                <a:effectLst/>
                <a:latin typeface="Consolas" panose="020B0609020204030204" pitchFamily="49" charset="0"/>
              </a:rPr>
              <a:t>vertices[0]</a:t>
            </a:r>
            <a:endParaRPr lang="en-US" altLang="zh-CN" b="0" dirty="0">
              <a:effectLst/>
              <a:latin typeface="Consolas" panose="020B0609020204030204" pitchFamily="49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F34783A-9FCE-423F-A0A1-7CE6DB0A6121}"/>
              </a:ext>
            </a:extLst>
          </p:cNvPr>
          <p:cNvSpPr txBox="1"/>
          <p:nvPr/>
        </p:nvSpPr>
        <p:spPr>
          <a:xfrm>
            <a:off x="9920477" y="4719087"/>
            <a:ext cx="16349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1" dirty="0">
                <a:effectLst/>
                <a:latin typeface="Consolas" panose="020B0609020204030204" pitchFamily="49" charset="0"/>
              </a:rPr>
              <a:t>vertices[3]</a:t>
            </a:r>
            <a:endParaRPr lang="en-US" altLang="zh-CN" b="0" dirty="0">
              <a:effectLst/>
              <a:latin typeface="Consolas" panose="020B0609020204030204" pitchFamily="49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D336FBF-0F85-4FAB-925B-DEA4835FB712}"/>
              </a:ext>
            </a:extLst>
          </p:cNvPr>
          <p:cNvSpPr txBox="1"/>
          <p:nvPr/>
        </p:nvSpPr>
        <p:spPr>
          <a:xfrm>
            <a:off x="10264173" y="3844952"/>
            <a:ext cx="16562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Extract vertices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83871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BD988F2-59D2-4963-AB04-63DB4DF8CD9C}"/>
              </a:ext>
            </a:extLst>
          </p:cNvPr>
          <p:cNvSpPr txBox="1"/>
          <p:nvPr/>
        </p:nvSpPr>
        <p:spPr>
          <a:xfrm>
            <a:off x="10429979" y="0"/>
            <a:ext cx="1762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Lane endpoints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EF54ED94-2674-40E3-811E-A4123CBA12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24" y="0"/>
            <a:ext cx="5641258" cy="685800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CE5FBE2C-B94B-4B2D-BC24-98DF3A6044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485900"/>
            <a:ext cx="5641258" cy="38862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9BFC0786-F53F-4F22-A235-8F6D54783636}"/>
              </a:ext>
            </a:extLst>
          </p:cNvPr>
          <p:cNvSpPr/>
          <p:nvPr/>
        </p:nvSpPr>
        <p:spPr>
          <a:xfrm>
            <a:off x="3965418" y="3902044"/>
            <a:ext cx="914400" cy="624689"/>
          </a:xfrm>
          <a:prstGeom prst="rect">
            <a:avLst/>
          </a:prstGeom>
          <a:noFill/>
          <a:ln w="25400">
            <a:solidFill>
              <a:schemeClr val="tx1"/>
            </a:solidFill>
            <a:prstDash val="dash"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ffectLst>
                <a:glow rad="139700">
                  <a:schemeClr val="accent1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644DCB0-A2A2-4E5F-B875-83F11BF1E2D4}"/>
              </a:ext>
            </a:extLst>
          </p:cNvPr>
          <p:cNvSpPr/>
          <p:nvPr/>
        </p:nvSpPr>
        <p:spPr>
          <a:xfrm>
            <a:off x="7186612" y="2209800"/>
            <a:ext cx="985837" cy="5905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BC4F79F-DE20-4F84-B85D-544D55B9268D}"/>
              </a:ext>
            </a:extLst>
          </p:cNvPr>
          <p:cNvSpPr txBox="1"/>
          <p:nvPr/>
        </p:nvSpPr>
        <p:spPr>
          <a:xfrm>
            <a:off x="6598366" y="1760220"/>
            <a:ext cx="28873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路口往往存在非常短的</a:t>
            </a:r>
            <a:r>
              <a:rPr lang="en-US" altLang="zh-CN" dirty="0"/>
              <a:t>”</a:t>
            </a:r>
            <a:r>
              <a:rPr lang="zh-CN" altLang="en-US" dirty="0"/>
              <a:t>路</a:t>
            </a:r>
            <a:r>
              <a:rPr lang="en-US" altLang="zh-CN" dirty="0"/>
              <a:t>”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361543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9930824C-F04C-492E-A6B0-16A4507D30B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68"/>
          <a:stretch/>
        </p:blipFill>
        <p:spPr>
          <a:xfrm>
            <a:off x="0" y="0"/>
            <a:ext cx="7939432" cy="68580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ECD5D998-8C76-4B7B-8AF0-F008B5F8D465}"/>
              </a:ext>
            </a:extLst>
          </p:cNvPr>
          <p:cNvSpPr txBox="1"/>
          <p:nvPr/>
        </p:nvSpPr>
        <p:spPr>
          <a:xfrm>
            <a:off x="8026403" y="622508"/>
            <a:ext cx="3922869" cy="17104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Driving waypoints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wp1.s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wp2.s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均值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得到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quads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值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绿色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而现在图上看到的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Waypoints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已经是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过的。显得稀疏。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B1DEA36-FB42-4973-94F5-8527A7A7CFF9}"/>
              </a:ext>
            </a:extLst>
          </p:cNvPr>
          <p:cNvSpPr txBox="1"/>
          <p:nvPr/>
        </p:nvSpPr>
        <p:spPr>
          <a:xfrm>
            <a:off x="11299768" y="0"/>
            <a:ext cx="892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Frenet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6D8DD47-A385-429A-AA58-9444C5985EA1}"/>
              </a:ext>
            </a:extLst>
          </p:cNvPr>
          <p:cNvSpPr/>
          <p:nvPr/>
        </p:nvSpPr>
        <p:spPr>
          <a:xfrm>
            <a:off x="9042400" y="3372997"/>
            <a:ext cx="1681018" cy="281709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D0E3AC75-A38D-410E-B0EE-F98C68C858FE}"/>
              </a:ext>
            </a:extLst>
          </p:cNvPr>
          <p:cNvCxnSpPr>
            <a:stCxn id="8" idx="0"/>
            <a:endCxn id="8" idx="2"/>
          </p:cNvCxnSpPr>
          <p:nvPr/>
        </p:nvCxnSpPr>
        <p:spPr>
          <a:xfrm>
            <a:off x="9882909" y="3372997"/>
            <a:ext cx="0" cy="28170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90A7EDB1-1D89-4C7D-961E-57796E3F1E5D}"/>
              </a:ext>
            </a:extLst>
          </p:cNvPr>
          <p:cNvSpPr/>
          <p:nvPr/>
        </p:nvSpPr>
        <p:spPr>
          <a:xfrm rot="16200000">
            <a:off x="9019308" y="4738254"/>
            <a:ext cx="886693" cy="4433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5400" b="1" dirty="0"/>
              <a:t>→</a:t>
            </a: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E54ED471-62B0-4035-9A02-439B0960B695}"/>
              </a:ext>
            </a:extLst>
          </p:cNvPr>
          <p:cNvCxnSpPr>
            <a:cxnSpLocks/>
          </p:cNvCxnSpPr>
          <p:nvPr/>
        </p:nvCxnSpPr>
        <p:spPr>
          <a:xfrm flipV="1">
            <a:off x="9451109" y="4932218"/>
            <a:ext cx="0" cy="125787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E0A811DA-1E9B-4EBB-A23D-D99FDB9B8EFE}"/>
              </a:ext>
            </a:extLst>
          </p:cNvPr>
          <p:cNvSpPr txBox="1"/>
          <p:nvPr/>
        </p:nvSpPr>
        <p:spPr>
          <a:xfrm>
            <a:off x="9070109" y="5472791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q</a:t>
            </a:r>
            <a:endParaRPr lang="zh-CN" altLang="en-US" dirty="0"/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4183EBF5-0415-4AAF-A85E-A806CB2D5E98}"/>
              </a:ext>
            </a:extLst>
          </p:cNvPr>
          <p:cNvCxnSpPr>
            <a:cxnSpLocks/>
          </p:cNvCxnSpPr>
          <p:nvPr/>
        </p:nvCxnSpPr>
        <p:spPr>
          <a:xfrm>
            <a:off x="9462654" y="4959927"/>
            <a:ext cx="42025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F5137240-2702-420D-961A-9E937EC719C4}"/>
              </a:ext>
            </a:extLst>
          </p:cNvPr>
          <p:cNvSpPr txBox="1"/>
          <p:nvPr/>
        </p:nvSpPr>
        <p:spPr>
          <a:xfrm>
            <a:off x="9619672" y="4590595"/>
            <a:ext cx="263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d</a:t>
            </a:r>
            <a:endParaRPr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39DF010-EDDB-4D03-95E8-48F279B25F89}"/>
              </a:ext>
            </a:extLst>
          </p:cNvPr>
          <p:cNvSpPr txBox="1"/>
          <p:nvPr/>
        </p:nvSpPr>
        <p:spPr>
          <a:xfrm>
            <a:off x="9943343" y="3372997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polyId</a:t>
            </a:r>
            <a:endParaRPr lang="zh-CN" altLang="en-US" dirty="0"/>
          </a:p>
        </p:txBody>
      </p:sp>
      <p:sp>
        <p:nvSpPr>
          <p:cNvPr id="20" name="左大括号 19">
            <a:extLst>
              <a:ext uri="{FF2B5EF4-FFF2-40B4-BE49-F238E27FC236}">
                <a16:creationId xmlns:a16="http://schemas.microsoft.com/office/drawing/2014/main" id="{B0ECEA9D-B502-4511-95AD-DB7A610F3547}"/>
              </a:ext>
            </a:extLst>
          </p:cNvPr>
          <p:cNvSpPr/>
          <p:nvPr/>
        </p:nvSpPr>
        <p:spPr>
          <a:xfrm>
            <a:off x="10748467" y="3186113"/>
            <a:ext cx="95745" cy="762000"/>
          </a:xfrm>
          <a:prstGeom prst="leftBrace">
            <a:avLst>
              <a:gd name="adj1" fmla="val 98360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690D069-5EBD-4117-9694-B501E1D98400}"/>
              </a:ext>
            </a:extLst>
          </p:cNvPr>
          <p:cNvSpPr txBox="1"/>
          <p:nvPr/>
        </p:nvSpPr>
        <p:spPr>
          <a:xfrm>
            <a:off x="10869261" y="3578781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q</a:t>
            </a:r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2F5F06E-B623-454F-A341-389266589827}"/>
              </a:ext>
            </a:extLst>
          </p:cNvPr>
          <p:cNvSpPr txBox="1"/>
          <p:nvPr/>
        </p:nvSpPr>
        <p:spPr>
          <a:xfrm>
            <a:off x="10832013" y="3162286"/>
            <a:ext cx="13821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Road/laneid</a:t>
            </a:r>
            <a:endParaRPr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1899D67-3E72-416C-9B40-AA0E80905023}"/>
              </a:ext>
            </a:extLst>
          </p:cNvPr>
          <p:cNvSpPr txBox="1"/>
          <p:nvPr/>
        </p:nvSpPr>
        <p:spPr>
          <a:xfrm>
            <a:off x="7924574" y="4755494"/>
            <a:ext cx="13035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(</a:t>
            </a:r>
            <a:r>
              <a:rPr lang="en-US" altLang="zh-CN" dirty="0" err="1"/>
              <a:t>q.d,polyId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B97A81B8-4335-452E-9642-97999BC6BA92}"/>
              </a:ext>
            </a:extLst>
          </p:cNvPr>
          <p:cNvSpPr txBox="1"/>
          <p:nvPr/>
        </p:nvSpPr>
        <p:spPr>
          <a:xfrm>
            <a:off x="8019739" y="2825338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车辆在地图中坐标系统：</a:t>
            </a:r>
          </a:p>
        </p:txBody>
      </p:sp>
    </p:spTree>
    <p:extLst>
      <p:ext uri="{BB962C8B-B14F-4D97-AF65-F5344CB8AC3E}">
        <p14:creationId xmlns:p14="http://schemas.microsoft.com/office/powerpoint/2010/main" val="27613287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3F217991-1697-4903-8E7A-4B20A32E3C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6237" y="4139184"/>
            <a:ext cx="3090913" cy="2641600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45086CA1-1785-48EB-83A8-1FAED966049E}"/>
              </a:ext>
            </a:extLst>
          </p:cNvPr>
          <p:cNvSpPr/>
          <p:nvPr/>
        </p:nvSpPr>
        <p:spPr>
          <a:xfrm>
            <a:off x="8434599" y="1357872"/>
            <a:ext cx="360000" cy="360000"/>
          </a:xfrm>
          <a:prstGeom prst="rect">
            <a:avLst/>
          </a:prstGeom>
          <a:solidFill>
            <a:srgbClr val="F7CF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DE1FF48-8B3F-43B0-B11A-7F82D4B04FEE}"/>
              </a:ext>
            </a:extLst>
          </p:cNvPr>
          <p:cNvSpPr txBox="1"/>
          <p:nvPr/>
        </p:nvSpPr>
        <p:spPr>
          <a:xfrm>
            <a:off x="8794599" y="1357872"/>
            <a:ext cx="845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Bucket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3364051-D7E1-4126-8028-8AB01EF162E5}"/>
              </a:ext>
            </a:extLst>
          </p:cNvPr>
          <p:cNvSpPr txBox="1"/>
          <p:nvPr/>
        </p:nvSpPr>
        <p:spPr>
          <a:xfrm>
            <a:off x="10769816" y="0"/>
            <a:ext cx="1422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Spacial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hash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6A45F55-A147-4558-9B3F-DAF1538786C3}"/>
              </a:ext>
            </a:extLst>
          </p:cNvPr>
          <p:cNvSpPr/>
          <p:nvPr/>
        </p:nvSpPr>
        <p:spPr>
          <a:xfrm rot="16200000">
            <a:off x="8200628" y="2439554"/>
            <a:ext cx="886693" cy="4433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5400" b="1" dirty="0"/>
              <a:t>→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0B8BB24-D240-4159-913F-11BEEE907AD0}"/>
              </a:ext>
            </a:extLst>
          </p:cNvPr>
          <p:cNvSpPr txBox="1"/>
          <p:nvPr/>
        </p:nvSpPr>
        <p:spPr>
          <a:xfrm>
            <a:off x="8865648" y="2476561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(x,y,mapId)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97F0EE13-F088-4BCA-BEB8-1762348999A7}"/>
              </a:ext>
            </a:extLst>
          </p:cNvPr>
          <p:cNvCxnSpPr>
            <a:stCxn id="12" idx="2"/>
          </p:cNvCxnSpPr>
          <p:nvPr/>
        </p:nvCxnSpPr>
        <p:spPr>
          <a:xfrm flipH="1">
            <a:off x="9497391" y="2845893"/>
            <a:ext cx="1" cy="5161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84D61208-3DB8-489D-96AD-E1F77DAA9875}"/>
              </a:ext>
            </a:extLst>
          </p:cNvPr>
          <p:cNvSpPr txBox="1"/>
          <p:nvPr/>
        </p:nvSpPr>
        <p:spPr>
          <a:xfrm>
            <a:off x="8865648" y="3473906"/>
            <a:ext cx="24945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知道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x,y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就能定位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bucket</a:t>
            </a:r>
          </a:p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也能知道所在的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quad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F060CEE-FB41-4E31-8910-1667A2386A2D}"/>
              </a:ext>
            </a:extLst>
          </p:cNvPr>
          <p:cNvSpPr txBox="1"/>
          <p:nvPr/>
        </p:nvSpPr>
        <p:spPr>
          <a:xfrm>
            <a:off x="8882640" y="2109433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全局定位某个车的坐标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0D8FB28-FE2F-4187-A31C-D2998FD1E9E7}"/>
              </a:ext>
            </a:extLst>
          </p:cNvPr>
          <p:cNvSpPr txBox="1"/>
          <p:nvPr/>
        </p:nvSpPr>
        <p:spPr>
          <a:xfrm>
            <a:off x="9754153" y="1348540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两倍最大可能车长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7907BB5-CCAA-41C2-8A65-57619AC7C2D4}"/>
              </a:ext>
            </a:extLst>
          </p:cNvPr>
          <p:cNvSpPr txBox="1"/>
          <p:nvPr/>
        </p:nvSpPr>
        <p:spPr>
          <a:xfrm>
            <a:off x="8406237" y="932500"/>
            <a:ext cx="116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20mx20m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C7611906-A464-4E83-8912-D2F25F84CF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850" y="0"/>
            <a:ext cx="668828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30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C3E1C8C9-838E-4576-B1D8-B92FD2C2BC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52525"/>
            <a:ext cx="5143435" cy="455295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F8DE6552-67C7-4FA9-97F3-5A7E9EEEBC4F}"/>
              </a:ext>
            </a:extLst>
          </p:cNvPr>
          <p:cNvSpPr txBox="1"/>
          <p:nvPr/>
        </p:nvSpPr>
        <p:spPr>
          <a:xfrm>
            <a:off x="10724932" y="0"/>
            <a:ext cx="1467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Dijkstra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储存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C272FBC2-EE97-4BE0-B5AA-DD9225C53D2C}"/>
              </a:ext>
            </a:extLst>
          </p:cNvPr>
          <p:cNvCxnSpPr>
            <a:cxnSpLocks/>
          </p:cNvCxnSpPr>
          <p:nvPr/>
        </p:nvCxnSpPr>
        <p:spPr>
          <a:xfrm flipH="1">
            <a:off x="2581242" y="1657349"/>
            <a:ext cx="82800" cy="2800350"/>
          </a:xfrm>
          <a:prstGeom prst="line">
            <a:avLst/>
          </a:prstGeom>
          <a:ln w="254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57631398-C799-44D7-BDD8-A3370E55AD56}"/>
              </a:ext>
            </a:extLst>
          </p:cNvPr>
          <p:cNvSpPr/>
          <p:nvPr/>
        </p:nvSpPr>
        <p:spPr>
          <a:xfrm>
            <a:off x="1188658" y="1647824"/>
            <a:ext cx="1458165" cy="1285116"/>
          </a:xfrm>
          <a:custGeom>
            <a:avLst/>
            <a:gdLst>
              <a:gd name="connsiteX0" fmla="*/ 1456333 w 1458165"/>
              <a:gd name="connsiteY0" fmla="*/ 0 h 1285116"/>
              <a:gd name="connsiteX1" fmla="*/ 1456333 w 1458165"/>
              <a:gd name="connsiteY1" fmla="*/ 914400 h 1285116"/>
              <a:gd name="connsiteX2" fmla="*/ 1437283 w 1458165"/>
              <a:gd name="connsiteY2" fmla="*/ 1076325 h 1285116"/>
              <a:gd name="connsiteX3" fmla="*/ 1303933 w 1458165"/>
              <a:gd name="connsiteY3" fmla="*/ 1152525 h 1285116"/>
              <a:gd name="connsiteX4" fmla="*/ 513358 w 1458165"/>
              <a:gd name="connsiteY4" fmla="*/ 1266825 h 1285116"/>
              <a:gd name="connsiteX5" fmla="*/ 8533 w 1458165"/>
              <a:gd name="connsiteY5" fmla="*/ 1276350 h 1285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8165" h="1285116">
                <a:moveTo>
                  <a:pt x="1456333" y="0"/>
                </a:moveTo>
                <a:cubicBezTo>
                  <a:pt x="1457920" y="367506"/>
                  <a:pt x="1459508" y="735013"/>
                  <a:pt x="1456333" y="914400"/>
                </a:cubicBezTo>
                <a:cubicBezTo>
                  <a:pt x="1453158" y="1093787"/>
                  <a:pt x="1462683" y="1036638"/>
                  <a:pt x="1437283" y="1076325"/>
                </a:cubicBezTo>
                <a:cubicBezTo>
                  <a:pt x="1411883" y="1116013"/>
                  <a:pt x="1457920" y="1120775"/>
                  <a:pt x="1303933" y="1152525"/>
                </a:cubicBezTo>
                <a:cubicBezTo>
                  <a:pt x="1149946" y="1184275"/>
                  <a:pt x="729258" y="1246188"/>
                  <a:pt x="513358" y="1266825"/>
                </a:cubicBezTo>
                <a:cubicBezTo>
                  <a:pt x="297458" y="1287462"/>
                  <a:pt x="-59729" y="1290637"/>
                  <a:pt x="8533" y="1276350"/>
                </a:cubicBezTo>
              </a:path>
            </a:pathLst>
          </a:custGeom>
          <a:noFill/>
          <a:ln w="254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994148AF-B255-42D2-B2E9-8A4AF75A2F1D}"/>
              </a:ext>
            </a:extLst>
          </p:cNvPr>
          <p:cNvCxnSpPr>
            <a:cxnSpLocks/>
          </p:cNvCxnSpPr>
          <p:nvPr/>
        </p:nvCxnSpPr>
        <p:spPr>
          <a:xfrm flipH="1">
            <a:off x="2819367" y="1666875"/>
            <a:ext cx="82800" cy="2800350"/>
          </a:xfrm>
          <a:prstGeom prst="line">
            <a:avLst/>
          </a:prstGeom>
          <a:ln w="254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CA61E011-AEE4-4DDD-B213-B8D6186E4323}"/>
              </a:ext>
            </a:extLst>
          </p:cNvPr>
          <p:cNvSpPr/>
          <p:nvPr/>
        </p:nvSpPr>
        <p:spPr>
          <a:xfrm>
            <a:off x="1187666" y="2906888"/>
            <a:ext cx="2152650" cy="1607961"/>
          </a:xfrm>
          <a:custGeom>
            <a:avLst/>
            <a:gdLst>
              <a:gd name="connsiteX0" fmla="*/ 0 w 2152650"/>
              <a:gd name="connsiteY0" fmla="*/ 7761 h 1607961"/>
              <a:gd name="connsiteX1" fmla="*/ 838200 w 2152650"/>
              <a:gd name="connsiteY1" fmla="*/ 7761 h 1607961"/>
              <a:gd name="connsiteX2" fmla="*/ 1095375 w 2152650"/>
              <a:gd name="connsiteY2" fmla="*/ 7761 h 1607961"/>
              <a:gd name="connsiteX3" fmla="*/ 1381125 w 2152650"/>
              <a:gd name="connsiteY3" fmla="*/ 112536 h 1607961"/>
              <a:gd name="connsiteX4" fmla="*/ 1781175 w 2152650"/>
              <a:gd name="connsiteY4" fmla="*/ 322086 h 1607961"/>
              <a:gd name="connsiteX5" fmla="*/ 2019300 w 2152650"/>
              <a:gd name="connsiteY5" fmla="*/ 750711 h 1607961"/>
              <a:gd name="connsiteX6" fmla="*/ 2152650 w 2152650"/>
              <a:gd name="connsiteY6" fmla="*/ 1607961 h 1607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52650" h="1607961">
                <a:moveTo>
                  <a:pt x="0" y="7761"/>
                </a:moveTo>
                <a:lnTo>
                  <a:pt x="838200" y="7761"/>
                </a:lnTo>
                <a:cubicBezTo>
                  <a:pt x="1020762" y="7761"/>
                  <a:pt x="1004888" y="-9702"/>
                  <a:pt x="1095375" y="7761"/>
                </a:cubicBezTo>
                <a:cubicBezTo>
                  <a:pt x="1185863" y="25224"/>
                  <a:pt x="1266825" y="60149"/>
                  <a:pt x="1381125" y="112536"/>
                </a:cubicBezTo>
                <a:cubicBezTo>
                  <a:pt x="1495425" y="164924"/>
                  <a:pt x="1674813" y="215724"/>
                  <a:pt x="1781175" y="322086"/>
                </a:cubicBezTo>
                <a:cubicBezTo>
                  <a:pt x="1887537" y="428448"/>
                  <a:pt x="1957388" y="536399"/>
                  <a:pt x="2019300" y="750711"/>
                </a:cubicBezTo>
                <a:cubicBezTo>
                  <a:pt x="2081212" y="965023"/>
                  <a:pt x="2103438" y="1496836"/>
                  <a:pt x="2152650" y="1607961"/>
                </a:cubicBezTo>
              </a:path>
            </a:pathLst>
          </a:custGeom>
          <a:noFill/>
          <a:ln w="254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9840FD6B-A012-455F-8062-9C2DA58D76D9}"/>
              </a:ext>
            </a:extLst>
          </p:cNvPr>
          <p:cNvSpPr/>
          <p:nvPr/>
        </p:nvSpPr>
        <p:spPr>
          <a:xfrm>
            <a:off x="1197191" y="1676399"/>
            <a:ext cx="2228850" cy="1530853"/>
          </a:xfrm>
          <a:custGeom>
            <a:avLst/>
            <a:gdLst>
              <a:gd name="connsiteX0" fmla="*/ 0 w 2228850"/>
              <a:gd name="connsiteY0" fmla="*/ 1514475 h 1530853"/>
              <a:gd name="connsiteX1" fmla="*/ 1066800 w 2228850"/>
              <a:gd name="connsiteY1" fmla="*/ 1495425 h 1530853"/>
              <a:gd name="connsiteX2" fmla="*/ 1724025 w 2228850"/>
              <a:gd name="connsiteY2" fmla="*/ 1200150 h 1530853"/>
              <a:gd name="connsiteX3" fmla="*/ 2085975 w 2228850"/>
              <a:gd name="connsiteY3" fmla="*/ 781050 h 1530853"/>
              <a:gd name="connsiteX4" fmla="*/ 2228850 w 2228850"/>
              <a:gd name="connsiteY4" fmla="*/ 0 h 153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28850" h="1530853">
                <a:moveTo>
                  <a:pt x="0" y="1514475"/>
                </a:moveTo>
                <a:cubicBezTo>
                  <a:pt x="389731" y="1531143"/>
                  <a:pt x="779463" y="1547812"/>
                  <a:pt x="1066800" y="1495425"/>
                </a:cubicBezTo>
                <a:cubicBezTo>
                  <a:pt x="1354137" y="1443038"/>
                  <a:pt x="1554163" y="1319212"/>
                  <a:pt x="1724025" y="1200150"/>
                </a:cubicBezTo>
                <a:cubicBezTo>
                  <a:pt x="1893887" y="1081088"/>
                  <a:pt x="2001838" y="981075"/>
                  <a:pt x="2085975" y="781050"/>
                </a:cubicBezTo>
                <a:cubicBezTo>
                  <a:pt x="2170112" y="581025"/>
                  <a:pt x="2166938" y="127000"/>
                  <a:pt x="2228850" y="0"/>
                </a:cubicBezTo>
              </a:path>
            </a:pathLst>
          </a:custGeom>
          <a:noFill/>
          <a:ln w="254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53C0C536-8EAC-49DE-B22B-527C8A0EE185}"/>
              </a:ext>
            </a:extLst>
          </p:cNvPr>
          <p:cNvCxnSpPr>
            <a:cxnSpLocks/>
          </p:cNvCxnSpPr>
          <p:nvPr/>
        </p:nvCxnSpPr>
        <p:spPr>
          <a:xfrm flipH="1">
            <a:off x="3585754" y="1666874"/>
            <a:ext cx="82800" cy="2800350"/>
          </a:xfrm>
          <a:prstGeom prst="line">
            <a:avLst/>
          </a:prstGeom>
          <a:ln w="254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0E8E4440-6A16-4F5C-AF26-80724577F32F}"/>
              </a:ext>
            </a:extLst>
          </p:cNvPr>
          <p:cNvCxnSpPr>
            <a:cxnSpLocks/>
          </p:cNvCxnSpPr>
          <p:nvPr/>
        </p:nvCxnSpPr>
        <p:spPr>
          <a:xfrm flipH="1">
            <a:off x="3338835" y="1647824"/>
            <a:ext cx="82800" cy="2800350"/>
          </a:xfrm>
          <a:prstGeom prst="line">
            <a:avLst/>
          </a:prstGeom>
          <a:ln w="254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7F7E6EBF-956F-429E-AEAB-5AF0ADF17240}"/>
              </a:ext>
            </a:extLst>
          </p:cNvPr>
          <p:cNvSpPr/>
          <p:nvPr/>
        </p:nvSpPr>
        <p:spPr>
          <a:xfrm>
            <a:off x="1170447" y="1647824"/>
            <a:ext cx="2855669" cy="2867025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D0FAB44-74A8-42B9-86D1-DA68C54BFF89}"/>
              </a:ext>
            </a:extLst>
          </p:cNvPr>
          <p:cNvSpPr txBox="1"/>
          <p:nvPr/>
        </p:nvSpPr>
        <p:spPr>
          <a:xfrm>
            <a:off x="1450242" y="5724525"/>
            <a:ext cx="27382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路口内的</a:t>
            </a:r>
            <a:r>
              <a:rPr lang="en-US" altLang="zh-CN" dirty="0"/>
              <a:t>dijkstra</a:t>
            </a:r>
            <a:r>
              <a:rPr lang="zh-CN" altLang="en-US" dirty="0"/>
              <a:t>路径储存</a:t>
            </a:r>
          </a:p>
        </p:txBody>
      </p: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7AC72DFE-6E10-4726-817E-CA5F73909BCE}"/>
              </a:ext>
            </a:extLst>
          </p:cNvPr>
          <p:cNvGrpSpPr/>
          <p:nvPr/>
        </p:nvGrpSpPr>
        <p:grpSpPr>
          <a:xfrm>
            <a:off x="5160654" y="512504"/>
            <a:ext cx="3804415" cy="6174819"/>
            <a:chOff x="5228925" y="512504"/>
            <a:chExt cx="3804415" cy="6174819"/>
          </a:xfrm>
        </p:grpSpPr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FBAB5BD8-4FB9-4C1E-9297-6242FB4975F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228925" y="512504"/>
              <a:ext cx="3804415" cy="5832992"/>
            </a:xfrm>
            <a:prstGeom prst="rect">
              <a:avLst/>
            </a:prstGeom>
          </p:spPr>
        </p:pic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62CB0A40-A0BE-4EA7-87A7-98AC7037B4D7}"/>
                </a:ext>
              </a:extLst>
            </p:cNvPr>
            <p:cNvSpPr/>
            <p:nvPr/>
          </p:nvSpPr>
          <p:spPr>
            <a:xfrm>
              <a:off x="8000705" y="2971800"/>
              <a:ext cx="531495" cy="647700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41E1FD71-FC33-489E-A7C0-AF509DACC800}"/>
                </a:ext>
              </a:extLst>
            </p:cNvPr>
            <p:cNvCxnSpPr>
              <a:cxnSpLocks/>
            </p:cNvCxnSpPr>
            <p:nvPr/>
          </p:nvCxnSpPr>
          <p:spPr>
            <a:xfrm>
              <a:off x="6598625" y="3157538"/>
              <a:ext cx="1402080" cy="30956"/>
            </a:xfrm>
            <a:prstGeom prst="line">
              <a:avLst/>
            </a:prstGeom>
            <a:ln w="254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ECF38FE6-A91A-43E3-AC38-DA7205A35880}"/>
                </a:ext>
              </a:extLst>
            </p:cNvPr>
            <p:cNvCxnSpPr>
              <a:cxnSpLocks/>
            </p:cNvCxnSpPr>
            <p:nvPr/>
          </p:nvCxnSpPr>
          <p:spPr>
            <a:xfrm>
              <a:off x="6579575" y="3255169"/>
              <a:ext cx="1395413" cy="40481"/>
            </a:xfrm>
            <a:prstGeom prst="line">
              <a:avLst/>
            </a:prstGeom>
            <a:ln w="254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74A5B5CB-3FC9-4C91-96C9-23007D60BC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32300" y="1759744"/>
              <a:ext cx="23688" cy="1181100"/>
            </a:xfrm>
            <a:prstGeom prst="line">
              <a:avLst/>
            </a:prstGeom>
            <a:ln w="254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0E90EDFC-2181-47A2-95E8-134D60CC75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56125" y="1759744"/>
              <a:ext cx="23688" cy="1181100"/>
            </a:xfrm>
            <a:prstGeom prst="line">
              <a:avLst/>
            </a:prstGeom>
            <a:ln w="254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003008AD-511D-42D3-9B32-3E8945A248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3600" y="3597535"/>
              <a:ext cx="28700" cy="1465003"/>
            </a:xfrm>
            <a:prstGeom prst="line">
              <a:avLst/>
            </a:prstGeom>
            <a:ln w="254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89C8A546-CBC5-4310-8F2A-A4D04CC8FB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15581" y="3597534"/>
              <a:ext cx="28700" cy="1465003"/>
            </a:xfrm>
            <a:prstGeom prst="line">
              <a:avLst/>
            </a:prstGeom>
            <a:ln w="254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93DFF073-ED3C-451B-B3B5-B536B87E885A}"/>
                </a:ext>
              </a:extLst>
            </p:cNvPr>
            <p:cNvSpPr/>
            <p:nvPr/>
          </p:nvSpPr>
          <p:spPr>
            <a:xfrm>
              <a:off x="5966993" y="2864643"/>
              <a:ext cx="631632" cy="697707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92A0D16F-0468-46C7-9E4B-3542D4DAF569}"/>
                </a:ext>
              </a:extLst>
            </p:cNvPr>
            <p:cNvSpPr/>
            <p:nvPr/>
          </p:nvSpPr>
          <p:spPr>
            <a:xfrm>
              <a:off x="8002134" y="933210"/>
              <a:ext cx="631632" cy="826534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E3E2F4CC-33BB-4388-AC75-C789D75E7E6A}"/>
                </a:ext>
              </a:extLst>
            </p:cNvPr>
            <p:cNvSpPr/>
            <p:nvPr/>
          </p:nvSpPr>
          <p:spPr>
            <a:xfrm>
              <a:off x="7874975" y="5059620"/>
              <a:ext cx="989710" cy="865170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837D6C8F-CF48-4F4B-8DB6-78D7771C863C}"/>
                </a:ext>
              </a:extLst>
            </p:cNvPr>
            <p:cNvSpPr txBox="1"/>
            <p:nvPr/>
          </p:nvSpPr>
          <p:spPr>
            <a:xfrm>
              <a:off x="6126348" y="6317991"/>
              <a:ext cx="25074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路外的</a:t>
              </a:r>
              <a:r>
                <a:rPr lang="en-US" altLang="zh-CN" dirty="0"/>
                <a:t>dijkstra</a:t>
              </a:r>
              <a:r>
                <a:rPr lang="zh-CN" altLang="en-US" dirty="0"/>
                <a:t>路径储存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233829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8839A09-AE4A-4433-9621-9847EF2AEAEF}"/>
              </a:ext>
            </a:extLst>
          </p:cNvPr>
          <p:cNvSpPr txBox="1"/>
          <p:nvPr/>
        </p:nvSpPr>
        <p:spPr>
          <a:xfrm>
            <a:off x="8170706" y="0"/>
            <a:ext cx="40212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Direction and coordinate specifications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17507ACB-0931-45A3-AC3C-F0743DAD1C43}"/>
              </a:ext>
            </a:extLst>
          </p:cNvPr>
          <p:cNvGrpSpPr/>
          <p:nvPr/>
        </p:nvGrpSpPr>
        <p:grpSpPr>
          <a:xfrm>
            <a:off x="1230982" y="1255049"/>
            <a:ext cx="6105478" cy="3788135"/>
            <a:chOff x="4520282" y="747049"/>
            <a:chExt cx="6105478" cy="3788135"/>
          </a:xfrm>
        </p:grpSpPr>
        <p:grpSp>
          <p:nvGrpSpPr>
            <p:cNvPr id="32" name="组合 31">
              <a:extLst>
                <a:ext uri="{FF2B5EF4-FFF2-40B4-BE49-F238E27FC236}">
                  <a16:creationId xmlns:a16="http://schemas.microsoft.com/office/drawing/2014/main" id="{16372977-B253-4D38-B20D-6CF72CC3C803}"/>
                </a:ext>
              </a:extLst>
            </p:cNvPr>
            <p:cNvGrpSpPr/>
            <p:nvPr/>
          </p:nvGrpSpPr>
          <p:grpSpPr>
            <a:xfrm rot="19748169">
              <a:off x="4520282" y="967047"/>
              <a:ext cx="4959248" cy="3568137"/>
              <a:chOff x="4471989" y="1205267"/>
              <a:chExt cx="4959248" cy="3568137"/>
            </a:xfrm>
          </p:grpSpPr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4EA64AA7-3116-4AA4-8010-0497218C8648}"/>
                  </a:ext>
                </a:extLst>
              </p:cNvPr>
              <p:cNvSpPr/>
              <p:nvPr/>
            </p:nvSpPr>
            <p:spPr>
              <a:xfrm>
                <a:off x="4471989" y="2516206"/>
                <a:ext cx="1581153" cy="9144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5400" b="1" dirty="0"/>
                  <a:t>→</a:t>
                </a:r>
              </a:p>
            </p:txBody>
          </p:sp>
          <p:sp>
            <p:nvSpPr>
              <p:cNvPr id="18" name="弧形 17">
                <a:extLst>
                  <a:ext uri="{FF2B5EF4-FFF2-40B4-BE49-F238E27FC236}">
                    <a16:creationId xmlns:a16="http://schemas.microsoft.com/office/drawing/2014/main" id="{C77ECEC5-C2CE-435C-A9AD-AB42FBA7B35C}"/>
                  </a:ext>
                </a:extLst>
              </p:cNvPr>
              <p:cNvSpPr/>
              <p:nvPr/>
            </p:nvSpPr>
            <p:spPr>
              <a:xfrm rot="16200000" flipV="1">
                <a:off x="5151707" y="2961216"/>
                <a:ext cx="1800000" cy="1824376"/>
              </a:xfrm>
              <a:prstGeom prst="arc">
                <a:avLst>
                  <a:gd name="adj1" fmla="val 16386859"/>
                  <a:gd name="adj2" fmla="val 0"/>
                </a:avLst>
              </a:prstGeom>
              <a:ln>
                <a:headEnd type="triangle" w="sm" len="lg"/>
                <a:tailEnd type="none" w="sm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20" name="直接箭头连接符 19">
                <a:extLst>
                  <a:ext uri="{FF2B5EF4-FFF2-40B4-BE49-F238E27FC236}">
                    <a16:creationId xmlns:a16="http://schemas.microsoft.com/office/drawing/2014/main" id="{F6A94400-A9AB-4AF3-92D2-DDAC8EA3805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62565" y="2973403"/>
                <a:ext cx="1701330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" name="直接箭头连接符 20">
                <a:extLst>
                  <a:ext uri="{FF2B5EF4-FFF2-40B4-BE49-F238E27FC236}">
                    <a16:creationId xmlns:a16="http://schemas.microsoft.com/office/drawing/2014/main" id="{D5BDC302-6618-41F7-858B-BFEA779401C9}"/>
                  </a:ext>
                </a:extLst>
              </p:cNvPr>
              <p:cNvCxnSpPr>
                <a:cxnSpLocks/>
              </p:cNvCxnSpPr>
              <p:nvPr/>
            </p:nvCxnSpPr>
            <p:spPr>
              <a:xfrm rot="1851831" flipH="1" flipV="1">
                <a:off x="4889316" y="1725870"/>
                <a:ext cx="717625" cy="11445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65D5DA66-FEC8-4510-8049-4614C04B9DE1}"/>
                  </a:ext>
                </a:extLst>
              </p:cNvPr>
              <p:cNvSpPr txBox="1"/>
              <p:nvPr/>
            </p:nvSpPr>
            <p:spPr>
              <a:xfrm>
                <a:off x="6963895" y="2788736"/>
                <a:ext cx="230710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X(Positive)</a:t>
                </a: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C8587D4E-97FC-45D6-A7D7-A0BDF2FB5BA3}"/>
                  </a:ext>
                </a:extLst>
              </p:cNvPr>
              <p:cNvSpPr txBox="1"/>
              <p:nvPr/>
            </p:nvSpPr>
            <p:spPr>
              <a:xfrm rot="5400000">
                <a:off x="4443235" y="1616514"/>
                <a:ext cx="119182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Y(Positive)</a:t>
                </a: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064CDA9E-3B4A-4B46-9267-1AD5B1143B17}"/>
                  </a:ext>
                </a:extLst>
              </p:cNvPr>
              <p:cNvSpPr txBox="1"/>
              <p:nvPr/>
            </p:nvSpPr>
            <p:spPr>
              <a:xfrm>
                <a:off x="6963895" y="3480742"/>
                <a:ext cx="246734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Steering_angle(Positive)</a:t>
                </a: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34" name="直接箭头连接符 33">
              <a:extLst>
                <a:ext uri="{FF2B5EF4-FFF2-40B4-BE49-F238E27FC236}">
                  <a16:creationId xmlns:a16="http://schemas.microsoft.com/office/drawing/2014/main" id="{22A8F0BB-96C6-4845-A56C-476FC0745221}"/>
                </a:ext>
              </a:extLst>
            </p:cNvPr>
            <p:cNvCxnSpPr/>
            <p:nvPr/>
          </p:nvCxnSpPr>
          <p:spPr>
            <a:xfrm flipV="1">
              <a:off x="5541872" y="1193800"/>
              <a:ext cx="0" cy="241012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箭头连接符 34">
              <a:extLst>
                <a:ext uri="{FF2B5EF4-FFF2-40B4-BE49-F238E27FC236}">
                  <a16:creationId xmlns:a16="http://schemas.microsoft.com/office/drawing/2014/main" id="{D2DB250B-D9BC-4CE2-9212-51D002BC4935}"/>
                </a:ext>
              </a:extLst>
            </p:cNvPr>
            <p:cNvCxnSpPr>
              <a:cxnSpLocks/>
            </p:cNvCxnSpPr>
            <p:nvPr/>
          </p:nvCxnSpPr>
          <p:spPr>
            <a:xfrm>
              <a:off x="5541872" y="3594945"/>
              <a:ext cx="3818028" cy="51287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弧形 37">
              <a:extLst>
                <a:ext uri="{FF2B5EF4-FFF2-40B4-BE49-F238E27FC236}">
                  <a16:creationId xmlns:a16="http://schemas.microsoft.com/office/drawing/2014/main" id="{93D699D5-F031-4C8E-91C3-C2142EF66C95}"/>
                </a:ext>
              </a:extLst>
            </p:cNvPr>
            <p:cNvSpPr/>
            <p:nvPr/>
          </p:nvSpPr>
          <p:spPr>
            <a:xfrm rot="19738885" flipV="1">
              <a:off x="4943676" y="2516812"/>
              <a:ext cx="1800000" cy="1824376"/>
            </a:xfrm>
            <a:prstGeom prst="arc">
              <a:avLst>
                <a:gd name="adj1" fmla="val 19096673"/>
                <a:gd name="adj2" fmla="val 0"/>
              </a:avLst>
            </a:prstGeom>
            <a:ln>
              <a:solidFill>
                <a:srgbClr val="FF0000"/>
              </a:solidFill>
              <a:headEnd type="none" w="sm" len="lg"/>
              <a:tailEnd type="triangle" w="sm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9BD058F7-0E8C-48F2-A554-F597D96C6BC9}"/>
                </a:ext>
              </a:extLst>
            </p:cNvPr>
            <p:cNvSpPr txBox="1"/>
            <p:nvPr/>
          </p:nvSpPr>
          <p:spPr>
            <a:xfrm>
              <a:off x="6659816" y="3663346"/>
              <a:ext cx="39659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Yaw(Positive 0-pi)</a:t>
              </a:r>
              <a:endPara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B16D129C-9556-4A32-8BEF-D3CB1674E39E}"/>
                </a:ext>
              </a:extLst>
            </p:cNvPr>
            <p:cNvSpPr txBox="1"/>
            <p:nvPr/>
          </p:nvSpPr>
          <p:spPr>
            <a:xfrm>
              <a:off x="9431059" y="3461566"/>
              <a:ext cx="9877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World X</a:t>
              </a:r>
              <a:endPara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1AE0F7FB-7464-4E33-9170-429DA39207F3}"/>
                </a:ext>
              </a:extLst>
            </p:cNvPr>
            <p:cNvSpPr txBox="1"/>
            <p:nvPr/>
          </p:nvSpPr>
          <p:spPr>
            <a:xfrm>
              <a:off x="5047986" y="747049"/>
              <a:ext cx="9877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World Y</a:t>
              </a:r>
              <a:endPara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6" name="矩形 5">
            <a:extLst>
              <a:ext uri="{FF2B5EF4-FFF2-40B4-BE49-F238E27FC236}">
                <a16:creationId xmlns:a16="http://schemas.microsoft.com/office/drawing/2014/main" id="{29040B3D-ED0F-4173-A178-D5464B390F72}"/>
              </a:ext>
            </a:extLst>
          </p:cNvPr>
          <p:cNvSpPr/>
          <p:nvPr/>
        </p:nvSpPr>
        <p:spPr>
          <a:xfrm>
            <a:off x="7786029" y="1143000"/>
            <a:ext cx="3250271" cy="457714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3319683F-99E9-4F8C-8583-4E41796BB5E8}"/>
              </a:ext>
            </a:extLst>
          </p:cNvPr>
          <p:cNvCxnSpPr>
            <a:stCxn id="6" idx="2"/>
            <a:endCxn id="6" idx="0"/>
          </p:cNvCxnSpPr>
          <p:nvPr/>
        </p:nvCxnSpPr>
        <p:spPr>
          <a:xfrm flipV="1">
            <a:off x="9411165" y="1143000"/>
            <a:ext cx="0" cy="4577145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B736AFC4-8945-4F87-A553-BAEDE52A8AEA}"/>
              </a:ext>
            </a:extLst>
          </p:cNvPr>
          <p:cNvCxnSpPr>
            <a:cxnSpLocks/>
          </p:cNvCxnSpPr>
          <p:nvPr/>
        </p:nvCxnSpPr>
        <p:spPr>
          <a:xfrm>
            <a:off x="9411166" y="1897078"/>
            <a:ext cx="162513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94A7ED5A-6E0C-484A-A65E-A03CA17079FE}"/>
              </a:ext>
            </a:extLst>
          </p:cNvPr>
          <p:cNvSpPr txBox="1"/>
          <p:nvPr/>
        </p:nvSpPr>
        <p:spPr>
          <a:xfrm>
            <a:off x="9674122" y="1911533"/>
            <a:ext cx="1242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d(Positive)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弧形 11">
            <a:extLst>
              <a:ext uri="{FF2B5EF4-FFF2-40B4-BE49-F238E27FC236}">
                <a16:creationId xmlns:a16="http://schemas.microsoft.com/office/drawing/2014/main" id="{DB75E760-1E76-421D-81C8-8D732C73D947}"/>
              </a:ext>
            </a:extLst>
          </p:cNvPr>
          <p:cNvSpPr/>
          <p:nvPr/>
        </p:nvSpPr>
        <p:spPr>
          <a:xfrm rot="16200000">
            <a:off x="9415136" y="1304025"/>
            <a:ext cx="914400" cy="914400"/>
          </a:xfrm>
          <a:prstGeom prst="arc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2287732-068E-436B-8A22-F8E902052420}"/>
              </a:ext>
            </a:extLst>
          </p:cNvPr>
          <p:cNvSpPr txBox="1"/>
          <p:nvPr/>
        </p:nvSpPr>
        <p:spPr>
          <a:xfrm>
            <a:off x="9872336" y="1150707"/>
            <a:ext cx="1242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f(Positive)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38001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9099CCA9-E2ED-4AF0-B142-C413A21E6CCA}"/>
              </a:ext>
            </a:extLst>
          </p:cNvPr>
          <p:cNvCxnSpPr>
            <a:stCxn id="30" idx="0"/>
            <a:endCxn id="30" idx="2"/>
          </p:cNvCxnSpPr>
          <p:nvPr/>
        </p:nvCxnSpPr>
        <p:spPr>
          <a:xfrm>
            <a:off x="7855589" y="1419221"/>
            <a:ext cx="0" cy="3307022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空心弧 56">
            <a:extLst>
              <a:ext uri="{FF2B5EF4-FFF2-40B4-BE49-F238E27FC236}">
                <a16:creationId xmlns:a16="http://schemas.microsoft.com/office/drawing/2014/main" id="{807F6F81-032D-44DF-A127-DAD2CC28DDD0}"/>
              </a:ext>
            </a:extLst>
          </p:cNvPr>
          <p:cNvSpPr/>
          <p:nvPr/>
        </p:nvSpPr>
        <p:spPr>
          <a:xfrm>
            <a:off x="4234302" y="922624"/>
            <a:ext cx="2928255" cy="2796260"/>
          </a:xfrm>
          <a:prstGeom prst="blockArc">
            <a:avLst>
              <a:gd name="adj1" fmla="val 10800000"/>
              <a:gd name="adj2" fmla="val 14362243"/>
              <a:gd name="adj3" fmla="val 32819"/>
            </a:avLst>
          </a:prstGeom>
          <a:solidFill>
            <a:schemeClr val="accent1"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6C7230D-6A25-4DF3-9DB5-B6BB45FD21D5}"/>
              </a:ext>
            </a:extLst>
          </p:cNvPr>
          <p:cNvSpPr txBox="1"/>
          <p:nvPr/>
        </p:nvSpPr>
        <p:spPr>
          <a:xfrm>
            <a:off x="10853172" y="0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B0981CF7-7A01-4402-B4F4-0485B264A18D}"/>
              </a:ext>
            </a:extLst>
          </p:cNvPr>
          <p:cNvGrpSpPr/>
          <p:nvPr/>
        </p:nvGrpSpPr>
        <p:grpSpPr>
          <a:xfrm>
            <a:off x="191911" y="2379401"/>
            <a:ext cx="1702832" cy="2288382"/>
            <a:chOff x="4850369" y="2638424"/>
            <a:chExt cx="1702832" cy="2288382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688748F2-6170-43DF-8A73-81C5C3005C53}"/>
                </a:ext>
              </a:extLst>
            </p:cNvPr>
            <p:cNvSpPr/>
            <p:nvPr/>
          </p:nvSpPr>
          <p:spPr>
            <a:xfrm rot="16200000">
              <a:off x="5305425" y="2971800"/>
              <a:ext cx="1581151" cy="9144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5400" b="1" dirty="0"/>
                <a:t>→</a:t>
              </a:r>
            </a:p>
          </p:txBody>
        </p:sp>
        <p:cxnSp>
          <p:nvCxnSpPr>
            <p:cNvPr id="5" name="直接箭头连接符 4">
              <a:extLst>
                <a:ext uri="{FF2B5EF4-FFF2-40B4-BE49-F238E27FC236}">
                  <a16:creationId xmlns:a16="http://schemas.microsoft.com/office/drawing/2014/main" id="{29ECD584-39D3-47C1-A8F1-CDEFB24BCC79}"/>
                </a:ext>
              </a:extLst>
            </p:cNvPr>
            <p:cNvCxnSpPr/>
            <p:nvPr/>
          </p:nvCxnSpPr>
          <p:spPr>
            <a:xfrm flipV="1">
              <a:off x="5359400" y="2690812"/>
              <a:ext cx="0" cy="1476376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" name="直接箭头连接符 5">
              <a:extLst>
                <a:ext uri="{FF2B5EF4-FFF2-40B4-BE49-F238E27FC236}">
                  <a16:creationId xmlns:a16="http://schemas.microsoft.com/office/drawing/2014/main" id="{9D185F6A-867A-4CA4-A79C-ECDE433917FB}"/>
                </a:ext>
              </a:extLst>
            </p:cNvPr>
            <p:cNvCxnSpPr>
              <a:cxnSpLocks/>
            </p:cNvCxnSpPr>
            <p:nvPr/>
          </p:nvCxnSpPr>
          <p:spPr>
            <a:xfrm>
              <a:off x="5638800" y="4510088"/>
              <a:ext cx="914401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6A8A5CE0-17AB-4EA9-8A47-8C5CD00ABDFE}"/>
                </a:ext>
              </a:extLst>
            </p:cNvPr>
            <p:cNvSpPr txBox="1"/>
            <p:nvPr/>
          </p:nvSpPr>
          <p:spPr>
            <a:xfrm rot="16200000">
              <a:off x="4917054" y="3244334"/>
              <a:ext cx="2359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l</a:t>
              </a:r>
              <a:endParaRPr lang="zh-CN" altLang="en-US" dirty="0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B8FD816F-892C-459D-9597-31E17E74046E}"/>
                </a:ext>
              </a:extLst>
            </p:cNvPr>
            <p:cNvSpPr txBox="1"/>
            <p:nvPr/>
          </p:nvSpPr>
          <p:spPr>
            <a:xfrm>
              <a:off x="5922715" y="4557474"/>
              <a:ext cx="3465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w</a:t>
              </a:r>
              <a:endParaRPr lang="zh-CN" altLang="en-US" dirty="0"/>
            </a:p>
          </p:txBody>
        </p:sp>
      </p:grpSp>
      <p:sp>
        <p:nvSpPr>
          <p:cNvPr id="15" name="矩形 14">
            <a:extLst>
              <a:ext uri="{FF2B5EF4-FFF2-40B4-BE49-F238E27FC236}">
                <a16:creationId xmlns:a16="http://schemas.microsoft.com/office/drawing/2014/main" id="{94478D45-9277-4547-8D49-6906D515E240}"/>
              </a:ext>
            </a:extLst>
          </p:cNvPr>
          <p:cNvSpPr/>
          <p:nvPr/>
        </p:nvSpPr>
        <p:spPr>
          <a:xfrm rot="16200000">
            <a:off x="3900926" y="2654316"/>
            <a:ext cx="1581153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5400" b="1" dirty="0"/>
              <a:t>→</a:t>
            </a: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6407AF5F-7D44-4399-8898-BE24CFB28614}"/>
              </a:ext>
            </a:extLst>
          </p:cNvPr>
          <p:cNvCxnSpPr/>
          <p:nvPr/>
        </p:nvCxnSpPr>
        <p:spPr>
          <a:xfrm flipV="1">
            <a:off x="5053452" y="1587774"/>
            <a:ext cx="0" cy="7331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1EB837A5-354B-4709-BA79-6CC18A69CC64}"/>
              </a:ext>
            </a:extLst>
          </p:cNvPr>
          <p:cNvCxnSpPr>
            <a:cxnSpLocks/>
          </p:cNvCxnSpPr>
          <p:nvPr/>
        </p:nvCxnSpPr>
        <p:spPr>
          <a:xfrm flipV="1">
            <a:off x="4348602" y="1600344"/>
            <a:ext cx="457201" cy="73316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C43C30ED-956A-46FB-BBA7-F4DF4563D1C6}"/>
              </a:ext>
            </a:extLst>
          </p:cNvPr>
          <p:cNvCxnSpPr/>
          <p:nvPr/>
        </p:nvCxnSpPr>
        <p:spPr>
          <a:xfrm flipV="1">
            <a:off x="4348602" y="1600344"/>
            <a:ext cx="0" cy="7331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443439D4-C730-49A4-A953-DC9236C52527}"/>
              </a:ext>
            </a:extLst>
          </p:cNvPr>
          <p:cNvCxnSpPr>
            <a:cxnSpLocks/>
          </p:cNvCxnSpPr>
          <p:nvPr/>
        </p:nvCxnSpPr>
        <p:spPr>
          <a:xfrm flipV="1">
            <a:off x="5043927" y="1600344"/>
            <a:ext cx="457201" cy="73316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442293BB-C78A-4266-91CE-36F3ECA7A090}"/>
              </a:ext>
            </a:extLst>
          </p:cNvPr>
          <p:cNvSpPr txBox="1"/>
          <p:nvPr/>
        </p:nvSpPr>
        <p:spPr>
          <a:xfrm>
            <a:off x="5037477" y="1615456"/>
            <a:ext cx="316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Φ</a:t>
            </a:r>
            <a:endParaRPr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1E1C292-3296-4345-8605-DBF623F02489}"/>
              </a:ext>
            </a:extLst>
          </p:cNvPr>
          <p:cNvSpPr txBox="1"/>
          <p:nvPr/>
        </p:nvSpPr>
        <p:spPr>
          <a:xfrm>
            <a:off x="4331636" y="1667397"/>
            <a:ext cx="356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Φ</a:t>
            </a:r>
            <a:endParaRPr lang="zh-CN" altLang="en-US" dirty="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DF07256-3B08-4370-8D03-64E1E18C0511}"/>
              </a:ext>
            </a:extLst>
          </p:cNvPr>
          <p:cNvSpPr/>
          <p:nvPr/>
        </p:nvSpPr>
        <p:spPr>
          <a:xfrm>
            <a:off x="3970776" y="1360761"/>
            <a:ext cx="1811958" cy="3307022"/>
          </a:xfrm>
          <a:prstGeom prst="rect">
            <a:avLst/>
          </a:prstGeom>
          <a:noFill/>
          <a:ln w="2540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191D091-E61C-4A8E-BFBA-7500D74C4F69}"/>
              </a:ext>
            </a:extLst>
          </p:cNvPr>
          <p:cNvSpPr txBox="1"/>
          <p:nvPr/>
        </p:nvSpPr>
        <p:spPr>
          <a:xfrm>
            <a:off x="4355478" y="4826714"/>
            <a:ext cx="885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control</a:t>
            </a:r>
            <a:endParaRPr lang="zh-CN" altLang="en-US" dirty="0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C87EB9B-C3A1-49CA-A8CF-A18C061A0206}"/>
              </a:ext>
            </a:extLst>
          </p:cNvPr>
          <p:cNvSpPr/>
          <p:nvPr/>
        </p:nvSpPr>
        <p:spPr>
          <a:xfrm>
            <a:off x="237257" y="1419221"/>
            <a:ext cx="2159136" cy="3307023"/>
          </a:xfrm>
          <a:prstGeom prst="rect">
            <a:avLst/>
          </a:prstGeom>
          <a:noFill/>
          <a:ln w="254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9EC8890D-2E65-4E1F-B2CE-3016467E56FC}"/>
              </a:ext>
            </a:extLst>
          </p:cNvPr>
          <p:cNvSpPr txBox="1"/>
          <p:nvPr/>
        </p:nvSpPr>
        <p:spPr>
          <a:xfrm>
            <a:off x="710259" y="4832090"/>
            <a:ext cx="1032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constant</a:t>
            </a:r>
            <a:endParaRPr lang="zh-CN" altLang="en-US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6061719-3831-4825-A67F-95E47CC5AAD1}"/>
              </a:ext>
            </a:extLst>
          </p:cNvPr>
          <p:cNvSpPr/>
          <p:nvPr/>
        </p:nvSpPr>
        <p:spPr>
          <a:xfrm>
            <a:off x="6949610" y="1419221"/>
            <a:ext cx="1811958" cy="3307022"/>
          </a:xfrm>
          <a:prstGeom prst="rect">
            <a:avLst/>
          </a:prstGeom>
          <a:noFill/>
          <a:ln w="254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8333044F-1442-4960-8686-A3F7E52B0758}"/>
              </a:ext>
            </a:extLst>
          </p:cNvPr>
          <p:cNvSpPr/>
          <p:nvPr/>
        </p:nvSpPr>
        <p:spPr>
          <a:xfrm rot="17721745">
            <a:off x="7062164" y="2680990"/>
            <a:ext cx="1581151" cy="914400"/>
          </a:xfrm>
          <a:prstGeom prst="rect">
            <a:avLst/>
          </a:prstGeom>
          <a:solidFill>
            <a:schemeClr val="accent1">
              <a:alpha val="4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5400" b="1" dirty="0"/>
              <a:t>→</a:t>
            </a:r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E6395842-44EE-4AAA-9E7C-FC6E1EA0DC80}"/>
              </a:ext>
            </a:extLst>
          </p:cNvPr>
          <p:cNvSpPr/>
          <p:nvPr/>
        </p:nvSpPr>
        <p:spPr>
          <a:xfrm>
            <a:off x="8671568" y="2280421"/>
            <a:ext cx="180000" cy="1800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537EF6C2-6F68-4B64-B702-800CB333F559}"/>
              </a:ext>
            </a:extLst>
          </p:cNvPr>
          <p:cNvSpPr/>
          <p:nvPr/>
        </p:nvSpPr>
        <p:spPr>
          <a:xfrm>
            <a:off x="8674711" y="2591773"/>
            <a:ext cx="180000" cy="1800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椭圆 35">
            <a:extLst>
              <a:ext uri="{FF2B5EF4-FFF2-40B4-BE49-F238E27FC236}">
                <a16:creationId xmlns:a16="http://schemas.microsoft.com/office/drawing/2014/main" id="{23214E07-E794-4D73-840D-9AC4D3F5F5B5}"/>
              </a:ext>
            </a:extLst>
          </p:cNvPr>
          <p:cNvSpPr/>
          <p:nvPr/>
        </p:nvSpPr>
        <p:spPr>
          <a:xfrm>
            <a:off x="8670957" y="2903125"/>
            <a:ext cx="180000" cy="1800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4437B456-DD75-4D36-BCF3-2F5FE1D5D95E}"/>
              </a:ext>
            </a:extLst>
          </p:cNvPr>
          <p:cNvSpPr/>
          <p:nvPr/>
        </p:nvSpPr>
        <p:spPr>
          <a:xfrm>
            <a:off x="8672179" y="3231985"/>
            <a:ext cx="180000" cy="1800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DE8BC5C9-510E-41D0-8A2C-A71E2515292F}"/>
              </a:ext>
            </a:extLst>
          </p:cNvPr>
          <p:cNvSpPr/>
          <p:nvPr/>
        </p:nvSpPr>
        <p:spPr>
          <a:xfrm>
            <a:off x="8675322" y="3543337"/>
            <a:ext cx="180000" cy="1800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7077F25A-1F18-4C1C-858E-BEA4974F5E0E}"/>
              </a:ext>
            </a:extLst>
          </p:cNvPr>
          <p:cNvSpPr/>
          <p:nvPr/>
        </p:nvSpPr>
        <p:spPr>
          <a:xfrm>
            <a:off x="8671568" y="3854689"/>
            <a:ext cx="180000" cy="1800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椭圆 42">
            <a:extLst>
              <a:ext uri="{FF2B5EF4-FFF2-40B4-BE49-F238E27FC236}">
                <a16:creationId xmlns:a16="http://schemas.microsoft.com/office/drawing/2014/main" id="{AF0C88D0-5BF4-4E69-BDA6-2481ECF6734C}"/>
              </a:ext>
            </a:extLst>
          </p:cNvPr>
          <p:cNvSpPr/>
          <p:nvPr/>
        </p:nvSpPr>
        <p:spPr>
          <a:xfrm>
            <a:off x="6857983" y="2280421"/>
            <a:ext cx="180000" cy="1800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椭圆 43">
            <a:extLst>
              <a:ext uri="{FF2B5EF4-FFF2-40B4-BE49-F238E27FC236}">
                <a16:creationId xmlns:a16="http://schemas.microsoft.com/office/drawing/2014/main" id="{EE42C640-0F45-4164-9772-3C4AA9DDCB28}"/>
              </a:ext>
            </a:extLst>
          </p:cNvPr>
          <p:cNvSpPr/>
          <p:nvPr/>
        </p:nvSpPr>
        <p:spPr>
          <a:xfrm>
            <a:off x="6861126" y="2591773"/>
            <a:ext cx="180000" cy="1800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椭圆 44">
            <a:extLst>
              <a:ext uri="{FF2B5EF4-FFF2-40B4-BE49-F238E27FC236}">
                <a16:creationId xmlns:a16="http://schemas.microsoft.com/office/drawing/2014/main" id="{3C5AF888-6528-41AF-9ED8-2348CDD638B1}"/>
              </a:ext>
            </a:extLst>
          </p:cNvPr>
          <p:cNvSpPr/>
          <p:nvPr/>
        </p:nvSpPr>
        <p:spPr>
          <a:xfrm>
            <a:off x="6857372" y="2903125"/>
            <a:ext cx="180000" cy="1800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椭圆 45">
            <a:extLst>
              <a:ext uri="{FF2B5EF4-FFF2-40B4-BE49-F238E27FC236}">
                <a16:creationId xmlns:a16="http://schemas.microsoft.com/office/drawing/2014/main" id="{C7BE41AA-A64F-48CB-89D6-755B779999BC}"/>
              </a:ext>
            </a:extLst>
          </p:cNvPr>
          <p:cNvSpPr/>
          <p:nvPr/>
        </p:nvSpPr>
        <p:spPr>
          <a:xfrm>
            <a:off x="6858594" y="3231985"/>
            <a:ext cx="180000" cy="1800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02CA09FB-5BDE-43BC-95BA-D116AA6B8638}"/>
              </a:ext>
            </a:extLst>
          </p:cNvPr>
          <p:cNvSpPr/>
          <p:nvPr/>
        </p:nvSpPr>
        <p:spPr>
          <a:xfrm>
            <a:off x="6861737" y="3543337"/>
            <a:ext cx="180000" cy="1800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51342AE0-DA72-4C00-B85E-A01804AEAA90}"/>
              </a:ext>
            </a:extLst>
          </p:cNvPr>
          <p:cNvSpPr/>
          <p:nvPr/>
        </p:nvSpPr>
        <p:spPr>
          <a:xfrm>
            <a:off x="6857983" y="3854689"/>
            <a:ext cx="180000" cy="1800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6A80E75A-0155-4EEF-892E-03BE7B2EF85C}"/>
              </a:ext>
            </a:extLst>
          </p:cNvPr>
          <p:cNvSpPr txBox="1"/>
          <p:nvPr/>
        </p:nvSpPr>
        <p:spPr>
          <a:xfrm>
            <a:off x="7595897" y="4851588"/>
            <a:ext cx="5405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feel</a:t>
            </a:r>
            <a:endParaRPr lang="zh-CN" altLang="en-US" dirty="0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047160B4-EB81-433F-B985-A913683117E9}"/>
              </a:ext>
            </a:extLst>
          </p:cNvPr>
          <p:cNvSpPr txBox="1"/>
          <p:nvPr/>
        </p:nvSpPr>
        <p:spPr>
          <a:xfrm>
            <a:off x="2395370" y="1284189"/>
            <a:ext cx="168747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L:</a:t>
            </a:r>
            <a:r>
              <a:rPr lang="zh-CN" altLang="en-US" dirty="0"/>
              <a:t>长</a:t>
            </a:r>
            <a:endParaRPr lang="en-US" altLang="zh-CN" dirty="0"/>
          </a:p>
          <a:p>
            <a:r>
              <a:rPr lang="en-US" altLang="zh-CN" dirty="0"/>
              <a:t>W:</a:t>
            </a:r>
            <a:r>
              <a:rPr lang="zh-CN" altLang="en-US" dirty="0"/>
              <a:t>宽</a:t>
            </a:r>
            <a:endParaRPr lang="en-US" altLang="zh-CN" dirty="0"/>
          </a:p>
          <a:p>
            <a:r>
              <a:rPr lang="en-US" altLang="zh-CN" dirty="0"/>
              <a:t>V</a:t>
            </a:r>
            <a:r>
              <a:rPr lang="en-US" altLang="zh-CN" baseline="-25000" dirty="0"/>
              <a:t>lim</a:t>
            </a:r>
            <a:r>
              <a:rPr lang="en-US" altLang="zh-CN" dirty="0"/>
              <a:t>:</a:t>
            </a:r>
            <a:r>
              <a:rPr lang="zh-CN" altLang="en-US" dirty="0"/>
              <a:t>最大速度</a:t>
            </a:r>
            <a:endParaRPr lang="en-US" altLang="zh-CN" dirty="0"/>
          </a:p>
          <a:p>
            <a:r>
              <a:rPr lang="en-US" altLang="zh-CN" dirty="0"/>
              <a:t>C</a:t>
            </a:r>
            <a:r>
              <a:rPr lang="en-US" altLang="zh-CN" baseline="-25000" dirty="0"/>
              <a:t>acc</a:t>
            </a:r>
            <a:r>
              <a:rPr lang="en-US" altLang="zh-CN" dirty="0"/>
              <a:t>:</a:t>
            </a:r>
            <a:r>
              <a:rPr lang="zh-CN" altLang="en-US" dirty="0"/>
              <a:t>限加速度</a:t>
            </a:r>
            <a:endParaRPr lang="en-US" altLang="zh-CN" dirty="0"/>
          </a:p>
          <a:p>
            <a:r>
              <a:rPr lang="en-US" altLang="zh-CN" dirty="0" err="1"/>
              <a:t>C</a:t>
            </a:r>
            <a:r>
              <a:rPr lang="en-US" altLang="zh-CN" baseline="-25000" dirty="0" err="1"/>
              <a:t>thr</a:t>
            </a:r>
            <a:r>
              <a:rPr lang="en-US" altLang="zh-CN" dirty="0" err="1"/>
              <a:t>:a</a:t>
            </a:r>
            <a:r>
              <a:rPr lang="en-US" altLang="zh-CN" baseline="-25000" dirty="0" err="1"/>
              <a:t>long</a:t>
            </a:r>
            <a:r>
              <a:rPr lang="zh-CN" altLang="en-US" dirty="0"/>
              <a:t>系数</a:t>
            </a:r>
            <a:endParaRPr lang="en-US" altLang="zh-CN" dirty="0"/>
          </a:p>
          <a:p>
            <a:r>
              <a:rPr lang="en-US" altLang="zh-CN" dirty="0" err="1"/>
              <a:t>C</a:t>
            </a:r>
            <a:r>
              <a:rPr lang="en-US" altLang="zh-CN" baseline="-25000" dirty="0" err="1"/>
              <a:t>steer</a:t>
            </a:r>
            <a:r>
              <a:rPr lang="en-US" altLang="zh-CN" dirty="0" err="1"/>
              <a:t>:a</a:t>
            </a:r>
            <a:r>
              <a:rPr lang="en-US" altLang="zh-CN" baseline="-25000" dirty="0" err="1"/>
              <a:t>lat</a:t>
            </a:r>
            <a:r>
              <a:rPr lang="zh-CN" altLang="en-US" dirty="0"/>
              <a:t>系数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G:</a:t>
            </a:r>
            <a:r>
              <a:rPr lang="zh-CN" altLang="en-US" dirty="0"/>
              <a:t>目前去终点</a:t>
            </a:r>
            <a:endParaRPr lang="en-US" altLang="zh-CN" dirty="0"/>
          </a:p>
          <a:p>
            <a:r>
              <a:rPr lang="zh-CN" altLang="en-US" dirty="0"/>
              <a:t>中间</a:t>
            </a:r>
            <a:r>
              <a:rPr lang="en-US" altLang="zh-CN" dirty="0"/>
              <a:t>waypoints</a:t>
            </a:r>
          </a:p>
          <a:p>
            <a:r>
              <a:rPr lang="zh-CN" altLang="en-US" dirty="0"/>
              <a:t>及终点坐标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C:</a:t>
            </a:r>
            <a:r>
              <a:rPr lang="zh-CN" altLang="en-US" dirty="0"/>
              <a:t>奖励函数的</a:t>
            </a:r>
            <a:endParaRPr lang="en-US" altLang="zh-CN" dirty="0"/>
          </a:p>
          <a:p>
            <a:r>
              <a:rPr lang="zh-CN" altLang="en-US" dirty="0"/>
              <a:t>一套系数</a:t>
            </a:r>
            <a:r>
              <a:rPr lang="en-US" altLang="zh-CN" dirty="0"/>
              <a:t>(10</a:t>
            </a:r>
            <a:r>
              <a:rPr lang="zh-CN" altLang="en-US" dirty="0"/>
              <a:t>个</a:t>
            </a:r>
            <a:r>
              <a:rPr lang="en-US" altLang="zh-CN" dirty="0"/>
              <a:t>)</a:t>
            </a:r>
          </a:p>
          <a:p>
            <a:endParaRPr lang="en-US" altLang="zh-CN" dirty="0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1B863B7B-5A56-4F5E-BB69-82E0489188CE}"/>
              </a:ext>
            </a:extLst>
          </p:cNvPr>
          <p:cNvSpPr txBox="1"/>
          <p:nvPr/>
        </p:nvSpPr>
        <p:spPr>
          <a:xfrm>
            <a:off x="8912002" y="1342125"/>
            <a:ext cx="327999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zh-CN" altLang="en-US" b="1" dirty="0"/>
              <a:t>自身相关感知</a:t>
            </a:r>
            <a:endParaRPr lang="en-US" altLang="zh-CN" b="1" dirty="0"/>
          </a:p>
          <a:p>
            <a:r>
              <a:rPr lang="en-US" altLang="zh-CN" dirty="0"/>
              <a:t>c:</a:t>
            </a:r>
            <a:r>
              <a:rPr lang="zh-CN" altLang="en-US" dirty="0"/>
              <a:t>车中心偏移当前</a:t>
            </a:r>
            <a:r>
              <a:rPr lang="en-US" altLang="zh-CN" dirty="0"/>
              <a:t>lane</a:t>
            </a:r>
            <a:r>
              <a:rPr lang="zh-CN" altLang="en-US" dirty="0"/>
              <a:t>中心距离</a:t>
            </a:r>
            <a:endParaRPr lang="en-US" altLang="zh-CN" dirty="0"/>
          </a:p>
          <a:p>
            <a:r>
              <a:rPr lang="en-US" altLang="zh-CN" dirty="0"/>
              <a:t>θ:</a:t>
            </a:r>
            <a:r>
              <a:rPr lang="zh-CN" altLang="en-US" dirty="0"/>
              <a:t>车朝向向量与</a:t>
            </a:r>
            <a:r>
              <a:rPr lang="en-US" altLang="zh-CN" dirty="0"/>
              <a:t>lane</a:t>
            </a:r>
            <a:r>
              <a:rPr lang="zh-CN" altLang="en-US" dirty="0"/>
              <a:t>向量夹角</a:t>
            </a:r>
            <a:endParaRPr lang="en-US" altLang="zh-CN" dirty="0"/>
          </a:p>
          <a:p>
            <a:r>
              <a:rPr lang="el-GR" altLang="zh-CN" dirty="0"/>
              <a:t>Κ</a:t>
            </a:r>
            <a:r>
              <a:rPr lang="en-US" altLang="zh-CN" dirty="0"/>
              <a:t>:</a:t>
            </a:r>
            <a:r>
              <a:rPr lang="zh-CN" altLang="en-US" dirty="0"/>
              <a:t>路的曲率</a:t>
            </a:r>
            <a:endParaRPr lang="en-US" altLang="zh-CN" dirty="0"/>
          </a:p>
          <a:p>
            <a:r>
              <a:rPr lang="en-US" altLang="zh-CN" dirty="0"/>
              <a:t>v:</a:t>
            </a:r>
            <a:r>
              <a:rPr lang="zh-CN" altLang="en-US" dirty="0"/>
              <a:t>车的速度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b="1" dirty="0"/>
              <a:t>2. </a:t>
            </a:r>
            <a:r>
              <a:rPr lang="zh-CN" altLang="en-US" b="1" dirty="0"/>
              <a:t>道路相关感知</a:t>
            </a:r>
            <a:endParaRPr lang="en-US" altLang="zh-CN" baseline="30000" dirty="0"/>
          </a:p>
          <a:p>
            <a:r>
              <a:rPr lang="en-US" altLang="zh-CN" dirty="0"/>
              <a:t>W</a:t>
            </a:r>
            <a:r>
              <a:rPr lang="en-US" altLang="zh-CN" baseline="-25000" dirty="0"/>
              <a:t>stop</a:t>
            </a:r>
            <a:r>
              <a:rPr lang="zh-CN" altLang="en-US" dirty="0"/>
              <a:t>停车线、交通灯</a:t>
            </a:r>
            <a:endParaRPr lang="en-US" altLang="zh-CN" dirty="0"/>
          </a:p>
          <a:p>
            <a:r>
              <a:rPr lang="en-US" altLang="zh-CN" dirty="0"/>
              <a:t>W</a:t>
            </a:r>
            <a:r>
              <a:rPr lang="en-US" altLang="zh-CN" baseline="-25000" dirty="0"/>
              <a:t>boundary</a:t>
            </a:r>
            <a:r>
              <a:rPr lang="zh-CN" altLang="en-US" dirty="0"/>
              <a:t>理解为</a:t>
            </a:r>
            <a:r>
              <a:rPr lang="en-US" altLang="zh-CN" dirty="0"/>
              <a:t>oob_points</a:t>
            </a:r>
          </a:p>
          <a:p>
            <a:r>
              <a:rPr lang="en-US" altLang="zh-CN" dirty="0"/>
              <a:t>W</a:t>
            </a:r>
            <a:r>
              <a:rPr lang="en-US" altLang="zh-CN" baseline="-25000" dirty="0"/>
              <a:t>lane</a:t>
            </a:r>
            <a:r>
              <a:rPr lang="zh-CN" altLang="en-US" dirty="0"/>
              <a:t>为</a:t>
            </a:r>
            <a:r>
              <a:rPr lang="en-US" altLang="zh-CN" dirty="0">
                <a:solidFill>
                  <a:srgbClr val="FF4EF9"/>
                </a:solidFill>
              </a:rPr>
              <a:t>waypoints</a:t>
            </a:r>
            <a:r>
              <a:rPr lang="en-US" altLang="zh-CN" dirty="0"/>
              <a:t>,40m</a:t>
            </a:r>
            <a:r>
              <a:rPr lang="zh-CN" altLang="en-US" dirty="0"/>
              <a:t>一个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b="1" dirty="0"/>
              <a:t>3. </a:t>
            </a:r>
            <a:r>
              <a:rPr lang="zh-CN" altLang="en-US" b="1" dirty="0"/>
              <a:t>感知</a:t>
            </a:r>
            <a:r>
              <a:rPr lang="en-US" altLang="zh-CN" b="1" dirty="0"/>
              <a:t>other agent</a:t>
            </a:r>
          </a:p>
          <a:p>
            <a:r>
              <a:rPr lang="en-US" altLang="zh-CN" dirty="0"/>
              <a:t>S</a:t>
            </a:r>
            <a:r>
              <a:rPr lang="en-US" altLang="zh-CN" baseline="-25000" dirty="0"/>
              <a:t>j</a:t>
            </a:r>
            <a:r>
              <a:rPr lang="en-US" altLang="zh-CN" dirty="0"/>
              <a:t>(t)</a:t>
            </a:r>
            <a:r>
              <a:rPr lang="zh-CN" altLang="en-US" dirty="0"/>
              <a:t>的部分内容</a:t>
            </a:r>
            <a:endParaRPr lang="en-US" altLang="zh-CN" dirty="0"/>
          </a:p>
          <a:p>
            <a:r>
              <a:rPr lang="en-US" altLang="zh-CN" dirty="0">
                <a:solidFill>
                  <a:schemeClr val="accent6"/>
                </a:solidFill>
              </a:rPr>
              <a:t>[L,W,c,θ,v]</a:t>
            </a:r>
          </a:p>
          <a:p>
            <a:endParaRPr lang="en-US" altLang="zh-CN" dirty="0"/>
          </a:p>
        </p:txBody>
      </p:sp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5FA41E2B-FA76-4587-8E11-4200286BF7A6}"/>
              </a:ext>
            </a:extLst>
          </p:cNvPr>
          <p:cNvCxnSpPr>
            <a:cxnSpLocks/>
          </p:cNvCxnSpPr>
          <p:nvPr/>
        </p:nvCxnSpPr>
        <p:spPr>
          <a:xfrm>
            <a:off x="4768990" y="2485062"/>
            <a:ext cx="555876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文本框 61">
            <a:extLst>
              <a:ext uri="{FF2B5EF4-FFF2-40B4-BE49-F238E27FC236}">
                <a16:creationId xmlns:a16="http://schemas.microsoft.com/office/drawing/2014/main" id="{0503A350-3568-4A7E-90A9-C8B43A95FC4F}"/>
              </a:ext>
            </a:extLst>
          </p:cNvPr>
          <p:cNvSpPr txBox="1"/>
          <p:nvPr/>
        </p:nvSpPr>
        <p:spPr>
          <a:xfrm>
            <a:off x="5301650" y="2303801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>
                <a:solidFill>
                  <a:srgbClr val="FF0000"/>
                </a:solidFill>
              </a:rPr>
              <a:t>a</a:t>
            </a:r>
            <a:r>
              <a:rPr lang="en-US" altLang="zh-CN" baseline="-25000" dirty="0" err="1">
                <a:solidFill>
                  <a:srgbClr val="FF0000"/>
                </a:solidFill>
              </a:rPr>
              <a:t>lat</a:t>
            </a:r>
            <a:endParaRPr lang="zh-CN" altLang="en-US" baseline="-25000" dirty="0">
              <a:solidFill>
                <a:srgbClr val="FF0000"/>
              </a:solidFill>
            </a:endParaRPr>
          </a:p>
        </p:txBody>
      </p: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A77F7AD7-0AAC-4370-899F-3E7F6E241E0E}"/>
              </a:ext>
            </a:extLst>
          </p:cNvPr>
          <p:cNvCxnSpPr>
            <a:cxnSpLocks/>
            <a:endCxn id="57" idx="1"/>
          </p:cNvCxnSpPr>
          <p:nvPr/>
        </p:nvCxnSpPr>
        <p:spPr>
          <a:xfrm flipV="1">
            <a:off x="4762233" y="1499151"/>
            <a:ext cx="449735" cy="98591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文本框 65">
            <a:extLst>
              <a:ext uri="{FF2B5EF4-FFF2-40B4-BE49-F238E27FC236}">
                <a16:creationId xmlns:a16="http://schemas.microsoft.com/office/drawing/2014/main" id="{1E3D451D-DB67-4CBC-B47B-B315AC7B8392}"/>
              </a:ext>
            </a:extLst>
          </p:cNvPr>
          <p:cNvSpPr txBox="1"/>
          <p:nvPr/>
        </p:nvSpPr>
        <p:spPr>
          <a:xfrm>
            <a:off x="5178940" y="1256747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>
                    <a:alpha val="36000"/>
                  </a:srgbClr>
                </a:solidFill>
              </a:rPr>
              <a:t>a</a:t>
            </a:r>
            <a:endParaRPr lang="zh-CN" altLang="en-US" dirty="0">
              <a:solidFill>
                <a:srgbClr val="FF0000">
                  <a:alpha val="36000"/>
                </a:srgbClr>
              </a:solidFill>
            </a:endParaRPr>
          </a:p>
        </p:txBody>
      </p:sp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1275FDAF-B8F8-4223-BCCA-791952D3DF37}"/>
              </a:ext>
            </a:extLst>
          </p:cNvPr>
          <p:cNvCxnSpPr>
            <a:cxnSpLocks/>
          </p:cNvCxnSpPr>
          <p:nvPr/>
        </p:nvCxnSpPr>
        <p:spPr>
          <a:xfrm flipV="1">
            <a:off x="4749673" y="1499151"/>
            <a:ext cx="33938" cy="99133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文本框 71">
            <a:extLst>
              <a:ext uri="{FF2B5EF4-FFF2-40B4-BE49-F238E27FC236}">
                <a16:creationId xmlns:a16="http://schemas.microsoft.com/office/drawing/2014/main" id="{51EBF072-2075-47CE-BF88-B0E40A84CDE9}"/>
              </a:ext>
            </a:extLst>
          </p:cNvPr>
          <p:cNvSpPr txBox="1"/>
          <p:nvPr/>
        </p:nvSpPr>
        <p:spPr>
          <a:xfrm>
            <a:off x="4544465" y="922419"/>
            <a:ext cx="595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a</a:t>
            </a:r>
            <a:r>
              <a:rPr lang="en-US" altLang="zh-CN" baseline="-25000" dirty="0">
                <a:solidFill>
                  <a:srgbClr val="FF0000"/>
                </a:solidFill>
              </a:rPr>
              <a:t>long</a:t>
            </a:r>
            <a:endParaRPr lang="zh-CN" altLang="en-US" baseline="-25000" dirty="0">
              <a:solidFill>
                <a:srgbClr val="FF0000"/>
              </a:solidFill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01E5E8C9-E9F5-4DB8-BD74-0078AF454383}"/>
              </a:ext>
            </a:extLst>
          </p:cNvPr>
          <p:cNvSpPr txBox="1"/>
          <p:nvPr/>
        </p:nvSpPr>
        <p:spPr>
          <a:xfrm>
            <a:off x="5838125" y="1323541"/>
            <a:ext cx="81785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a</a:t>
            </a:r>
            <a:r>
              <a:rPr lang="en-US" altLang="zh-CN" baseline="-25000" dirty="0" err="1"/>
              <a:t>lat</a:t>
            </a:r>
            <a:endParaRPr lang="en-US" altLang="zh-CN" baseline="-25000" dirty="0"/>
          </a:p>
          <a:p>
            <a:r>
              <a:rPr lang="en-US" altLang="zh-CN" dirty="0"/>
              <a:t>a</a:t>
            </a:r>
            <a:r>
              <a:rPr lang="en-US" altLang="zh-CN" baseline="-25000" dirty="0"/>
              <a:t>long</a:t>
            </a:r>
          </a:p>
          <a:p>
            <a:r>
              <a:rPr lang="en-US" altLang="zh-CN" dirty="0"/>
              <a:t>Φ</a:t>
            </a:r>
            <a:r>
              <a:rPr lang="zh-CN" altLang="en-US" dirty="0"/>
              <a:t>转角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E29AA069-D7CC-4907-B469-9A24CD4A9C08}"/>
              </a:ext>
            </a:extLst>
          </p:cNvPr>
          <p:cNvSpPr/>
          <p:nvPr/>
        </p:nvSpPr>
        <p:spPr>
          <a:xfrm rot="16200000">
            <a:off x="7544878" y="680107"/>
            <a:ext cx="615722" cy="365909"/>
          </a:xfrm>
          <a:prstGeom prst="rect">
            <a:avLst/>
          </a:prstGeom>
          <a:solidFill>
            <a:schemeClr val="accent6">
              <a:alpha val="4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000" b="1" dirty="0"/>
              <a:t>→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4B6B6993-2239-4B9D-9FC5-6779BEAB61AB}"/>
              </a:ext>
            </a:extLst>
          </p:cNvPr>
          <p:cNvSpPr txBox="1"/>
          <p:nvPr/>
        </p:nvSpPr>
        <p:spPr>
          <a:xfrm>
            <a:off x="8034839" y="664288"/>
            <a:ext cx="9476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Agent x</a:t>
            </a:r>
            <a:endParaRPr lang="zh-CN" altLang="en-US" dirty="0"/>
          </a:p>
        </p:txBody>
      </p:sp>
      <p:sp>
        <p:nvSpPr>
          <p:cNvPr id="2" name="右大括号 1">
            <a:extLst>
              <a:ext uri="{FF2B5EF4-FFF2-40B4-BE49-F238E27FC236}">
                <a16:creationId xmlns:a16="http://schemas.microsoft.com/office/drawing/2014/main" id="{CA3E12E4-1E48-4DA5-8367-A22883A2E72F}"/>
              </a:ext>
            </a:extLst>
          </p:cNvPr>
          <p:cNvSpPr/>
          <p:nvPr/>
        </p:nvSpPr>
        <p:spPr>
          <a:xfrm rot="5400000">
            <a:off x="4357332" y="1640968"/>
            <a:ext cx="206733" cy="7490473"/>
          </a:xfrm>
          <a:prstGeom prst="rightBrace">
            <a:avLst>
              <a:gd name="adj1" fmla="val 104872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177AADC-5E9B-4CFB-82F3-5A949036CD0C}"/>
              </a:ext>
            </a:extLst>
          </p:cNvPr>
          <p:cNvSpPr txBox="1"/>
          <p:nvPr/>
        </p:nvSpPr>
        <p:spPr>
          <a:xfrm>
            <a:off x="0" y="0"/>
            <a:ext cx="37305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注：所有的观测量都归一化到</a:t>
            </a:r>
            <a:r>
              <a:rPr lang="en-US" altLang="zh-CN" dirty="0"/>
              <a:t>[-1,1]</a:t>
            </a:r>
            <a:endParaRPr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920B807-6B3A-47F1-9596-569E87623153}"/>
              </a:ext>
            </a:extLst>
          </p:cNvPr>
          <p:cNvSpPr txBox="1"/>
          <p:nvPr/>
        </p:nvSpPr>
        <p:spPr>
          <a:xfrm>
            <a:off x="3730463" y="5517903"/>
            <a:ext cx="15231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observations</a:t>
            </a:r>
            <a:endParaRPr lang="zh-CN" altLang="en-US" b="1" dirty="0"/>
          </a:p>
        </p:txBody>
      </p:sp>
      <p:sp>
        <p:nvSpPr>
          <p:cNvPr id="56" name="乘号 55">
            <a:extLst>
              <a:ext uri="{FF2B5EF4-FFF2-40B4-BE49-F238E27FC236}">
                <a16:creationId xmlns:a16="http://schemas.microsoft.com/office/drawing/2014/main" id="{1D8D91F5-4547-4D0E-8D69-FA1915B55CF3}"/>
              </a:ext>
            </a:extLst>
          </p:cNvPr>
          <p:cNvSpPr/>
          <p:nvPr/>
        </p:nvSpPr>
        <p:spPr>
          <a:xfrm>
            <a:off x="7778624" y="1339488"/>
            <a:ext cx="180000" cy="180000"/>
          </a:xfrm>
          <a:prstGeom prst="mathMultiply">
            <a:avLst/>
          </a:prstGeom>
          <a:solidFill>
            <a:srgbClr val="FF4E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乘号 58">
            <a:extLst>
              <a:ext uri="{FF2B5EF4-FFF2-40B4-BE49-F238E27FC236}">
                <a16:creationId xmlns:a16="http://schemas.microsoft.com/office/drawing/2014/main" id="{AABE3AF2-CF73-45A4-860B-361CE3F30050}"/>
              </a:ext>
            </a:extLst>
          </p:cNvPr>
          <p:cNvSpPr/>
          <p:nvPr/>
        </p:nvSpPr>
        <p:spPr>
          <a:xfrm>
            <a:off x="7776164" y="4625709"/>
            <a:ext cx="180000" cy="180000"/>
          </a:xfrm>
          <a:prstGeom prst="mathMultiply">
            <a:avLst/>
          </a:prstGeom>
          <a:solidFill>
            <a:srgbClr val="FF4E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29388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3143FA7A-996C-4887-8F20-4C0D239462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3965" y="952500"/>
            <a:ext cx="5005810" cy="47498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37A49520-DD6F-467B-B8F7-31A38A3FBE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9775" y="952500"/>
            <a:ext cx="4854191" cy="474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3392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F9B22EE1-E07C-4ABF-A36E-71D7BA320D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8769853"/>
              </p:ext>
            </p:extLst>
          </p:nvPr>
        </p:nvGraphicFramePr>
        <p:xfrm>
          <a:off x="878186" y="883927"/>
          <a:ext cx="9263364" cy="509014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315841">
                  <a:extLst>
                    <a:ext uri="{9D8B030D-6E8A-4147-A177-3AD203B41FA5}">
                      <a16:colId xmlns:a16="http://schemas.microsoft.com/office/drawing/2014/main" val="3560591138"/>
                    </a:ext>
                  </a:extLst>
                </a:gridCol>
                <a:gridCol w="2315841">
                  <a:extLst>
                    <a:ext uri="{9D8B030D-6E8A-4147-A177-3AD203B41FA5}">
                      <a16:colId xmlns:a16="http://schemas.microsoft.com/office/drawing/2014/main" val="1647817831"/>
                    </a:ext>
                  </a:extLst>
                </a:gridCol>
                <a:gridCol w="2315841">
                  <a:extLst>
                    <a:ext uri="{9D8B030D-6E8A-4147-A177-3AD203B41FA5}">
                      <a16:colId xmlns:a16="http://schemas.microsoft.com/office/drawing/2014/main" val="2201619057"/>
                    </a:ext>
                  </a:extLst>
                </a:gridCol>
                <a:gridCol w="2315841">
                  <a:extLst>
                    <a:ext uri="{9D8B030D-6E8A-4147-A177-3AD203B41FA5}">
                      <a16:colId xmlns:a16="http://schemas.microsoft.com/office/drawing/2014/main" val="2394308222"/>
                    </a:ext>
                  </a:extLst>
                </a:gridCol>
              </a:tblGrid>
              <a:tr h="401315">
                <a:tc>
                  <a:txBody>
                    <a:bodyPr/>
                    <a:lstStyle/>
                    <a:p>
                      <a:pPr algn="ctr"/>
                      <a:r>
                        <a:rPr lang="zh-CN" altLang="en-US">
                          <a:effectLst/>
                        </a:rPr>
                        <a:t>动作索引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effectLst/>
                        </a:rPr>
                        <a:t>long</a:t>
                      </a:r>
                      <a:r>
                        <a:rPr lang="zh-CN" altLang="en-US" dirty="0">
                          <a:effectLst/>
                        </a:rPr>
                        <a:t>纵向</a:t>
                      </a:r>
                      <a:r>
                        <a:rPr lang="en-US" dirty="0">
                          <a:effectLst/>
                        </a:rPr>
                        <a:t>jerk (m/s³)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>
                          <a:effectLst/>
                        </a:rPr>
                        <a:t>lat</a:t>
                      </a:r>
                      <a:r>
                        <a:rPr lang="zh-CN" altLang="en-US" dirty="0">
                          <a:effectLst/>
                        </a:rPr>
                        <a:t>横向</a:t>
                      </a:r>
                      <a:r>
                        <a:rPr lang="en-US" dirty="0">
                          <a:effectLst/>
                        </a:rPr>
                        <a:t>jerk (m/s³)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>
                          <a:solidFill>
                            <a:schemeClr val="tx1"/>
                          </a:solidFill>
                          <a:effectLst/>
                        </a:rPr>
                        <a:t>描述</a:t>
                      </a:r>
                    </a:p>
                  </a:txBody>
                  <a:tcPr marL="24425" marR="24425" marT="11273" marB="11273" anchor="ctr"/>
                </a:tc>
                <a:extLst>
                  <a:ext uri="{0D108BD9-81ED-4DB2-BD59-A6C34878D82A}">
                    <a16:rowId xmlns:a16="http://schemas.microsoft.com/office/drawing/2014/main" val="491082704"/>
                  </a:ext>
                </a:extLst>
              </a:tr>
              <a:tr h="401315"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effectLst/>
                        </a:rPr>
                        <a:t>0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effectLst/>
                        </a:rPr>
                        <a:t>-15.0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effectLst/>
                        </a:rPr>
                        <a:t>-4.0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>
                          <a:solidFill>
                            <a:schemeClr val="tx1"/>
                          </a:solidFill>
                          <a:effectLst/>
                        </a:rPr>
                        <a:t>急减速 </a:t>
                      </a:r>
                      <a:r>
                        <a:rPr lang="en-US" altLang="zh-CN" sz="1800">
                          <a:solidFill>
                            <a:schemeClr val="tx1"/>
                          </a:solidFill>
                          <a:effectLst/>
                        </a:rPr>
                        <a:t>+ </a:t>
                      </a:r>
                      <a:r>
                        <a:rPr lang="zh-CN" altLang="en-US" sz="1800">
                          <a:solidFill>
                            <a:schemeClr val="tx1"/>
                          </a:solidFill>
                          <a:effectLst/>
                        </a:rPr>
                        <a:t>急左转</a:t>
                      </a:r>
                    </a:p>
                  </a:txBody>
                  <a:tcPr marL="24425" marR="24425" marT="11273" marB="11273" anchor="ctr"/>
                </a:tc>
                <a:extLst>
                  <a:ext uri="{0D108BD9-81ED-4DB2-BD59-A6C34878D82A}">
                    <a16:rowId xmlns:a16="http://schemas.microsoft.com/office/drawing/2014/main" val="2973144602"/>
                  </a:ext>
                </a:extLst>
              </a:tr>
              <a:tr h="347205"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effectLst/>
                        </a:rPr>
                        <a:t>1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effectLst/>
                        </a:rPr>
                        <a:t>-15.0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effectLst/>
                        </a:rPr>
                        <a:t>0.0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>
                          <a:solidFill>
                            <a:schemeClr val="tx1"/>
                          </a:solidFill>
                          <a:effectLst/>
                        </a:rPr>
                        <a:t>急减速 </a:t>
                      </a:r>
                      <a:r>
                        <a:rPr lang="en-US" altLang="zh-CN" sz="1800">
                          <a:solidFill>
                            <a:schemeClr val="tx1"/>
                          </a:solidFill>
                          <a:effectLst/>
                        </a:rPr>
                        <a:t>+ </a:t>
                      </a:r>
                      <a:r>
                        <a:rPr lang="zh-CN" altLang="en-US" sz="1800">
                          <a:solidFill>
                            <a:schemeClr val="tx1"/>
                          </a:solidFill>
                          <a:effectLst/>
                        </a:rPr>
                        <a:t>直行</a:t>
                      </a:r>
                    </a:p>
                  </a:txBody>
                  <a:tcPr marL="24425" marR="24425" marT="11273" marB="11273" anchor="ctr"/>
                </a:tc>
                <a:extLst>
                  <a:ext uri="{0D108BD9-81ED-4DB2-BD59-A6C34878D82A}">
                    <a16:rowId xmlns:a16="http://schemas.microsoft.com/office/drawing/2014/main" val="2262729317"/>
                  </a:ext>
                </a:extLst>
              </a:tr>
              <a:tr h="401315"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effectLst/>
                        </a:rPr>
                        <a:t>2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effectLst/>
                        </a:rPr>
                        <a:t>-15.0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effectLst/>
                        </a:rPr>
                        <a:t>4.0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>
                          <a:solidFill>
                            <a:schemeClr val="tx1"/>
                          </a:solidFill>
                          <a:effectLst/>
                        </a:rPr>
                        <a:t>急减速 </a:t>
                      </a:r>
                      <a:r>
                        <a:rPr lang="en-US" altLang="zh-CN" sz="1800">
                          <a:solidFill>
                            <a:schemeClr val="tx1"/>
                          </a:solidFill>
                          <a:effectLst/>
                        </a:rPr>
                        <a:t>+ </a:t>
                      </a:r>
                      <a:r>
                        <a:rPr lang="zh-CN" altLang="en-US" sz="1800">
                          <a:solidFill>
                            <a:schemeClr val="tx1"/>
                          </a:solidFill>
                          <a:effectLst/>
                        </a:rPr>
                        <a:t>急右转</a:t>
                      </a:r>
                      <a:endParaRPr lang="zh-CN" altLang="en-US" sz="18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24425" marR="24425" marT="11273" marB="11273" anchor="ctr"/>
                </a:tc>
                <a:extLst>
                  <a:ext uri="{0D108BD9-81ED-4DB2-BD59-A6C34878D82A}">
                    <a16:rowId xmlns:a16="http://schemas.microsoft.com/office/drawing/2014/main" val="1283716055"/>
                  </a:ext>
                </a:extLst>
              </a:tr>
              <a:tr h="293095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effectLst/>
                        </a:rPr>
                        <a:t>3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effectLst/>
                        </a:rPr>
                        <a:t>-4.0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effectLst/>
                        </a:rPr>
                        <a:t>-4.0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solidFill>
                            <a:schemeClr val="tx1"/>
                          </a:solidFill>
                          <a:effectLst/>
                        </a:rPr>
                        <a:t>减速 </a:t>
                      </a: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/>
                        </a:rPr>
                        <a:t>+ </a:t>
                      </a:r>
                      <a:r>
                        <a:rPr lang="zh-CN" altLang="en-US" sz="1800" dirty="0">
                          <a:solidFill>
                            <a:schemeClr val="tx1"/>
                          </a:solidFill>
                          <a:effectLst/>
                        </a:rPr>
                        <a:t>左转</a:t>
                      </a:r>
                    </a:p>
                  </a:txBody>
                  <a:tcPr marL="24425" marR="24425" marT="11273" marB="11273" anchor="ctr"/>
                </a:tc>
                <a:extLst>
                  <a:ext uri="{0D108BD9-81ED-4DB2-BD59-A6C34878D82A}">
                    <a16:rowId xmlns:a16="http://schemas.microsoft.com/office/drawing/2014/main" val="2560632327"/>
                  </a:ext>
                </a:extLst>
              </a:tr>
              <a:tr h="293095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effectLst/>
                        </a:rPr>
                        <a:t>4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effectLst/>
                        </a:rPr>
                        <a:t>-4.0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effectLst/>
                        </a:rPr>
                        <a:t>0.0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solidFill>
                            <a:schemeClr val="tx1"/>
                          </a:solidFill>
                          <a:effectLst/>
                        </a:rPr>
                        <a:t>减速 </a:t>
                      </a: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/>
                        </a:rPr>
                        <a:t>+ </a:t>
                      </a:r>
                      <a:r>
                        <a:rPr lang="zh-CN" altLang="en-US" sz="1800" dirty="0">
                          <a:solidFill>
                            <a:schemeClr val="tx1"/>
                          </a:solidFill>
                          <a:effectLst/>
                        </a:rPr>
                        <a:t>直行</a:t>
                      </a:r>
                    </a:p>
                  </a:txBody>
                  <a:tcPr marL="24425" marR="24425" marT="11273" marB="11273" anchor="ctr"/>
                </a:tc>
                <a:extLst>
                  <a:ext uri="{0D108BD9-81ED-4DB2-BD59-A6C34878D82A}">
                    <a16:rowId xmlns:a16="http://schemas.microsoft.com/office/drawing/2014/main" val="2916507367"/>
                  </a:ext>
                </a:extLst>
              </a:tr>
              <a:tr h="293095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effectLst/>
                        </a:rPr>
                        <a:t>5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effectLst/>
                        </a:rPr>
                        <a:t>-4.0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effectLst/>
                        </a:rPr>
                        <a:t>4.0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solidFill>
                            <a:schemeClr val="tx1"/>
                          </a:solidFill>
                          <a:effectLst/>
                        </a:rPr>
                        <a:t>减速 </a:t>
                      </a: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/>
                        </a:rPr>
                        <a:t>+ </a:t>
                      </a:r>
                      <a:r>
                        <a:rPr lang="zh-CN" altLang="en-US" sz="1800" dirty="0">
                          <a:solidFill>
                            <a:schemeClr val="tx1"/>
                          </a:solidFill>
                          <a:effectLst/>
                        </a:rPr>
                        <a:t>右转</a:t>
                      </a:r>
                    </a:p>
                  </a:txBody>
                  <a:tcPr marL="24425" marR="24425" marT="11273" marB="11273" anchor="ctr"/>
                </a:tc>
                <a:extLst>
                  <a:ext uri="{0D108BD9-81ED-4DB2-BD59-A6C34878D82A}">
                    <a16:rowId xmlns:a16="http://schemas.microsoft.com/office/drawing/2014/main" val="199296543"/>
                  </a:ext>
                </a:extLst>
              </a:tr>
              <a:tr h="293095"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effectLst/>
                        </a:rPr>
                        <a:t>6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effectLst/>
                        </a:rPr>
                        <a:t>0.0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effectLst/>
                        </a:rPr>
                        <a:t>-4.0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solidFill>
                            <a:schemeClr val="tx1"/>
                          </a:solidFill>
                          <a:effectLst/>
                        </a:rPr>
                        <a:t>匀速 </a:t>
                      </a: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/>
                        </a:rPr>
                        <a:t>+ </a:t>
                      </a:r>
                      <a:r>
                        <a:rPr lang="zh-CN" altLang="en-US" sz="1800" dirty="0">
                          <a:solidFill>
                            <a:schemeClr val="tx1"/>
                          </a:solidFill>
                          <a:effectLst/>
                        </a:rPr>
                        <a:t>左转</a:t>
                      </a:r>
                    </a:p>
                  </a:txBody>
                  <a:tcPr marL="24425" marR="24425" marT="11273" marB="11273" anchor="ctr"/>
                </a:tc>
                <a:extLst>
                  <a:ext uri="{0D108BD9-81ED-4DB2-BD59-A6C34878D82A}">
                    <a16:rowId xmlns:a16="http://schemas.microsoft.com/office/drawing/2014/main" val="880275755"/>
                  </a:ext>
                </a:extLst>
              </a:tr>
              <a:tr h="293095"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effectLst/>
                        </a:rPr>
                        <a:t>7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effectLst/>
                        </a:rPr>
                        <a:t>0.0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effectLst/>
                        </a:rPr>
                        <a:t>0.0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solidFill>
                            <a:schemeClr val="tx1"/>
                          </a:solidFill>
                          <a:effectLst/>
                        </a:rPr>
                        <a:t>匀速 </a:t>
                      </a: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/>
                        </a:rPr>
                        <a:t>+ </a:t>
                      </a:r>
                      <a:r>
                        <a:rPr lang="zh-CN" altLang="en-US" sz="1800" dirty="0">
                          <a:solidFill>
                            <a:schemeClr val="tx1"/>
                          </a:solidFill>
                          <a:effectLst/>
                        </a:rPr>
                        <a:t>直行</a:t>
                      </a:r>
                    </a:p>
                  </a:txBody>
                  <a:tcPr marL="24425" marR="24425" marT="11273" marB="11273" anchor="ctr"/>
                </a:tc>
                <a:extLst>
                  <a:ext uri="{0D108BD9-81ED-4DB2-BD59-A6C34878D82A}">
                    <a16:rowId xmlns:a16="http://schemas.microsoft.com/office/drawing/2014/main" val="2593683791"/>
                  </a:ext>
                </a:extLst>
              </a:tr>
              <a:tr h="293095"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effectLst/>
                        </a:rPr>
                        <a:t>8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effectLst/>
                        </a:rPr>
                        <a:t>0.0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effectLst/>
                        </a:rPr>
                        <a:t>4.0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solidFill>
                            <a:schemeClr val="tx1"/>
                          </a:solidFill>
                          <a:effectLst/>
                        </a:rPr>
                        <a:t>匀速 </a:t>
                      </a: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/>
                        </a:rPr>
                        <a:t>+ </a:t>
                      </a:r>
                      <a:r>
                        <a:rPr lang="zh-CN" altLang="en-US" sz="1800" dirty="0">
                          <a:solidFill>
                            <a:schemeClr val="tx1"/>
                          </a:solidFill>
                          <a:effectLst/>
                        </a:rPr>
                        <a:t>右转</a:t>
                      </a:r>
                    </a:p>
                  </a:txBody>
                  <a:tcPr marL="24425" marR="24425" marT="11273" marB="11273" anchor="ctr"/>
                </a:tc>
                <a:extLst>
                  <a:ext uri="{0D108BD9-81ED-4DB2-BD59-A6C34878D82A}">
                    <a16:rowId xmlns:a16="http://schemas.microsoft.com/office/drawing/2014/main" val="3706959775"/>
                  </a:ext>
                </a:extLst>
              </a:tr>
              <a:tr h="347205"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effectLst/>
                        </a:rPr>
                        <a:t>9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effectLst/>
                        </a:rPr>
                        <a:t>4.0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effectLst/>
                        </a:rPr>
                        <a:t>-4.0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solidFill>
                            <a:schemeClr val="tx1"/>
                          </a:solidFill>
                          <a:effectLst/>
                        </a:rPr>
                        <a:t>加速 </a:t>
                      </a: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/>
                        </a:rPr>
                        <a:t>+ </a:t>
                      </a:r>
                      <a:r>
                        <a:rPr lang="zh-CN" altLang="en-US" sz="1800" dirty="0">
                          <a:solidFill>
                            <a:schemeClr val="tx1"/>
                          </a:solidFill>
                          <a:effectLst/>
                        </a:rPr>
                        <a:t>左转</a:t>
                      </a:r>
                    </a:p>
                  </a:txBody>
                  <a:tcPr marL="24425" marR="24425" marT="11273" marB="11273" anchor="ctr"/>
                </a:tc>
                <a:extLst>
                  <a:ext uri="{0D108BD9-81ED-4DB2-BD59-A6C34878D82A}">
                    <a16:rowId xmlns:a16="http://schemas.microsoft.com/office/drawing/2014/main" val="1947055559"/>
                  </a:ext>
                </a:extLst>
              </a:tr>
              <a:tr h="347205"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effectLst/>
                        </a:rPr>
                        <a:t>10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effectLst/>
                        </a:rPr>
                        <a:t>4.0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effectLst/>
                        </a:rPr>
                        <a:t>0.0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solidFill>
                            <a:schemeClr val="tx1"/>
                          </a:solidFill>
                          <a:effectLst/>
                        </a:rPr>
                        <a:t>加速 </a:t>
                      </a: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/>
                        </a:rPr>
                        <a:t>+ </a:t>
                      </a:r>
                      <a:r>
                        <a:rPr lang="zh-CN" altLang="en-US" sz="1800" dirty="0">
                          <a:solidFill>
                            <a:schemeClr val="tx1"/>
                          </a:solidFill>
                          <a:effectLst/>
                        </a:rPr>
                        <a:t>直行</a:t>
                      </a:r>
                    </a:p>
                  </a:txBody>
                  <a:tcPr marL="24425" marR="24425" marT="11273" marB="11273" anchor="ctr"/>
                </a:tc>
                <a:extLst>
                  <a:ext uri="{0D108BD9-81ED-4DB2-BD59-A6C34878D82A}">
                    <a16:rowId xmlns:a16="http://schemas.microsoft.com/office/drawing/2014/main" val="4242757033"/>
                  </a:ext>
                </a:extLst>
              </a:tr>
              <a:tr h="347205"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effectLst/>
                        </a:rPr>
                        <a:t>11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effectLst/>
                        </a:rPr>
                        <a:t>4.0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effectLst/>
                        </a:rPr>
                        <a:t>4.0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solidFill>
                            <a:schemeClr val="tx1"/>
                          </a:solidFill>
                          <a:effectLst/>
                        </a:rPr>
                        <a:t>加速 </a:t>
                      </a: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/>
                        </a:rPr>
                        <a:t>+ </a:t>
                      </a:r>
                      <a:r>
                        <a:rPr lang="zh-CN" altLang="en-US" sz="1800" dirty="0">
                          <a:solidFill>
                            <a:schemeClr val="tx1"/>
                          </a:solidFill>
                          <a:effectLst/>
                        </a:rPr>
                        <a:t>右转</a:t>
                      </a:r>
                    </a:p>
                  </a:txBody>
                  <a:tcPr marL="24425" marR="24425" marT="11273" marB="11273" anchor="ctr"/>
                </a:tc>
                <a:extLst>
                  <a:ext uri="{0D108BD9-81ED-4DB2-BD59-A6C34878D82A}">
                    <a16:rowId xmlns:a16="http://schemas.microsoft.com/office/drawing/2014/main" val="1150656540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F906FCD2-A467-4130-8513-29C1270AAAA4}"/>
              </a:ext>
            </a:extLst>
          </p:cNvPr>
          <p:cNvSpPr txBox="1"/>
          <p:nvPr/>
        </p:nvSpPr>
        <p:spPr>
          <a:xfrm>
            <a:off x="11071180" y="0"/>
            <a:ext cx="1120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dynamics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02252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AAFF004-80F2-471C-AEA4-27156FF05A73}"/>
              </a:ext>
            </a:extLst>
          </p:cNvPr>
          <p:cNvSpPr txBox="1"/>
          <p:nvPr/>
        </p:nvSpPr>
        <p:spPr>
          <a:xfrm>
            <a:off x="11148124" y="0"/>
            <a:ext cx="1043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FC2EFB2-266D-4E35-9791-C4392412126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79"/>
          <a:stretch/>
        </p:blipFill>
        <p:spPr>
          <a:xfrm>
            <a:off x="603103" y="1659504"/>
            <a:ext cx="10985793" cy="3538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7943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64ED651-7152-443D-8145-8CA59916965F}"/>
              </a:ext>
            </a:extLst>
          </p:cNvPr>
          <p:cNvSpPr txBox="1"/>
          <p:nvPr/>
        </p:nvSpPr>
        <p:spPr>
          <a:xfrm>
            <a:off x="11563302" y="0"/>
            <a:ext cx="628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cs typeface="Times New Roman" panose="02020603050405020304" pitchFamily="18" charset="0"/>
              </a:rPr>
              <a:t>PPO</a:t>
            </a:r>
            <a:endParaRPr lang="zh-CN" altLang="en-US" b="1" dirty="0">
              <a:cs typeface="Times New Roman" panose="02020603050405020304" pitchFamily="18" charset="0"/>
            </a:endParaRPr>
          </a:p>
        </p:txBody>
      </p:sp>
      <p:pic>
        <p:nvPicPr>
          <p:cNvPr id="108" name="图片 107">
            <a:extLst>
              <a:ext uri="{FF2B5EF4-FFF2-40B4-BE49-F238E27FC236}">
                <a16:creationId xmlns:a16="http://schemas.microsoft.com/office/drawing/2014/main" id="{ACA4E09D-5A94-47AC-8AA1-F091D99671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2374" y="-2196583"/>
            <a:ext cx="4829175" cy="1619250"/>
          </a:xfrm>
          <a:prstGeom prst="rect">
            <a:avLst/>
          </a:prstGeom>
        </p:spPr>
      </p:pic>
      <p:grpSp>
        <p:nvGrpSpPr>
          <p:cNvPr id="145" name="组合 144">
            <a:extLst>
              <a:ext uri="{FF2B5EF4-FFF2-40B4-BE49-F238E27FC236}">
                <a16:creationId xmlns:a16="http://schemas.microsoft.com/office/drawing/2014/main" id="{5F2E2497-0B7E-4E8E-BEE6-31158F5C47E5}"/>
              </a:ext>
            </a:extLst>
          </p:cNvPr>
          <p:cNvGrpSpPr/>
          <p:nvPr/>
        </p:nvGrpSpPr>
        <p:grpSpPr>
          <a:xfrm>
            <a:off x="1152624" y="218507"/>
            <a:ext cx="7874418" cy="4239666"/>
            <a:chOff x="1090853" y="234232"/>
            <a:chExt cx="7874418" cy="4239666"/>
          </a:xfrm>
        </p:grpSpPr>
        <p:sp>
          <p:nvSpPr>
            <p:cNvPr id="111" name="文本框 110">
              <a:extLst>
                <a:ext uri="{FF2B5EF4-FFF2-40B4-BE49-F238E27FC236}">
                  <a16:creationId xmlns:a16="http://schemas.microsoft.com/office/drawing/2014/main" id="{B36AAF50-6F14-4F40-9102-84DEF48597EA}"/>
                </a:ext>
              </a:extLst>
            </p:cNvPr>
            <p:cNvSpPr txBox="1"/>
            <p:nvPr/>
          </p:nvSpPr>
          <p:spPr>
            <a:xfrm>
              <a:off x="6947060" y="1605482"/>
              <a:ext cx="2018211" cy="14773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b="0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采样</a:t>
              </a:r>
              <a:r>
                <a:rPr lang="en-US" altLang="zh-CN" b="0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minibatch</a:t>
              </a:r>
            </a:p>
            <a:p>
              <a:r>
                <a:rPr lang="en-US" altLang="zh-CN" b="0" dirty="0" err="1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states_batch</a:t>
              </a:r>
              <a:endParaRPr lang="en-US" altLang="zh-CN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altLang="zh-CN" b="0" dirty="0" err="1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actions_batch</a:t>
              </a:r>
              <a:endParaRPr lang="en-US" altLang="zh-CN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altLang="zh-CN" b="0" dirty="0" err="1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advantages_batch</a:t>
              </a:r>
              <a:endParaRPr lang="en-US" altLang="zh-CN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fr-FR" altLang="zh-CN" b="0" i="1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Q(s</a:t>
              </a:r>
              <a:r>
                <a:rPr lang="fr-FR" altLang="zh-CN" b="0" i="1" baseline="-25000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t </a:t>
              </a:r>
              <a:r>
                <a:rPr lang="fr-FR" altLang="zh-CN" b="0" i="1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, a</a:t>
              </a:r>
              <a:r>
                <a:rPr lang="fr-FR" altLang="zh-CN" b="0" i="1" baseline="-25000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t </a:t>
              </a:r>
              <a:r>
                <a:rPr lang="fr-FR" altLang="zh-CN" b="0" i="1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b="0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_batch</a:t>
              </a:r>
            </a:p>
          </p:txBody>
        </p:sp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1AA10D1D-790B-4F96-9D33-4B3F132DE5EF}"/>
                </a:ext>
              </a:extLst>
            </p:cNvPr>
            <p:cNvSpPr/>
            <p:nvPr/>
          </p:nvSpPr>
          <p:spPr>
            <a:xfrm>
              <a:off x="2609679" y="1156278"/>
              <a:ext cx="781050" cy="37147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FF4EF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Actor</a:t>
              </a:r>
              <a:endParaRPr lang="zh-CN" altLang="en-US" b="1" dirty="0">
                <a:solidFill>
                  <a:srgbClr val="FF4EF9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C356EB91-076F-41D8-B04A-9F8FF717BEB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64877632"/>
                </p:ext>
              </p:extLst>
            </p:nvPr>
          </p:nvGraphicFramePr>
          <p:xfrm>
            <a:off x="2820204" y="744849"/>
            <a:ext cx="360000" cy="4114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49" name="Equation" r:id="rId5" imgW="177480" imgH="203040" progId="Equation.DSMT4">
                    <p:embed/>
                  </p:oleObj>
                </mc:Choice>
                <mc:Fallback>
                  <p:oleObj name="Equation" r:id="rId5" imgW="177480" imgH="203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820204" y="744849"/>
                          <a:ext cx="360000" cy="411429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242CF66C-0BCA-4609-9FC4-300459E7D322}"/>
                </a:ext>
              </a:extLst>
            </p:cNvPr>
            <p:cNvSpPr/>
            <p:nvPr/>
          </p:nvSpPr>
          <p:spPr>
            <a:xfrm>
              <a:off x="1312142" y="1156278"/>
              <a:ext cx="628650" cy="37147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Env</a:t>
              </a:r>
              <a:endPara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0" name="直接箭头连接符 9">
              <a:extLst>
                <a:ext uri="{FF2B5EF4-FFF2-40B4-BE49-F238E27FC236}">
                  <a16:creationId xmlns:a16="http://schemas.microsoft.com/office/drawing/2014/main" id="{870BF43A-BC62-4C32-B0A4-3095F6B7E225}"/>
                </a:ext>
              </a:extLst>
            </p:cNvPr>
            <p:cNvCxnSpPr>
              <a:stCxn id="8" idx="3"/>
              <a:endCxn id="2" idx="1"/>
            </p:cNvCxnSpPr>
            <p:nvPr/>
          </p:nvCxnSpPr>
          <p:spPr>
            <a:xfrm>
              <a:off x="1940792" y="1342016"/>
              <a:ext cx="66888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C9A569A-38CC-4F6F-B6F4-EC3402D7E70B}"/>
                </a:ext>
              </a:extLst>
            </p:cNvPr>
            <p:cNvSpPr txBox="1"/>
            <p:nvPr/>
          </p:nvSpPr>
          <p:spPr>
            <a:xfrm>
              <a:off x="1930429" y="971612"/>
              <a:ext cx="6896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State</a:t>
              </a:r>
              <a:r>
                <a:rPr lang="en-US" altLang="zh-CN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zh-CN" alt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1" name="直接箭头连接符 20">
              <a:extLst>
                <a:ext uri="{FF2B5EF4-FFF2-40B4-BE49-F238E27FC236}">
                  <a16:creationId xmlns:a16="http://schemas.microsoft.com/office/drawing/2014/main" id="{F90B1F5F-C110-4E8B-BF9E-A70B8943B3AD}"/>
                </a:ext>
              </a:extLst>
            </p:cNvPr>
            <p:cNvCxnSpPr>
              <a:cxnSpLocks/>
              <a:stCxn id="2" idx="3"/>
              <a:endCxn id="23" idx="1"/>
            </p:cNvCxnSpPr>
            <p:nvPr/>
          </p:nvCxnSpPr>
          <p:spPr>
            <a:xfrm flipV="1">
              <a:off x="3390729" y="1340275"/>
              <a:ext cx="1020101" cy="174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71767E5C-92EE-4670-BD63-856E4D2539A5}"/>
                </a:ext>
              </a:extLst>
            </p:cNvPr>
            <p:cNvSpPr/>
            <p:nvPr/>
          </p:nvSpPr>
          <p:spPr>
            <a:xfrm>
              <a:off x="4410830" y="1154537"/>
              <a:ext cx="781050" cy="37147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Env</a:t>
              </a:r>
              <a:endPara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76A6A098-0B75-43FA-B99A-C3866121BC46}"/>
                </a:ext>
              </a:extLst>
            </p:cNvPr>
            <p:cNvSpPr txBox="1"/>
            <p:nvPr/>
          </p:nvSpPr>
          <p:spPr>
            <a:xfrm>
              <a:off x="5786329" y="1160978"/>
              <a:ext cx="85322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State</a:t>
              </a:r>
              <a:r>
                <a:rPr lang="en-US" altLang="zh-CN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t+1</a:t>
              </a:r>
              <a:endParaRPr lang="en-US" altLang="zh-C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F64BD46A-1E2F-48AB-B30F-52ECDBD6A749}"/>
                </a:ext>
              </a:extLst>
            </p:cNvPr>
            <p:cNvGrpSpPr/>
            <p:nvPr/>
          </p:nvGrpSpPr>
          <p:grpSpPr>
            <a:xfrm>
              <a:off x="1920067" y="1752373"/>
              <a:ext cx="1470662" cy="571830"/>
              <a:chOff x="1408025" y="2498168"/>
              <a:chExt cx="1470662" cy="571830"/>
            </a:xfrm>
          </p:grpSpPr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1A7703F0-85C2-4994-9843-A4917B0B3A42}"/>
                  </a:ext>
                </a:extLst>
              </p:cNvPr>
              <p:cNvSpPr/>
              <p:nvPr/>
            </p:nvSpPr>
            <p:spPr>
              <a:xfrm>
                <a:off x="2097637" y="2698523"/>
                <a:ext cx="781050" cy="371475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rgbClr val="FF4EF9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Critic</a:t>
                </a:r>
                <a:endParaRPr lang="zh-CN" altLang="en-US" b="1" dirty="0">
                  <a:solidFill>
                    <a:srgbClr val="FF4EF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34" name="直接箭头连接符 33">
                <a:extLst>
                  <a:ext uri="{FF2B5EF4-FFF2-40B4-BE49-F238E27FC236}">
                    <a16:creationId xmlns:a16="http://schemas.microsoft.com/office/drawing/2014/main" id="{1C8A9AFA-7D9E-49F8-8565-EE662F38E6AB}"/>
                  </a:ext>
                </a:extLst>
              </p:cNvPr>
              <p:cNvCxnSpPr/>
              <p:nvPr/>
            </p:nvCxnSpPr>
            <p:spPr>
              <a:xfrm>
                <a:off x="1418388" y="2868572"/>
                <a:ext cx="668887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EFF2F1BF-D711-4F2C-B395-C956C4890C8E}"/>
                  </a:ext>
                </a:extLst>
              </p:cNvPr>
              <p:cNvSpPr txBox="1"/>
              <p:nvPr/>
            </p:nvSpPr>
            <p:spPr>
              <a:xfrm>
                <a:off x="1408025" y="2498168"/>
                <a:ext cx="68961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State</a:t>
                </a:r>
                <a:r>
                  <a:rPr lang="en-US" altLang="zh-CN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endParaRPr lang="zh-CN" altLang="en-US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39" name="直接箭头连接符 38">
              <a:extLst>
                <a:ext uri="{FF2B5EF4-FFF2-40B4-BE49-F238E27FC236}">
                  <a16:creationId xmlns:a16="http://schemas.microsoft.com/office/drawing/2014/main" id="{E77ADF85-F030-4FC8-BB66-B8E0885E88D9}"/>
                </a:ext>
              </a:extLst>
            </p:cNvPr>
            <p:cNvCxnSpPr>
              <a:cxnSpLocks/>
              <a:stCxn id="5" idx="2"/>
            </p:cNvCxnSpPr>
            <p:nvPr/>
          </p:nvCxnSpPr>
          <p:spPr>
            <a:xfrm>
              <a:off x="3000204" y="2324203"/>
              <a:ext cx="0" cy="41417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83C0A703-5837-45F2-89AA-3547BA100002}"/>
                </a:ext>
              </a:extLst>
            </p:cNvPr>
            <p:cNvSpPr txBox="1"/>
            <p:nvPr/>
          </p:nvSpPr>
          <p:spPr>
            <a:xfrm>
              <a:off x="2503914" y="1527170"/>
              <a:ext cx="992579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1024x1024x1024</a:t>
              </a:r>
              <a:endParaRPr lang="zh-CN" altLang="en-US" sz="9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6CAFF6E2-A0DA-4CB8-9C10-FBEAF8EDC8A8}"/>
                </a:ext>
              </a:extLst>
            </p:cNvPr>
            <p:cNvSpPr txBox="1"/>
            <p:nvPr/>
          </p:nvSpPr>
          <p:spPr>
            <a:xfrm>
              <a:off x="2503913" y="1760833"/>
              <a:ext cx="992579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1024x1024x1024</a:t>
              </a:r>
              <a:endParaRPr lang="zh-CN" altLang="en-US" sz="9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F1D513D2-8AB3-4363-910F-547EB2646BCC}"/>
                </a:ext>
              </a:extLst>
            </p:cNvPr>
            <p:cNvSpPr txBox="1"/>
            <p:nvPr/>
          </p:nvSpPr>
          <p:spPr>
            <a:xfrm>
              <a:off x="3629780" y="976312"/>
              <a:ext cx="5180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Act</a:t>
              </a:r>
              <a:endParaRPr lang="zh-CN" alt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2C7891A6-D6E8-4115-974D-BEB40D67F49B}"/>
                </a:ext>
              </a:extLst>
            </p:cNvPr>
            <p:cNvSpPr txBox="1"/>
            <p:nvPr/>
          </p:nvSpPr>
          <p:spPr>
            <a:xfrm>
              <a:off x="2620041" y="2738382"/>
              <a:ext cx="7746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Value</a:t>
              </a:r>
              <a:r>
                <a:rPr lang="en-US" altLang="zh-CN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zh-CN" alt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5" name="直接箭头连接符 44">
              <a:extLst>
                <a:ext uri="{FF2B5EF4-FFF2-40B4-BE49-F238E27FC236}">
                  <a16:creationId xmlns:a16="http://schemas.microsoft.com/office/drawing/2014/main" id="{E5602CD6-5E10-4B14-A78B-E91D1F936F07}"/>
                </a:ext>
              </a:extLst>
            </p:cNvPr>
            <p:cNvCxnSpPr>
              <a:cxnSpLocks/>
              <a:stCxn id="23" idx="3"/>
              <a:endCxn id="29" idx="1"/>
            </p:cNvCxnSpPr>
            <p:nvPr/>
          </p:nvCxnSpPr>
          <p:spPr>
            <a:xfrm>
              <a:off x="5191880" y="1340275"/>
              <a:ext cx="594449" cy="536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直接箭头连接符 45">
              <a:extLst>
                <a:ext uri="{FF2B5EF4-FFF2-40B4-BE49-F238E27FC236}">
                  <a16:creationId xmlns:a16="http://schemas.microsoft.com/office/drawing/2014/main" id="{F795B6D5-2DF9-4EE0-A4F3-3F9B133FFEBE}"/>
                </a:ext>
              </a:extLst>
            </p:cNvPr>
            <p:cNvCxnSpPr>
              <a:cxnSpLocks/>
              <a:stCxn id="23" idx="0"/>
              <a:endCxn id="50" idx="2"/>
            </p:cNvCxnSpPr>
            <p:nvPr/>
          </p:nvCxnSpPr>
          <p:spPr>
            <a:xfrm flipV="1">
              <a:off x="4801355" y="646476"/>
              <a:ext cx="0" cy="50806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4C31FB16-4418-40AA-B447-964D008B8E77}"/>
                </a:ext>
              </a:extLst>
            </p:cNvPr>
            <p:cNvSpPr txBox="1"/>
            <p:nvPr/>
          </p:nvSpPr>
          <p:spPr>
            <a:xfrm>
              <a:off x="4238357" y="277144"/>
              <a:ext cx="112599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b="0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Reward</a:t>
              </a:r>
              <a:r>
                <a:rPr lang="en-US" altLang="zh-CN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t+1</a:t>
              </a:r>
              <a:endParaRPr lang="zh-CN" altLang="en-US" dirty="0"/>
            </a:p>
          </p:txBody>
        </p:sp>
        <p:cxnSp>
          <p:nvCxnSpPr>
            <p:cNvPr id="51" name="直接箭头连接符 50">
              <a:extLst>
                <a:ext uri="{FF2B5EF4-FFF2-40B4-BE49-F238E27FC236}">
                  <a16:creationId xmlns:a16="http://schemas.microsoft.com/office/drawing/2014/main" id="{9ECB78E8-A695-43CA-B40C-467723C71E3F}"/>
                </a:ext>
              </a:extLst>
            </p:cNvPr>
            <p:cNvCxnSpPr>
              <a:cxnSpLocks/>
              <a:stCxn id="8" idx="0"/>
              <a:endCxn id="53" idx="2"/>
            </p:cNvCxnSpPr>
            <p:nvPr/>
          </p:nvCxnSpPr>
          <p:spPr>
            <a:xfrm flipV="1">
              <a:off x="1626467" y="607400"/>
              <a:ext cx="0" cy="54887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1C2DC38D-2ACA-4A2D-9F3A-0EF2822BD695}"/>
                </a:ext>
              </a:extLst>
            </p:cNvPr>
            <p:cNvSpPr txBox="1"/>
            <p:nvPr/>
          </p:nvSpPr>
          <p:spPr>
            <a:xfrm>
              <a:off x="1114316" y="238068"/>
              <a:ext cx="102430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b="0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Reward</a:t>
              </a:r>
              <a:r>
                <a:rPr lang="en-US" altLang="zh-CN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zh-CN" altLang="en-US" dirty="0"/>
            </a:p>
          </p:txBody>
        </p:sp>
        <p:sp>
          <p:nvSpPr>
            <p:cNvPr id="69" name="矩形 68">
              <a:extLst>
                <a:ext uri="{FF2B5EF4-FFF2-40B4-BE49-F238E27FC236}">
                  <a16:creationId xmlns:a16="http://schemas.microsoft.com/office/drawing/2014/main" id="{26927782-373A-4203-A553-E811CC515258}"/>
                </a:ext>
              </a:extLst>
            </p:cNvPr>
            <p:cNvSpPr/>
            <p:nvPr/>
          </p:nvSpPr>
          <p:spPr>
            <a:xfrm>
              <a:off x="1114316" y="234232"/>
              <a:ext cx="5553016" cy="2873481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5" name="文本框 74">
              <a:extLst>
                <a:ext uri="{FF2B5EF4-FFF2-40B4-BE49-F238E27FC236}">
                  <a16:creationId xmlns:a16="http://schemas.microsoft.com/office/drawing/2014/main" id="{8828C434-6594-4450-8B3F-841C8114D3F1}"/>
                </a:ext>
              </a:extLst>
            </p:cNvPr>
            <p:cNvSpPr txBox="1"/>
            <p:nvPr/>
          </p:nvSpPr>
          <p:spPr>
            <a:xfrm>
              <a:off x="3380368" y="2457055"/>
              <a:ext cx="336098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Outputs</a:t>
              </a:r>
            </a:p>
            <a:p>
              <a:pPr algn="r"/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[States, Actions, Rewards, Values]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97" name="组合 96">
              <a:extLst>
                <a:ext uri="{FF2B5EF4-FFF2-40B4-BE49-F238E27FC236}">
                  <a16:creationId xmlns:a16="http://schemas.microsoft.com/office/drawing/2014/main" id="{4DC15807-9070-459D-8922-61CFDBFB2220}"/>
                </a:ext>
              </a:extLst>
            </p:cNvPr>
            <p:cNvGrpSpPr/>
            <p:nvPr/>
          </p:nvGrpSpPr>
          <p:grpSpPr>
            <a:xfrm>
              <a:off x="1090853" y="3466611"/>
              <a:ext cx="3360000" cy="986910"/>
              <a:chOff x="2946517" y="3162090"/>
              <a:chExt cx="3360000" cy="986910"/>
            </a:xfrm>
          </p:grpSpPr>
          <p:sp>
            <p:nvSpPr>
              <p:cNvPr id="88" name="文本框 87">
                <a:extLst>
                  <a:ext uri="{FF2B5EF4-FFF2-40B4-BE49-F238E27FC236}">
                    <a16:creationId xmlns:a16="http://schemas.microsoft.com/office/drawing/2014/main" id="{F673ABE3-1839-4272-9A6B-6FC53596F892}"/>
                  </a:ext>
                </a:extLst>
              </p:cNvPr>
              <p:cNvSpPr txBox="1"/>
              <p:nvPr/>
            </p:nvSpPr>
            <p:spPr>
              <a:xfrm>
                <a:off x="2946517" y="3162090"/>
                <a:ext cx="160813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b="1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GAE</a:t>
                </a:r>
                <a:r>
                  <a:rPr lang="zh-CN" altLang="en-US" b="1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优势估计</a:t>
                </a:r>
                <a:endParaRPr lang="en-US" altLang="zh-CN" b="0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aphicFrame>
            <p:nvGraphicFramePr>
              <p:cNvPr id="95" name="对象 94">
                <a:extLst>
                  <a:ext uri="{FF2B5EF4-FFF2-40B4-BE49-F238E27FC236}">
                    <a16:creationId xmlns:a16="http://schemas.microsoft.com/office/drawing/2014/main" id="{7B2A951D-2F4E-4088-86E2-785B6EB2940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870254795"/>
                  </p:ext>
                </p:extLst>
              </p:nvPr>
            </p:nvGraphicFramePr>
            <p:xfrm>
              <a:off x="2946517" y="3429000"/>
              <a:ext cx="3360000" cy="720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450" name="Equation" r:id="rId7" imgW="1955520" imgH="419040" progId="Equation.DSMT4">
                      <p:embed/>
                    </p:oleObj>
                  </mc:Choice>
                  <mc:Fallback>
                    <p:oleObj name="Equation" r:id="rId7" imgW="1955520" imgH="41904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2946517" y="3429000"/>
                            <a:ext cx="3360000" cy="7200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cxnSp>
          <p:nvCxnSpPr>
            <p:cNvPr id="99" name="直接箭头连接符 98">
              <a:extLst>
                <a:ext uri="{FF2B5EF4-FFF2-40B4-BE49-F238E27FC236}">
                  <a16:creationId xmlns:a16="http://schemas.microsoft.com/office/drawing/2014/main" id="{86E96F35-B8F3-42EE-ABB8-4E6277008FF6}"/>
                </a:ext>
              </a:extLst>
            </p:cNvPr>
            <p:cNvCxnSpPr>
              <a:cxnSpLocks/>
              <a:endCxn id="88" idx="0"/>
            </p:cNvCxnSpPr>
            <p:nvPr/>
          </p:nvCxnSpPr>
          <p:spPr>
            <a:xfrm>
              <a:off x="1894919" y="3103386"/>
              <a:ext cx="1" cy="36322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0" name="文本框 99">
              <a:extLst>
                <a:ext uri="{FF2B5EF4-FFF2-40B4-BE49-F238E27FC236}">
                  <a16:creationId xmlns:a16="http://schemas.microsoft.com/office/drawing/2014/main" id="{B97B868A-E74B-4920-9FEE-6FE3F75E3877}"/>
                </a:ext>
              </a:extLst>
            </p:cNvPr>
            <p:cNvSpPr txBox="1"/>
            <p:nvPr/>
          </p:nvSpPr>
          <p:spPr>
            <a:xfrm>
              <a:off x="1894919" y="3089694"/>
              <a:ext cx="18733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[Rewards, Values]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6" name="文本框 105">
              <a:extLst>
                <a:ext uri="{FF2B5EF4-FFF2-40B4-BE49-F238E27FC236}">
                  <a16:creationId xmlns:a16="http://schemas.microsoft.com/office/drawing/2014/main" id="{DFAFB61D-D876-46B8-896B-6056D06DC21E}"/>
                </a:ext>
              </a:extLst>
            </p:cNvPr>
            <p:cNvSpPr txBox="1"/>
            <p:nvPr/>
          </p:nvSpPr>
          <p:spPr>
            <a:xfrm>
              <a:off x="5677959" y="4084189"/>
              <a:ext cx="9893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altLang="zh-CN" b="0" i="1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Q(s</a:t>
              </a:r>
              <a:r>
                <a:rPr lang="fr-FR" altLang="zh-CN" b="0" i="1" baseline="-25000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t </a:t>
              </a:r>
              <a:r>
                <a:rPr lang="fr-FR" altLang="zh-CN" b="0" i="1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, a</a:t>
              </a:r>
              <a:r>
                <a:rPr lang="fr-FR" altLang="zh-CN" b="0" i="1" baseline="-25000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t </a:t>
              </a:r>
              <a:r>
                <a:rPr lang="fr-FR" altLang="zh-CN" b="0" i="1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fr-FR" altLang="zh-CN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4" name="文本框 113">
              <a:extLst>
                <a:ext uri="{FF2B5EF4-FFF2-40B4-BE49-F238E27FC236}">
                  <a16:creationId xmlns:a16="http://schemas.microsoft.com/office/drawing/2014/main" id="{1BE95828-3619-4500-AB21-CAABBFA81261}"/>
                </a:ext>
              </a:extLst>
            </p:cNvPr>
            <p:cNvSpPr txBox="1"/>
            <p:nvPr/>
          </p:nvSpPr>
          <p:spPr>
            <a:xfrm>
              <a:off x="6621919" y="340886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fr-FR" altLang="zh-CN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5" name="矩形 124">
              <a:extLst>
                <a:ext uri="{FF2B5EF4-FFF2-40B4-BE49-F238E27FC236}">
                  <a16:creationId xmlns:a16="http://schemas.microsoft.com/office/drawing/2014/main" id="{38094D30-A072-4DAE-9C2A-2F85F8E7511E}"/>
                </a:ext>
              </a:extLst>
            </p:cNvPr>
            <p:cNvSpPr/>
            <p:nvPr/>
          </p:nvSpPr>
          <p:spPr>
            <a:xfrm>
              <a:off x="1114317" y="3505177"/>
              <a:ext cx="5553016" cy="968721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40" name="直接箭头连接符 139">
              <a:extLst>
                <a:ext uri="{FF2B5EF4-FFF2-40B4-BE49-F238E27FC236}">
                  <a16:creationId xmlns:a16="http://schemas.microsoft.com/office/drawing/2014/main" id="{BCB64760-2B1B-4508-9644-8F7D20D04B38}"/>
                </a:ext>
              </a:extLst>
            </p:cNvPr>
            <p:cNvCxnSpPr>
              <a:stCxn id="42" idx="2"/>
            </p:cNvCxnSpPr>
            <p:nvPr/>
          </p:nvCxnSpPr>
          <p:spPr>
            <a:xfrm flipH="1">
              <a:off x="3888825" y="1345644"/>
              <a:ext cx="1" cy="29694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42" name="文本框 141">
              <a:extLst>
                <a:ext uri="{FF2B5EF4-FFF2-40B4-BE49-F238E27FC236}">
                  <a16:creationId xmlns:a16="http://schemas.microsoft.com/office/drawing/2014/main" id="{67836E05-0D30-43C2-93CA-8F74854030D6}"/>
                </a:ext>
              </a:extLst>
            </p:cNvPr>
            <p:cNvSpPr txBox="1"/>
            <p:nvPr/>
          </p:nvSpPr>
          <p:spPr>
            <a:xfrm>
              <a:off x="3377402" y="1623343"/>
              <a:ext cx="10201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b="0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log_prob</a:t>
              </a:r>
              <a:endParaRPr lang="zh-CN" altLang="en-US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文本框 146">
                <a:extLst>
                  <a:ext uri="{FF2B5EF4-FFF2-40B4-BE49-F238E27FC236}">
                    <a16:creationId xmlns:a16="http://schemas.microsoft.com/office/drawing/2014/main" id="{146D0289-90B4-498A-8012-E032DCC46B54}"/>
                  </a:ext>
                </a:extLst>
              </p:cNvPr>
              <p:cNvSpPr txBox="1"/>
              <p:nvPr/>
            </p:nvSpPr>
            <p:spPr>
              <a:xfrm>
                <a:off x="7008831" y="3604480"/>
                <a:ext cx="396131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b="0" dirty="0" err="1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actions_batch</a:t>
                </a:r>
                <a:r>
                  <a:rPr lang="zh-CN" altLang="en-US" b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→</a:t>
                </a:r>
                <a:r>
                  <a:rPr lang="en-US" altLang="zh-CN" b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new_log_probs</a:t>
                </a:r>
                <a:r>
                  <a:rPr lang="zh-CN" altLang="en-US" b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→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7" name="文本框 146">
                <a:extLst>
                  <a:ext uri="{FF2B5EF4-FFF2-40B4-BE49-F238E27FC236}">
                    <a16:creationId xmlns:a16="http://schemas.microsoft.com/office/drawing/2014/main" id="{146D0289-90B4-498A-8012-E032DCC46B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8831" y="3604480"/>
                <a:ext cx="3961319" cy="369332"/>
              </a:xfrm>
              <a:prstGeom prst="rect">
                <a:avLst/>
              </a:prstGeom>
              <a:blipFill>
                <a:blip r:embed="rId9"/>
                <a:stretch>
                  <a:fillRect l="-1385" t="-8197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4" name="组合 153">
            <a:extLst>
              <a:ext uri="{FF2B5EF4-FFF2-40B4-BE49-F238E27FC236}">
                <a16:creationId xmlns:a16="http://schemas.microsoft.com/office/drawing/2014/main" id="{CF93A2DD-C7F2-463E-BA90-DEE5441F8E01}"/>
              </a:ext>
            </a:extLst>
          </p:cNvPr>
          <p:cNvGrpSpPr/>
          <p:nvPr/>
        </p:nvGrpSpPr>
        <p:grpSpPr>
          <a:xfrm>
            <a:off x="1152624" y="4742420"/>
            <a:ext cx="9665451" cy="1293592"/>
            <a:chOff x="1152624" y="5167689"/>
            <a:chExt cx="9836827" cy="1293592"/>
          </a:xfrm>
        </p:grpSpPr>
        <p:graphicFrame>
          <p:nvGraphicFramePr>
            <p:cNvPr id="143" name="对象 142">
              <a:extLst>
                <a:ext uri="{FF2B5EF4-FFF2-40B4-BE49-F238E27FC236}">
                  <a16:creationId xmlns:a16="http://schemas.microsoft.com/office/drawing/2014/main" id="{11139F96-A33C-41EE-A51B-F5EEC41951B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78337954"/>
                </p:ext>
              </p:extLst>
            </p:nvPr>
          </p:nvGraphicFramePr>
          <p:xfrm>
            <a:off x="1202549" y="5669817"/>
            <a:ext cx="3960000" cy="360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51" name="Equation" r:id="rId10" imgW="2793960" imgH="253800" progId="Equation.DSMT4">
                    <p:embed/>
                  </p:oleObj>
                </mc:Choice>
                <mc:Fallback>
                  <p:oleObj name="Equation" r:id="rId10" imgW="2793960" imgH="253800" progId="Equation.DSMT4">
                    <p:embed/>
                    <p:pic>
                      <p:nvPicPr>
                        <p:cNvPr id="94" name="对象 93">
                          <a:extLst>
                            <a:ext uri="{FF2B5EF4-FFF2-40B4-BE49-F238E27FC236}">
                              <a16:creationId xmlns:a16="http://schemas.microsoft.com/office/drawing/2014/main" id="{69B1E1E4-3584-4240-932E-80596C7838C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1202549" y="5669817"/>
                          <a:ext cx="3960000" cy="360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4" name="对象 143">
              <a:extLst>
                <a:ext uri="{FF2B5EF4-FFF2-40B4-BE49-F238E27FC236}">
                  <a16:creationId xmlns:a16="http://schemas.microsoft.com/office/drawing/2014/main" id="{430BCE5A-DB1E-4AFD-BF52-3425B9216A1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31264109"/>
                </p:ext>
              </p:extLst>
            </p:nvPr>
          </p:nvGraphicFramePr>
          <p:xfrm>
            <a:off x="1202549" y="5167690"/>
            <a:ext cx="4051102" cy="456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52" name="Equation" r:id="rId12" imgW="2705040" imgH="304560" progId="Equation.DSMT4">
                    <p:embed/>
                  </p:oleObj>
                </mc:Choice>
                <mc:Fallback>
                  <p:oleObj name="Equation" r:id="rId12" imgW="2705040" imgH="304560" progId="Equation.DSMT4">
                    <p:embed/>
                    <p:pic>
                      <p:nvPicPr>
                        <p:cNvPr id="127" name="对象 126">
                          <a:extLst>
                            <a:ext uri="{FF2B5EF4-FFF2-40B4-BE49-F238E27FC236}">
                              <a16:creationId xmlns:a16="http://schemas.microsoft.com/office/drawing/2014/main" id="{707623E8-FCC8-41B0-A4F9-66F08567CC1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1202549" y="5167690"/>
                          <a:ext cx="4051102" cy="45646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0" name="文本框 149">
              <a:extLst>
                <a:ext uri="{FF2B5EF4-FFF2-40B4-BE49-F238E27FC236}">
                  <a16:creationId xmlns:a16="http://schemas.microsoft.com/office/drawing/2014/main" id="{E9B3AD5D-6D3D-40FA-9769-F03B3D98434F}"/>
                </a:ext>
              </a:extLst>
            </p:cNvPr>
            <p:cNvSpPr txBox="1"/>
            <p:nvPr/>
          </p:nvSpPr>
          <p:spPr>
            <a:xfrm>
              <a:off x="1152624" y="6091949"/>
              <a:ext cx="427349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b="0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Adam</a:t>
              </a:r>
              <a:r>
                <a:rPr lang="zh-CN" altLang="en-US" b="0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优化器，</a:t>
              </a:r>
              <a:r>
                <a:rPr lang="en-US" altLang="zh-CN" b="0" dirty="0" err="1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optimizer.step</a:t>
              </a:r>
              <a:r>
                <a:rPr lang="en-US" altLang="zh-CN" b="0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()#</a:t>
              </a:r>
              <a:r>
                <a:rPr lang="zh-CN" altLang="en-US" b="0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更新参数</a:t>
              </a:r>
            </a:p>
          </p:txBody>
        </p:sp>
        <p:sp>
          <p:nvSpPr>
            <p:cNvPr id="151" name="矩形 150">
              <a:extLst>
                <a:ext uri="{FF2B5EF4-FFF2-40B4-BE49-F238E27FC236}">
                  <a16:creationId xmlns:a16="http://schemas.microsoft.com/office/drawing/2014/main" id="{9EACB11F-CEC2-419E-BF64-5DEEC7BD87C5}"/>
                </a:ext>
              </a:extLst>
            </p:cNvPr>
            <p:cNvSpPr/>
            <p:nvPr/>
          </p:nvSpPr>
          <p:spPr>
            <a:xfrm>
              <a:off x="1176087" y="5167689"/>
              <a:ext cx="9813364" cy="1293591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53" name="矩形 152">
            <a:extLst>
              <a:ext uri="{FF2B5EF4-FFF2-40B4-BE49-F238E27FC236}">
                <a16:creationId xmlns:a16="http://schemas.microsoft.com/office/drawing/2014/main" id="{930CC522-5BC1-4236-B961-9A2AA30DE1FB}"/>
              </a:ext>
            </a:extLst>
          </p:cNvPr>
          <p:cNvSpPr/>
          <p:nvPr/>
        </p:nvSpPr>
        <p:spPr>
          <a:xfrm>
            <a:off x="7008831" y="218507"/>
            <a:ext cx="3809244" cy="4239666"/>
          </a:xfrm>
          <a:prstGeom prst="rect">
            <a:avLst/>
          </a:prstGeom>
          <a:noFill/>
          <a:ln w="254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5" name="文本框 154">
            <a:extLst>
              <a:ext uri="{FF2B5EF4-FFF2-40B4-BE49-F238E27FC236}">
                <a16:creationId xmlns:a16="http://schemas.microsoft.com/office/drawing/2014/main" id="{44164D8D-E435-4407-BD2B-BE9C76FC1696}"/>
              </a:ext>
            </a:extLst>
          </p:cNvPr>
          <p:cNvSpPr txBox="1"/>
          <p:nvPr/>
        </p:nvSpPr>
        <p:spPr>
          <a:xfrm>
            <a:off x="5000261" y="2436582"/>
            <a:ext cx="1011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循环</a:t>
            </a:r>
            <a:r>
              <a:rPr lang="en-US" altLang="zh-CN" b="1" dirty="0"/>
              <a:t>n</a:t>
            </a:r>
            <a:r>
              <a:rPr lang="zh-CN" altLang="en-US" b="1" dirty="0"/>
              <a:t>次</a:t>
            </a:r>
          </a:p>
        </p:txBody>
      </p:sp>
      <p:sp>
        <p:nvSpPr>
          <p:cNvPr id="156" name="文本框 155">
            <a:extLst>
              <a:ext uri="{FF2B5EF4-FFF2-40B4-BE49-F238E27FC236}">
                <a16:creationId xmlns:a16="http://schemas.microsoft.com/office/drawing/2014/main" id="{90033D71-ECA2-4AFD-AD92-C0EB3232E557}"/>
              </a:ext>
            </a:extLst>
          </p:cNvPr>
          <p:cNvSpPr txBox="1"/>
          <p:nvPr/>
        </p:nvSpPr>
        <p:spPr>
          <a:xfrm>
            <a:off x="6403464" y="222343"/>
            <a:ext cx="279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A080C"/>
                </a:solidFill>
              </a:rPr>
              <a:t>1</a:t>
            </a:r>
            <a:endParaRPr lang="zh-CN" altLang="en-US" b="1" dirty="0">
              <a:solidFill>
                <a:srgbClr val="FA080C"/>
              </a:solidFill>
            </a:endParaRPr>
          </a:p>
        </p:txBody>
      </p:sp>
      <p:sp>
        <p:nvSpPr>
          <p:cNvPr id="157" name="文本框 156">
            <a:extLst>
              <a:ext uri="{FF2B5EF4-FFF2-40B4-BE49-F238E27FC236}">
                <a16:creationId xmlns:a16="http://schemas.microsoft.com/office/drawing/2014/main" id="{EA7569B5-C5FD-40BF-96F4-D7B0CFC8DD69}"/>
              </a:ext>
            </a:extLst>
          </p:cNvPr>
          <p:cNvSpPr txBox="1"/>
          <p:nvPr/>
        </p:nvSpPr>
        <p:spPr>
          <a:xfrm>
            <a:off x="6403464" y="3498237"/>
            <a:ext cx="279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A080C"/>
                </a:solidFill>
              </a:rPr>
              <a:t>2</a:t>
            </a:r>
            <a:endParaRPr lang="zh-CN" altLang="en-US" b="1" dirty="0">
              <a:solidFill>
                <a:srgbClr val="FA080C"/>
              </a:solidFill>
            </a:endParaRPr>
          </a:p>
        </p:txBody>
      </p:sp>
      <p:sp>
        <p:nvSpPr>
          <p:cNvPr id="158" name="文本框 157">
            <a:extLst>
              <a:ext uri="{FF2B5EF4-FFF2-40B4-BE49-F238E27FC236}">
                <a16:creationId xmlns:a16="http://schemas.microsoft.com/office/drawing/2014/main" id="{F640925D-F545-432E-A446-7B7467BFB87B}"/>
              </a:ext>
            </a:extLst>
          </p:cNvPr>
          <p:cNvSpPr txBox="1"/>
          <p:nvPr/>
        </p:nvSpPr>
        <p:spPr>
          <a:xfrm>
            <a:off x="7026703" y="261419"/>
            <a:ext cx="279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A080C"/>
                </a:solidFill>
              </a:rPr>
              <a:t>3</a:t>
            </a:r>
            <a:endParaRPr lang="zh-CN" altLang="en-US" b="1" dirty="0">
              <a:solidFill>
                <a:srgbClr val="FA080C"/>
              </a:solidFill>
            </a:endParaRPr>
          </a:p>
        </p:txBody>
      </p:sp>
      <p:sp>
        <p:nvSpPr>
          <p:cNvPr id="159" name="文本框 158">
            <a:extLst>
              <a:ext uri="{FF2B5EF4-FFF2-40B4-BE49-F238E27FC236}">
                <a16:creationId xmlns:a16="http://schemas.microsoft.com/office/drawing/2014/main" id="{533251FC-0D26-4D11-86E9-CAE1EAA197F4}"/>
              </a:ext>
            </a:extLst>
          </p:cNvPr>
          <p:cNvSpPr txBox="1"/>
          <p:nvPr/>
        </p:nvSpPr>
        <p:spPr>
          <a:xfrm>
            <a:off x="10538443" y="4742419"/>
            <a:ext cx="279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A080C"/>
                </a:solidFill>
              </a:rPr>
              <a:t>4</a:t>
            </a:r>
            <a:endParaRPr lang="zh-CN" altLang="en-US" b="1" dirty="0">
              <a:solidFill>
                <a:srgbClr val="FA080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12102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3562DCE-7C9A-4C31-A582-B41BFD37D5D4}"/>
              </a:ext>
            </a:extLst>
          </p:cNvPr>
          <p:cNvSpPr txBox="1"/>
          <p:nvPr/>
        </p:nvSpPr>
        <p:spPr>
          <a:xfrm>
            <a:off x="10639972" y="0"/>
            <a:ext cx="15520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cs typeface="Times New Roman" panose="02020603050405020304" pitchFamily="18" charset="0"/>
              </a:rPr>
              <a:t>PPO</a:t>
            </a:r>
            <a:r>
              <a:rPr lang="zh-CN" altLang="en-US" b="1" dirty="0">
                <a:cs typeface="Times New Roman" panose="02020603050405020304" pitchFamily="18" charset="0"/>
              </a:rPr>
              <a:t>详细过程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D0CFCED-A27A-437F-B78C-06A3B2FF720D}"/>
              </a:ext>
            </a:extLst>
          </p:cNvPr>
          <p:cNvSpPr txBox="1"/>
          <p:nvPr/>
        </p:nvSpPr>
        <p:spPr>
          <a:xfrm>
            <a:off x="0" y="324047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原始强化学习的目标函数：</a:t>
            </a: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068BA37C-AD57-48A0-B313-8BBB456FC97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7779990"/>
              </p:ext>
            </p:extLst>
          </p:nvPr>
        </p:nvGraphicFramePr>
        <p:xfrm>
          <a:off x="639140" y="4341375"/>
          <a:ext cx="3472941" cy="36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52" name="Equation" r:id="rId3" imgW="2082600" imgH="215640" progId="Equation.DSMT4">
                  <p:embed/>
                </p:oleObj>
              </mc:Choice>
              <mc:Fallback>
                <p:oleObj name="Equation" r:id="rId3" imgW="208260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39140" y="4341375"/>
                        <a:ext cx="3472941" cy="36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1465EA82-CC96-4DA3-9D81-700C22F77EC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0797574"/>
              </p:ext>
            </p:extLst>
          </p:nvPr>
        </p:nvGraphicFramePr>
        <p:xfrm>
          <a:off x="1216396" y="769409"/>
          <a:ext cx="2092500" cy="72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53" name="Equation" r:id="rId5" imgW="1180800" imgH="406080" progId="Equation.DSMT4">
                  <p:embed/>
                </p:oleObj>
              </mc:Choice>
              <mc:Fallback>
                <p:oleObj name="Equation" r:id="rId5" imgW="118080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216396" y="769409"/>
                        <a:ext cx="2092500" cy="72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E8BFCBDC-789B-4C0D-98E1-EE0748B6B1CE}"/>
              </a:ext>
            </a:extLst>
          </p:cNvPr>
          <p:cNvSpPr txBox="1"/>
          <p:nvPr/>
        </p:nvSpPr>
        <p:spPr>
          <a:xfrm>
            <a:off x="3799079" y="944743"/>
            <a:ext cx="3225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γ</a:t>
            </a:r>
            <a:r>
              <a:rPr lang="zh-CN" altLang="en-US" dirty="0"/>
              <a:t>折扣因子，</a:t>
            </a:r>
            <a:r>
              <a:rPr lang="en-US" altLang="zh-CN" dirty="0"/>
              <a:t>r</a:t>
            </a:r>
            <a:r>
              <a:rPr lang="zh-CN" altLang="en-US" dirty="0"/>
              <a:t>是时间</a:t>
            </a:r>
            <a:r>
              <a:rPr lang="en-US" altLang="zh-CN" dirty="0"/>
              <a:t>t</a:t>
            </a:r>
            <a:r>
              <a:rPr lang="zh-CN" altLang="en-US" dirty="0"/>
              <a:t>步的奖励</a:t>
            </a: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F1905029-E4E2-4D43-B823-50B173FF62F6}"/>
              </a:ext>
            </a:extLst>
          </p:cNvPr>
          <p:cNvCxnSpPr/>
          <p:nvPr/>
        </p:nvCxnSpPr>
        <p:spPr>
          <a:xfrm>
            <a:off x="2262645" y="1489409"/>
            <a:ext cx="0" cy="5824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6C8F26CE-1DEC-4C1D-9FF4-D7E543F7ABE3}"/>
              </a:ext>
            </a:extLst>
          </p:cNvPr>
          <p:cNvSpPr txBox="1"/>
          <p:nvPr/>
        </p:nvSpPr>
        <p:spPr>
          <a:xfrm>
            <a:off x="2375612" y="1595968"/>
            <a:ext cx="52036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最大化</a:t>
            </a:r>
            <a:r>
              <a:rPr lang="en-US" altLang="zh-CN" dirty="0"/>
              <a:t>J</a:t>
            </a:r>
            <a:r>
              <a:rPr lang="zh-CN" altLang="en-US" dirty="0"/>
              <a:t>等价为</a:t>
            </a:r>
            <a:r>
              <a:rPr lang="zh-CN" altLang="en-US" b="0" i="0" dirty="0">
                <a:effectLst/>
                <a:latin typeface="-apple-system"/>
              </a:rPr>
              <a:t>最大化策略生成的策略轨迹的概率</a:t>
            </a:r>
            <a:endParaRPr lang="zh-CN" altLang="en-US" dirty="0"/>
          </a:p>
        </p:txBody>
      </p:sp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CA0722E6-2F1A-4E50-BC98-1A2B4983E59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5490506"/>
              </p:ext>
            </p:extLst>
          </p:nvPr>
        </p:nvGraphicFramePr>
        <p:xfrm>
          <a:off x="1156257" y="2142343"/>
          <a:ext cx="2438710" cy="72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54" name="Equation" r:id="rId7" imgW="1333440" imgH="393480" progId="Equation.DSMT4">
                  <p:embed/>
                </p:oleObj>
              </mc:Choice>
              <mc:Fallback>
                <p:oleObj name="Equation" r:id="rId7" imgW="133344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156257" y="2142343"/>
                        <a:ext cx="2438710" cy="72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8EC0F8BA-C1B5-4645-97AD-A927A1A16F6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8716786"/>
              </p:ext>
            </p:extLst>
          </p:nvPr>
        </p:nvGraphicFramePr>
        <p:xfrm>
          <a:off x="854321" y="2862343"/>
          <a:ext cx="3042581" cy="72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55" name="Equation" r:id="rId9" imgW="1663560" imgH="393480" progId="Equation.DSMT4">
                  <p:embed/>
                </p:oleObj>
              </mc:Choice>
              <mc:Fallback>
                <p:oleObj name="Equation" r:id="rId9" imgW="166356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854321" y="2862343"/>
                        <a:ext cx="3042581" cy="72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等腰三角形 18">
            <a:extLst>
              <a:ext uri="{FF2B5EF4-FFF2-40B4-BE49-F238E27FC236}">
                <a16:creationId xmlns:a16="http://schemas.microsoft.com/office/drawing/2014/main" id="{5323CBE0-A05E-462E-82B6-931CFFE9A92A}"/>
              </a:ext>
            </a:extLst>
          </p:cNvPr>
          <p:cNvSpPr/>
          <p:nvPr/>
        </p:nvSpPr>
        <p:spPr>
          <a:xfrm>
            <a:off x="3218895" y="4778705"/>
            <a:ext cx="180000" cy="180000"/>
          </a:xfrm>
          <a:prstGeom prst="triangle">
            <a:avLst/>
          </a:prstGeom>
          <a:solidFill>
            <a:srgbClr val="FA080C"/>
          </a:solidFill>
          <a:ln>
            <a:solidFill>
              <a:srgbClr val="FA08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A15BEA76-7730-494A-BA87-A26E284BCD73}"/>
                  </a:ext>
                </a:extLst>
              </p:cNvPr>
              <p:cNvSpPr txBox="1"/>
              <p:nvPr/>
            </p:nvSpPr>
            <p:spPr>
              <a:xfrm>
                <a:off x="3449707" y="4684039"/>
                <a:ext cx="285507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/>
                  <a:t>实际使用中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sepChr m:val=",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zh-CN" altLang="en-US" i="1">
                        <a:latin typeface="Cambria Math" panose="02040503050406030204" pitchFamily="18" charset="0"/>
                      </a:rPr>
                      <m:t>波动大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A15BEA76-7730-494A-BA87-A26E284BCD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9707" y="4684039"/>
                <a:ext cx="2855077" cy="369332"/>
              </a:xfrm>
              <a:prstGeom prst="rect">
                <a:avLst/>
              </a:prstGeom>
              <a:blipFill>
                <a:blip r:embed="rId11"/>
                <a:stretch>
                  <a:fillRect l="-1923" t="-8197" r="-427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85047027-6C7A-4241-BA91-F1AD92142A7C}"/>
              </a:ext>
            </a:extLst>
          </p:cNvPr>
          <p:cNvCxnSpPr>
            <a:cxnSpLocks/>
          </p:cNvCxnSpPr>
          <p:nvPr/>
        </p:nvCxnSpPr>
        <p:spPr>
          <a:xfrm>
            <a:off x="2300743" y="4746455"/>
            <a:ext cx="0" cy="5370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EBCD3ACD-EBFA-4919-AC1E-5081577F0EB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9604353"/>
              </p:ext>
            </p:extLst>
          </p:nvPr>
        </p:nvGraphicFramePr>
        <p:xfrm>
          <a:off x="172507" y="5360828"/>
          <a:ext cx="4256471" cy="36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56" name="Equation" r:id="rId12" imgW="2552400" imgH="215640" progId="Equation.DSMT4">
                  <p:embed/>
                </p:oleObj>
              </mc:Choice>
              <mc:Fallback>
                <p:oleObj name="Equation" r:id="rId12" imgW="255240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72507" y="5360828"/>
                        <a:ext cx="4256471" cy="36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文本框 21">
            <a:extLst>
              <a:ext uri="{FF2B5EF4-FFF2-40B4-BE49-F238E27FC236}">
                <a16:creationId xmlns:a16="http://schemas.microsoft.com/office/drawing/2014/main" id="{218AD677-8626-4D88-8DAC-C4A63BF4CA38}"/>
              </a:ext>
            </a:extLst>
          </p:cNvPr>
          <p:cNvSpPr txBox="1"/>
          <p:nvPr/>
        </p:nvSpPr>
        <p:spPr>
          <a:xfrm>
            <a:off x="2667436" y="6028285"/>
            <a:ext cx="37961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动作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-apple-system"/>
              </a:rPr>
              <a:t>a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的奖励和平均奖励值进行对比</a:t>
            </a:r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6E9047E-47E4-49D0-84AA-3B83A7BD2313}"/>
              </a:ext>
            </a:extLst>
          </p:cNvPr>
          <p:cNvSpPr/>
          <p:nvPr/>
        </p:nvSpPr>
        <p:spPr>
          <a:xfrm>
            <a:off x="2732767" y="5373499"/>
            <a:ext cx="1625761" cy="307458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3F5A68F-9C92-4E02-9BEF-51AD4FE63C7A}"/>
              </a:ext>
            </a:extLst>
          </p:cNvPr>
          <p:cNvSpPr txBox="1"/>
          <p:nvPr/>
        </p:nvSpPr>
        <p:spPr>
          <a:xfrm>
            <a:off x="2667436" y="5680957"/>
            <a:ext cx="1486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优势函数</a:t>
            </a:r>
            <a:r>
              <a:rPr lang="en-US" altLang="zh-CN" dirty="0"/>
              <a:t>A</a:t>
            </a:r>
            <a:r>
              <a:rPr lang="zh-CN" altLang="en-US" dirty="0"/>
              <a:t>：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2944436-98AA-4416-83BE-51DA4BCD6B3A}"/>
              </a:ext>
            </a:extLst>
          </p:cNvPr>
          <p:cNvSpPr txBox="1"/>
          <p:nvPr/>
        </p:nvSpPr>
        <p:spPr>
          <a:xfrm>
            <a:off x="172507" y="5680957"/>
            <a:ext cx="15696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基于策略梯度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目标函数</a:t>
            </a:r>
          </a:p>
        </p:txBody>
      </p:sp>
      <p:graphicFrame>
        <p:nvGraphicFramePr>
          <p:cNvPr id="29" name="对象 28">
            <a:extLst>
              <a:ext uri="{FF2B5EF4-FFF2-40B4-BE49-F238E27FC236}">
                <a16:creationId xmlns:a16="http://schemas.microsoft.com/office/drawing/2014/main" id="{E98F1336-E0A9-4069-A8A3-417342C600E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2884071"/>
              </p:ext>
            </p:extLst>
          </p:nvPr>
        </p:nvGraphicFramePr>
        <p:xfrm>
          <a:off x="172507" y="6380281"/>
          <a:ext cx="3495675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57" name="Equation" r:id="rId14" imgW="1726920" imgH="228600" progId="Equation.DSMT4">
                  <p:embed/>
                </p:oleObj>
              </mc:Choice>
              <mc:Fallback>
                <p:oleObj name="Equation" r:id="rId14" imgW="172692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72507" y="6380281"/>
                        <a:ext cx="3495675" cy="4635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箭头: 右 29">
            <a:extLst>
              <a:ext uri="{FF2B5EF4-FFF2-40B4-BE49-F238E27FC236}">
                <a16:creationId xmlns:a16="http://schemas.microsoft.com/office/drawing/2014/main" id="{02EC6914-13D0-48AE-A02A-FAE5B83AB52F}"/>
              </a:ext>
            </a:extLst>
          </p:cNvPr>
          <p:cNvSpPr/>
          <p:nvPr/>
        </p:nvSpPr>
        <p:spPr>
          <a:xfrm>
            <a:off x="7839394" y="115035"/>
            <a:ext cx="1390647" cy="72000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优化</a:t>
            </a:r>
          </a:p>
        </p:txBody>
      </p: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01C4445F-35F6-421B-AE8F-C5E81A7D32B4}"/>
              </a:ext>
            </a:extLst>
          </p:cNvPr>
          <p:cNvGrpSpPr/>
          <p:nvPr/>
        </p:nvGrpSpPr>
        <p:grpSpPr>
          <a:xfrm>
            <a:off x="7750230" y="944743"/>
            <a:ext cx="3740150" cy="1011046"/>
            <a:chOff x="8279062" y="944743"/>
            <a:chExt cx="3740150" cy="1011046"/>
          </a:xfrm>
        </p:grpSpPr>
        <p:graphicFrame>
          <p:nvGraphicFramePr>
            <p:cNvPr id="32" name="对象 31">
              <a:extLst>
                <a:ext uri="{FF2B5EF4-FFF2-40B4-BE49-F238E27FC236}">
                  <a16:creationId xmlns:a16="http://schemas.microsoft.com/office/drawing/2014/main" id="{829A148E-09AC-4F37-A057-31420D22B67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03999466"/>
                </p:ext>
              </p:extLst>
            </p:nvPr>
          </p:nvGraphicFramePr>
          <p:xfrm>
            <a:off x="8279062" y="944743"/>
            <a:ext cx="1208087" cy="3619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58" name="Equation" r:id="rId16" imgW="1208610" imgH="361453" progId="Equation.DSMT4">
                    <p:embed/>
                  </p:oleObj>
                </mc:Choice>
                <mc:Fallback>
                  <p:oleObj name="Equation" r:id="rId16" imgW="1208610" imgH="361453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8279062" y="944743"/>
                          <a:ext cx="1208087" cy="3619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34" name="直接箭头连接符 33">
              <a:extLst>
                <a:ext uri="{FF2B5EF4-FFF2-40B4-BE49-F238E27FC236}">
                  <a16:creationId xmlns:a16="http://schemas.microsoft.com/office/drawing/2014/main" id="{E6C848D5-8259-463C-859F-219AE177472E}"/>
                </a:ext>
              </a:extLst>
            </p:cNvPr>
            <p:cNvCxnSpPr/>
            <p:nvPr/>
          </p:nvCxnSpPr>
          <p:spPr>
            <a:xfrm>
              <a:off x="9487149" y="1125718"/>
              <a:ext cx="44425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aphicFrame>
          <p:nvGraphicFramePr>
            <p:cNvPr id="36" name="对象 35">
              <a:extLst>
                <a:ext uri="{FF2B5EF4-FFF2-40B4-BE49-F238E27FC236}">
                  <a16:creationId xmlns:a16="http://schemas.microsoft.com/office/drawing/2014/main" id="{90B8D04E-DB66-4D53-A1EA-9C9E4BC0286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95474149"/>
                </p:ext>
              </p:extLst>
            </p:nvPr>
          </p:nvGraphicFramePr>
          <p:xfrm>
            <a:off x="10018986" y="944743"/>
            <a:ext cx="514286" cy="360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59" name="Equation" r:id="rId18" imgW="253800" imgH="177480" progId="Equation.DSMT4">
                    <p:embed/>
                  </p:oleObj>
                </mc:Choice>
                <mc:Fallback>
                  <p:oleObj name="Equation" r:id="rId18" imgW="253800" imgH="1774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10018986" y="944743"/>
                          <a:ext cx="514286" cy="360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" name="对象 38">
              <a:extLst>
                <a:ext uri="{FF2B5EF4-FFF2-40B4-BE49-F238E27FC236}">
                  <a16:creationId xmlns:a16="http://schemas.microsoft.com/office/drawing/2014/main" id="{4A949620-6080-424D-B679-3D015D66D9C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09824514"/>
                </p:ext>
              </p:extLst>
            </p:nvPr>
          </p:nvGraphicFramePr>
          <p:xfrm>
            <a:off x="8279062" y="1595427"/>
            <a:ext cx="3740150" cy="3603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60" name="Equation" r:id="rId20" imgW="2374560" imgH="228600" progId="Equation.DSMT4">
                    <p:embed/>
                  </p:oleObj>
                </mc:Choice>
                <mc:Fallback>
                  <p:oleObj name="Equation" r:id="rId20" imgW="237456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8279062" y="1595427"/>
                          <a:ext cx="3740150" cy="36036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A7E6DF43-8EA1-4589-AE56-58D35A1E47F2}"/>
              </a:ext>
            </a:extLst>
          </p:cNvPr>
          <p:cNvCxnSpPr/>
          <p:nvPr/>
        </p:nvCxnSpPr>
        <p:spPr>
          <a:xfrm>
            <a:off x="7579281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4" name="对象 43">
            <a:extLst>
              <a:ext uri="{FF2B5EF4-FFF2-40B4-BE49-F238E27FC236}">
                <a16:creationId xmlns:a16="http://schemas.microsoft.com/office/drawing/2014/main" id="{8B614C47-235C-4012-89B9-B6F2B061700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5759523"/>
              </p:ext>
            </p:extLst>
          </p:nvPr>
        </p:nvGraphicFramePr>
        <p:xfrm>
          <a:off x="7750230" y="2244523"/>
          <a:ext cx="2265882" cy="36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61" name="Equation" r:id="rId22" imgW="1358640" imgH="215640" progId="Equation.DSMT4">
                  <p:embed/>
                </p:oleObj>
              </mc:Choice>
              <mc:Fallback>
                <p:oleObj name="Equation" r:id="rId22" imgW="135864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7750230" y="2244523"/>
                        <a:ext cx="2265882" cy="36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对象 44">
            <a:extLst>
              <a:ext uri="{FF2B5EF4-FFF2-40B4-BE49-F238E27FC236}">
                <a16:creationId xmlns:a16="http://schemas.microsoft.com/office/drawing/2014/main" id="{1AAEBBFD-77F5-428A-A2EB-83FED3E5340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0346124"/>
              </p:ext>
            </p:extLst>
          </p:nvPr>
        </p:nvGraphicFramePr>
        <p:xfrm>
          <a:off x="7750230" y="2862343"/>
          <a:ext cx="3552825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62" name="Equation" r:id="rId24" imgW="2006280" imgH="228600" progId="Equation.DSMT4">
                  <p:embed/>
                </p:oleObj>
              </mc:Choice>
              <mc:Fallback>
                <p:oleObj name="Equation" r:id="rId24" imgW="20062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7750230" y="2862343"/>
                        <a:ext cx="3552825" cy="4048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对象 45">
            <a:extLst>
              <a:ext uri="{FF2B5EF4-FFF2-40B4-BE49-F238E27FC236}">
                <a16:creationId xmlns:a16="http://schemas.microsoft.com/office/drawing/2014/main" id="{0BFAA091-5364-4A57-A08C-49B0A3140D7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2664075"/>
              </p:ext>
            </p:extLst>
          </p:nvPr>
        </p:nvGraphicFramePr>
        <p:xfrm>
          <a:off x="7750230" y="4778705"/>
          <a:ext cx="3811765" cy="36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63" name="Equation" r:id="rId26" imgW="2286000" imgH="215640" progId="Equation.DSMT4">
                  <p:embed/>
                </p:oleObj>
              </mc:Choice>
              <mc:Fallback>
                <p:oleObj name="Equation" r:id="rId26" imgW="228600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7750230" y="4778705"/>
                        <a:ext cx="3811765" cy="36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" name="矩形 47">
            <a:extLst>
              <a:ext uri="{FF2B5EF4-FFF2-40B4-BE49-F238E27FC236}">
                <a16:creationId xmlns:a16="http://schemas.microsoft.com/office/drawing/2014/main" id="{F3499238-34B0-4249-BCD4-DA187371C499}"/>
              </a:ext>
            </a:extLst>
          </p:cNvPr>
          <p:cNvSpPr/>
          <p:nvPr/>
        </p:nvSpPr>
        <p:spPr>
          <a:xfrm>
            <a:off x="7750230" y="4746455"/>
            <a:ext cx="3833091" cy="404813"/>
          </a:xfrm>
          <a:prstGeom prst="rect">
            <a:avLst/>
          </a:prstGeom>
          <a:noFill/>
          <a:ln w="254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F4C4BEB4-31D4-45E7-9700-C9C7CBB136AA}"/>
              </a:ext>
            </a:extLst>
          </p:cNvPr>
          <p:cNvSpPr txBox="1"/>
          <p:nvPr/>
        </p:nvSpPr>
        <p:spPr>
          <a:xfrm>
            <a:off x="8009911" y="5634790"/>
            <a:ext cx="3313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反向传播、</a:t>
            </a:r>
            <a:r>
              <a:rPr lang="en-US" altLang="zh-CN" dirty="0"/>
              <a:t>Adam</a:t>
            </a:r>
            <a:r>
              <a:rPr lang="zh-CN" altLang="en-US" dirty="0"/>
              <a:t>更新网络参数</a:t>
            </a:r>
          </a:p>
        </p:txBody>
      </p: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5818D1FA-84D7-46B3-A73A-AE47EFED0E56}"/>
              </a:ext>
            </a:extLst>
          </p:cNvPr>
          <p:cNvCxnSpPr>
            <a:cxnSpLocks/>
            <a:stCxn id="48" idx="2"/>
            <a:endCxn id="50" idx="0"/>
          </p:cNvCxnSpPr>
          <p:nvPr/>
        </p:nvCxnSpPr>
        <p:spPr>
          <a:xfrm flipH="1">
            <a:off x="9666775" y="5151268"/>
            <a:ext cx="1" cy="4835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6" name="文本框 55">
            <a:extLst>
              <a:ext uri="{FF2B5EF4-FFF2-40B4-BE49-F238E27FC236}">
                <a16:creationId xmlns:a16="http://schemas.microsoft.com/office/drawing/2014/main" id="{7A3FE05F-34CD-4322-BE10-4211E43ED478}"/>
              </a:ext>
            </a:extLst>
          </p:cNvPr>
          <p:cNvSpPr txBox="1"/>
          <p:nvPr/>
        </p:nvSpPr>
        <p:spPr>
          <a:xfrm>
            <a:off x="569008" y="3934339"/>
            <a:ext cx="37785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对于目标函数关于网络参数</a:t>
            </a:r>
            <a:r>
              <a:rPr lang="en-US" altLang="zh-CN" dirty="0"/>
              <a:t>θ</a:t>
            </a:r>
            <a:r>
              <a:rPr lang="zh-CN" altLang="en-US" dirty="0"/>
              <a:t>求偏导</a:t>
            </a:r>
          </a:p>
        </p:txBody>
      </p:sp>
    </p:spTree>
    <p:extLst>
      <p:ext uri="{BB962C8B-B14F-4D97-AF65-F5344CB8AC3E}">
        <p14:creationId xmlns:p14="http://schemas.microsoft.com/office/powerpoint/2010/main" val="32830387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57F3CEF6-1F82-46CA-9479-DAAA5F36E970}"/>
              </a:ext>
            </a:extLst>
          </p:cNvPr>
          <p:cNvSpPr txBox="1"/>
          <p:nvPr/>
        </p:nvSpPr>
        <p:spPr>
          <a:xfrm>
            <a:off x="10853172" y="0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cs typeface="Times New Roman" panose="02020603050405020304" pitchFamily="18" charset="0"/>
              </a:rPr>
              <a:t>路缝隙问题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B880456-2064-4414-9A2B-EB7522FFB9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0349" y="803494"/>
            <a:ext cx="4676867" cy="525101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76F456AF-AE7D-4623-B913-187590D6F3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984" y="3734791"/>
            <a:ext cx="5356191" cy="231971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1008D65-BD6E-4F05-828A-AF82CB3EB0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784" y="550547"/>
            <a:ext cx="5307391" cy="3020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7305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51CF7F4E-F62A-402C-B262-B0694C00F4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52242"/>
            <a:ext cx="12192000" cy="4346070"/>
          </a:xfrm>
          <a:prstGeom prst="rect">
            <a:avLst/>
          </a:prstGeom>
        </p:spPr>
      </p:pic>
      <p:sp>
        <p:nvSpPr>
          <p:cNvPr id="5" name="椭圆 4">
            <a:extLst>
              <a:ext uri="{FF2B5EF4-FFF2-40B4-BE49-F238E27FC236}">
                <a16:creationId xmlns:a16="http://schemas.microsoft.com/office/drawing/2014/main" id="{B9F47ED7-04FA-4788-8411-287A25A24EA7}"/>
              </a:ext>
            </a:extLst>
          </p:cNvPr>
          <p:cNvSpPr/>
          <p:nvPr/>
        </p:nvSpPr>
        <p:spPr>
          <a:xfrm>
            <a:off x="9008745" y="2787527"/>
            <a:ext cx="133350" cy="13775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A8A556A-A773-43F9-807B-0EB953C78302}"/>
              </a:ext>
            </a:extLst>
          </p:cNvPr>
          <p:cNvSpPr/>
          <p:nvPr/>
        </p:nvSpPr>
        <p:spPr>
          <a:xfrm>
            <a:off x="8939212" y="3209544"/>
            <a:ext cx="272415" cy="137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0922DB2-0959-4818-A8A6-9CEE8A23CE21}"/>
              </a:ext>
            </a:extLst>
          </p:cNvPr>
          <p:cNvSpPr txBox="1"/>
          <p:nvPr/>
        </p:nvSpPr>
        <p:spPr>
          <a:xfrm>
            <a:off x="3867912" y="1261872"/>
            <a:ext cx="332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75C141E-B135-4ED8-A7BB-356086718254}"/>
              </a:ext>
            </a:extLst>
          </p:cNvPr>
          <p:cNvSpPr txBox="1"/>
          <p:nvPr/>
        </p:nvSpPr>
        <p:spPr>
          <a:xfrm>
            <a:off x="5647944" y="211836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43BF619-0FCA-4BE2-BA62-90A70118E9CA}"/>
              </a:ext>
            </a:extLst>
          </p:cNvPr>
          <p:cNvSpPr txBox="1"/>
          <p:nvPr/>
        </p:nvSpPr>
        <p:spPr>
          <a:xfrm>
            <a:off x="8305800" y="2301764"/>
            <a:ext cx="327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C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361C10A-ED4A-48E3-8C69-B3159170EC13}"/>
              </a:ext>
            </a:extLst>
          </p:cNvPr>
          <p:cNvSpPr txBox="1"/>
          <p:nvPr/>
        </p:nvSpPr>
        <p:spPr>
          <a:xfrm>
            <a:off x="10248900" y="2218730"/>
            <a:ext cx="327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D</a:t>
            </a:r>
            <a:endParaRPr lang="zh-CN" altLang="en-US" dirty="0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3587B727-7A19-4CB8-8E20-1882B5F43A07}"/>
              </a:ext>
            </a:extLst>
          </p:cNvPr>
          <p:cNvSpPr/>
          <p:nvPr/>
        </p:nvSpPr>
        <p:spPr>
          <a:xfrm>
            <a:off x="2065020" y="3870960"/>
            <a:ext cx="91440" cy="914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6D615DEE-6797-44F6-9DB7-7C180CEE77ED}"/>
              </a:ext>
            </a:extLst>
          </p:cNvPr>
          <p:cNvSpPr/>
          <p:nvPr/>
        </p:nvSpPr>
        <p:spPr>
          <a:xfrm>
            <a:off x="2044065" y="3824650"/>
            <a:ext cx="133350" cy="13775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FDD1065-99E8-4456-9198-5DD15EB824B4}"/>
              </a:ext>
            </a:extLst>
          </p:cNvPr>
          <p:cNvSpPr/>
          <p:nvPr/>
        </p:nvSpPr>
        <p:spPr>
          <a:xfrm>
            <a:off x="2177415" y="2211110"/>
            <a:ext cx="272415" cy="137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8737D78B-A545-485D-BD64-7A76F89559FE}"/>
              </a:ext>
            </a:extLst>
          </p:cNvPr>
          <p:cNvCxnSpPr>
            <a:stCxn id="13" idx="2"/>
            <a:endCxn id="12" idx="0"/>
          </p:cNvCxnSpPr>
          <p:nvPr/>
        </p:nvCxnSpPr>
        <p:spPr>
          <a:xfrm flipH="1">
            <a:off x="2110740" y="2348860"/>
            <a:ext cx="202883" cy="14757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2F3729D0-78B3-4CC1-9221-87CAFBF0A74C}"/>
              </a:ext>
            </a:extLst>
          </p:cNvPr>
          <p:cNvSpPr txBox="1"/>
          <p:nvPr/>
        </p:nvSpPr>
        <p:spPr>
          <a:xfrm>
            <a:off x="10853172" y="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cs typeface="Times New Roman" panose="02020603050405020304" pitchFamily="18" charset="0"/>
              </a:rPr>
              <a:t>导航信息</a:t>
            </a:r>
          </a:p>
        </p:txBody>
      </p:sp>
    </p:spTree>
    <p:extLst>
      <p:ext uri="{BB962C8B-B14F-4D97-AF65-F5344CB8AC3E}">
        <p14:creationId xmlns:p14="http://schemas.microsoft.com/office/powerpoint/2010/main" val="22208856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E8F735CB-ABC2-4464-8884-EB156DA75F40}"/>
              </a:ext>
            </a:extLst>
          </p:cNvPr>
          <p:cNvSpPr txBox="1"/>
          <p:nvPr/>
        </p:nvSpPr>
        <p:spPr>
          <a:xfrm>
            <a:off x="10853172" y="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cs typeface="Times New Roman" panose="02020603050405020304" pitchFamily="18" charset="0"/>
              </a:rPr>
              <a:t>导航信息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B0D182B-EC09-48CE-A14C-35CC9E75F5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575" y="685800"/>
            <a:ext cx="4057650" cy="43053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4E65245-CAD0-44BF-8EAC-F82925A2B6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7044" y="1479407"/>
            <a:ext cx="6073015" cy="3159268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9B183708-98A0-4137-AB8A-7D0BAA6ED1CD}"/>
              </a:ext>
            </a:extLst>
          </p:cNvPr>
          <p:cNvSpPr txBox="1"/>
          <p:nvPr/>
        </p:nvSpPr>
        <p:spPr>
          <a:xfrm>
            <a:off x="381000" y="5753100"/>
            <a:ext cx="55354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问题转换为</a:t>
            </a:r>
            <a:r>
              <a:rPr lang="en-US" altLang="zh-CN" dirty="0"/>
              <a:t>[</a:t>
            </a:r>
            <a:r>
              <a:rPr lang="en-US" altLang="zh-CN" dirty="0" err="1"/>
              <a:t>cross_id</a:t>
            </a:r>
            <a:r>
              <a:rPr lang="en-US" altLang="zh-CN" dirty="0"/>
              <a:t>, road_id, </a:t>
            </a:r>
            <a:r>
              <a:rPr lang="en-US" altLang="zh-CN" dirty="0" err="1"/>
              <a:t>lane_id</a:t>
            </a:r>
            <a:r>
              <a:rPr lang="en-US" altLang="zh-CN" dirty="0"/>
              <a:t>]</a:t>
            </a:r>
            <a:r>
              <a:rPr lang="zh-CN" altLang="en-US" dirty="0"/>
              <a:t>到另一个的路径</a:t>
            </a:r>
          </a:p>
        </p:txBody>
      </p:sp>
    </p:spTree>
    <p:extLst>
      <p:ext uri="{BB962C8B-B14F-4D97-AF65-F5344CB8AC3E}">
        <p14:creationId xmlns:p14="http://schemas.microsoft.com/office/powerpoint/2010/main" val="36197303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A62B4BB5-0472-4FE7-811B-A3D1C5E5D522}"/>
              </a:ext>
            </a:extLst>
          </p:cNvPr>
          <p:cNvSpPr txBox="1"/>
          <p:nvPr/>
        </p:nvSpPr>
        <p:spPr>
          <a:xfrm>
            <a:off x="10853172" y="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cs typeface="Times New Roman" panose="02020603050405020304" pitchFamily="18" charset="0"/>
              </a:rPr>
              <a:t>导航信息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D0EFB21-3004-4C02-B4E4-574DB8A65226}"/>
              </a:ext>
            </a:extLst>
          </p:cNvPr>
          <p:cNvSpPr txBox="1"/>
          <p:nvPr/>
        </p:nvSpPr>
        <p:spPr>
          <a:xfrm>
            <a:off x="5854588" y="369332"/>
            <a:ext cx="4828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car</a:t>
            </a:r>
            <a:endParaRPr lang="zh-CN" altLang="en-US" dirty="0"/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B9F35D19-6785-438F-A68C-D8A9BB32FBAB}"/>
              </a:ext>
            </a:extLst>
          </p:cNvPr>
          <p:cNvCxnSpPr>
            <a:stCxn id="5" idx="2"/>
          </p:cNvCxnSpPr>
          <p:nvPr/>
        </p:nvCxnSpPr>
        <p:spPr>
          <a:xfrm>
            <a:off x="6096000" y="738664"/>
            <a:ext cx="0" cy="4382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9D22CDA5-3D23-4BE8-81A2-3D9ADCC4BD31}"/>
              </a:ext>
            </a:extLst>
          </p:cNvPr>
          <p:cNvSpPr txBox="1"/>
          <p:nvPr/>
        </p:nvSpPr>
        <p:spPr>
          <a:xfrm>
            <a:off x="5138044" y="1176950"/>
            <a:ext cx="19159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找到下一个路口</a:t>
            </a:r>
            <a:r>
              <a:rPr lang="en-US" altLang="zh-CN" dirty="0"/>
              <a:t>a</a:t>
            </a:r>
            <a:endParaRPr lang="zh-CN" altLang="en-US" dirty="0"/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97A75B0E-A9F5-4C34-8D90-9F067437B177}"/>
              </a:ext>
            </a:extLst>
          </p:cNvPr>
          <p:cNvCxnSpPr>
            <a:cxnSpLocks/>
            <a:stCxn id="8" idx="2"/>
            <a:endCxn id="11" idx="0"/>
          </p:cNvCxnSpPr>
          <p:nvPr/>
        </p:nvCxnSpPr>
        <p:spPr>
          <a:xfrm>
            <a:off x="6095999" y="1546282"/>
            <a:ext cx="1" cy="5492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7DBAAE58-4896-4A48-B377-AE7B58C3D245}"/>
              </a:ext>
            </a:extLst>
          </p:cNvPr>
          <p:cNvSpPr txBox="1"/>
          <p:nvPr/>
        </p:nvSpPr>
        <p:spPr>
          <a:xfrm>
            <a:off x="5195753" y="2095500"/>
            <a:ext cx="18004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生成随机目标点</a:t>
            </a: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48DF058F-B5E4-4220-94E2-824FBDB4E009}"/>
              </a:ext>
            </a:extLst>
          </p:cNvPr>
          <p:cNvCxnSpPr>
            <a:stCxn id="11" idx="2"/>
          </p:cNvCxnSpPr>
          <p:nvPr/>
        </p:nvCxnSpPr>
        <p:spPr>
          <a:xfrm flipH="1">
            <a:off x="6095999" y="2464832"/>
            <a:ext cx="1" cy="4593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51E8B3C9-0736-4F91-A13C-B9CCC6D56364}"/>
              </a:ext>
            </a:extLst>
          </p:cNvPr>
          <p:cNvSpPr txBox="1"/>
          <p:nvPr/>
        </p:nvSpPr>
        <p:spPr>
          <a:xfrm>
            <a:off x="5129227" y="2924175"/>
            <a:ext cx="19335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找到上一个路口</a:t>
            </a:r>
            <a:r>
              <a:rPr lang="en-US" altLang="zh-CN" dirty="0"/>
              <a:t>b</a:t>
            </a:r>
            <a:endParaRPr lang="zh-CN" altLang="en-US" dirty="0"/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E3BD2094-3645-4529-81DF-D5EE5C73084B}"/>
              </a:ext>
            </a:extLst>
          </p:cNvPr>
          <p:cNvCxnSpPr>
            <a:cxnSpLocks/>
            <a:stCxn id="14" idx="2"/>
          </p:cNvCxnSpPr>
          <p:nvPr/>
        </p:nvCxnSpPr>
        <p:spPr>
          <a:xfrm>
            <a:off x="6095999" y="3293507"/>
            <a:ext cx="0" cy="4593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AFBA6062-42A8-4261-8399-6B79021DD272}"/>
              </a:ext>
            </a:extLst>
          </p:cNvPr>
          <p:cNvSpPr txBox="1"/>
          <p:nvPr/>
        </p:nvSpPr>
        <p:spPr>
          <a:xfrm>
            <a:off x="4956103" y="3752850"/>
            <a:ext cx="22797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找到</a:t>
            </a:r>
            <a:r>
              <a:rPr lang="en-US" altLang="zh-CN" dirty="0"/>
              <a:t>a</a:t>
            </a:r>
            <a:r>
              <a:rPr lang="zh-CN" altLang="en-US" dirty="0"/>
              <a:t>到</a:t>
            </a:r>
            <a:r>
              <a:rPr lang="en-US" altLang="zh-CN" dirty="0"/>
              <a:t>b</a:t>
            </a:r>
            <a:r>
              <a:rPr lang="zh-CN" altLang="en-US" dirty="0"/>
              <a:t>的最短路径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333376B-3397-4195-B7FD-8684F29A521A}"/>
              </a:ext>
            </a:extLst>
          </p:cNvPr>
          <p:cNvSpPr txBox="1"/>
          <p:nvPr/>
        </p:nvSpPr>
        <p:spPr>
          <a:xfrm>
            <a:off x="5579670" y="5432079"/>
            <a:ext cx="1032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91.7M</a:t>
            </a:r>
            <a:r>
              <a:rPr lang="zh-CN" altLang="en-US" dirty="0"/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6790347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EAE6AF5C-1F90-4B0A-A832-96F83E37CA5F}"/>
              </a:ext>
            </a:extLst>
          </p:cNvPr>
          <p:cNvSpPr txBox="1"/>
          <p:nvPr/>
        </p:nvSpPr>
        <p:spPr>
          <a:xfrm>
            <a:off x="196914" y="277060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cross_data_processed_map_Town01_stitched.json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2BA2CAA-33ED-4833-84EF-4204D79AFCA3}"/>
              </a:ext>
            </a:extLst>
          </p:cNvPr>
          <p:cNvSpPr txBox="1"/>
          <p:nvPr/>
        </p:nvSpPr>
        <p:spPr>
          <a:xfrm>
            <a:off x="196914" y="1073766"/>
            <a:ext cx="6097508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filtered_quad_indices：所有定义在路口之外的</a:t>
            </a:r>
            <a:r>
              <a:rPr lang="en-US" altLang="zh-CN" dirty="0"/>
              <a:t>quad</a:t>
            </a:r>
          </a:p>
          <a:p>
            <a:r>
              <a:rPr lang="en-US" altLang="zh-CN" dirty="0" err="1"/>
              <a:t>cross_x</a:t>
            </a:r>
            <a:r>
              <a:rPr lang="en-US" altLang="zh-CN" dirty="0"/>
              <a:t>:</a:t>
            </a:r>
          </a:p>
          <a:p>
            <a:r>
              <a:rPr lang="en-US" altLang="zh-CN" dirty="0"/>
              <a:t>  cross_id: 	</a:t>
            </a:r>
            <a:r>
              <a:rPr lang="zh-CN" altLang="en-US" dirty="0"/>
              <a:t>每个</a:t>
            </a:r>
            <a:r>
              <a:rPr lang="en-US" altLang="zh-CN" dirty="0"/>
              <a:t>cross</a:t>
            </a:r>
            <a:r>
              <a:rPr lang="zh-CN" altLang="en-US" dirty="0"/>
              <a:t>都定义一个唯一</a:t>
            </a:r>
            <a:r>
              <a:rPr lang="en-US" altLang="zh-CN" dirty="0"/>
              <a:t>id</a:t>
            </a:r>
          </a:p>
          <a:p>
            <a:r>
              <a:rPr lang="en-US" altLang="zh-CN" dirty="0"/>
              <a:t>  </a:t>
            </a:r>
            <a:r>
              <a:rPr lang="en-US" altLang="zh-CN" dirty="0" err="1"/>
              <a:t>start_waypoints</a:t>
            </a:r>
            <a:r>
              <a:rPr lang="en-US" altLang="zh-CN" dirty="0"/>
              <a:t>:	</a:t>
            </a:r>
            <a:r>
              <a:rPr lang="zh-CN" altLang="en-US" dirty="0"/>
              <a:t>所有可以从</a:t>
            </a:r>
            <a:r>
              <a:rPr lang="en-US" altLang="zh-CN" dirty="0"/>
              <a:t>cross</a:t>
            </a:r>
            <a:r>
              <a:rPr lang="zh-CN" altLang="en-US" dirty="0"/>
              <a:t>出去的点</a:t>
            </a:r>
            <a:endParaRPr lang="en-US" altLang="zh-CN" dirty="0"/>
          </a:p>
          <a:p>
            <a:r>
              <a:rPr lang="en-US" altLang="zh-CN" dirty="0"/>
              <a:t>	x</a:t>
            </a:r>
          </a:p>
          <a:p>
            <a:r>
              <a:rPr lang="en-US" altLang="zh-CN" dirty="0"/>
              <a:t>	y</a:t>
            </a:r>
          </a:p>
          <a:p>
            <a:r>
              <a:rPr lang="en-US" altLang="zh-CN" dirty="0"/>
              <a:t>	road_id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lane_id</a:t>
            </a:r>
            <a:endParaRPr lang="en-US" altLang="zh-CN" dirty="0"/>
          </a:p>
          <a:p>
            <a:r>
              <a:rPr lang="en-US" altLang="zh-CN" dirty="0"/>
              <a:t>	s</a:t>
            </a:r>
          </a:p>
          <a:p>
            <a:r>
              <a:rPr lang="en-US" altLang="zh-CN" dirty="0"/>
              <a:t>  </a:t>
            </a:r>
            <a:r>
              <a:rPr lang="en-US" altLang="zh-CN" dirty="0" err="1"/>
              <a:t>end_waypoints</a:t>
            </a:r>
            <a:r>
              <a:rPr lang="en-US" altLang="zh-CN" dirty="0"/>
              <a:t>:</a:t>
            </a:r>
          </a:p>
          <a:p>
            <a:r>
              <a:rPr lang="en-US" altLang="zh-CN" dirty="0"/>
              <a:t>	x</a:t>
            </a:r>
          </a:p>
          <a:p>
            <a:r>
              <a:rPr lang="en-US" altLang="zh-CN" dirty="0"/>
              <a:t>	y</a:t>
            </a:r>
          </a:p>
          <a:p>
            <a:r>
              <a:rPr lang="en-US" altLang="zh-CN" dirty="0"/>
              <a:t>	road_id</a:t>
            </a:r>
          </a:p>
          <a:p>
            <a:r>
              <a:rPr lang="en-US" altLang="zh-CN" dirty="0"/>
              <a:t>	lane_id</a:t>
            </a:r>
          </a:p>
          <a:p>
            <a:r>
              <a:rPr lang="en-US" altLang="zh-CN" dirty="0"/>
              <a:t>	s</a:t>
            </a:r>
          </a:p>
          <a:p>
            <a:r>
              <a:rPr lang="en-US" altLang="zh-CN" dirty="0"/>
              <a:t>  paths: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from_end_waypoint</a:t>
            </a:r>
            <a:endParaRPr lang="en-US" altLang="zh-CN" dirty="0"/>
          </a:p>
          <a:p>
            <a:r>
              <a:rPr lang="en-US" altLang="zh-CN" dirty="0"/>
              <a:t>	</a:t>
            </a:r>
            <a:r>
              <a:rPr lang="en-US" altLang="zh-CN" dirty="0" err="1"/>
              <a:t>to_start_waypoint</a:t>
            </a:r>
            <a:endParaRPr lang="en-US" altLang="zh-CN" dirty="0"/>
          </a:p>
          <a:p>
            <a:r>
              <a:rPr lang="en-US" altLang="zh-CN" dirty="0"/>
              <a:t>	</a:t>
            </a:r>
            <a:r>
              <a:rPr lang="en-US" altLang="zh-CN" dirty="0" err="1"/>
              <a:t>path_quad_ids</a:t>
            </a:r>
            <a:endParaRPr lang="en-US" altLang="zh-CN" dirty="0"/>
          </a:p>
          <a:p>
            <a:r>
              <a:rPr lang="en-US" altLang="zh-CN" dirty="0"/>
              <a:t>	distance</a:t>
            </a:r>
          </a:p>
          <a:p>
            <a:r>
              <a:rPr lang="en-US" altLang="zh-CN" dirty="0"/>
              <a:t>  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4B8075F-66FE-4D1C-A66E-78F43E8C98F8}"/>
              </a:ext>
            </a:extLst>
          </p:cNvPr>
          <p:cNvSpPr txBox="1"/>
          <p:nvPr/>
        </p:nvSpPr>
        <p:spPr>
          <a:xfrm>
            <a:off x="6096000" y="1073766"/>
            <a:ext cx="60975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/>
              <a:t>waypoint_graph</a:t>
            </a:r>
            <a:r>
              <a:rPr lang="en-US" altLang="zh-CN" dirty="0"/>
              <a:t>: </a:t>
            </a:r>
            <a:r>
              <a:rPr lang="zh-CN" altLang="en-US" dirty="0"/>
              <a:t>由路口所有的</a:t>
            </a:r>
            <a:r>
              <a:rPr lang="en-US" altLang="zh-CN" dirty="0"/>
              <a:t>waypoint</a:t>
            </a:r>
            <a:r>
              <a:rPr lang="zh-CN" altLang="en-US" dirty="0"/>
              <a:t>组成的路由</a:t>
            </a:r>
            <a:endParaRPr lang="en-US" altLang="zh-CN" dirty="0"/>
          </a:p>
          <a:p>
            <a:r>
              <a:rPr lang="en-US" altLang="zh-CN" dirty="0"/>
              <a:t>  nodes:[</a:t>
            </a:r>
            <a:r>
              <a:rPr lang="en-US" altLang="zh-CN" dirty="0" err="1"/>
              <a:t>cross_id,road_id,lane_id,x,y,”start</a:t>
            </a:r>
            <a:r>
              <a:rPr lang="en-US" altLang="zh-CN" dirty="0"/>
              <a:t>”/”end”]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090228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51D593E-F982-4D89-8790-1AEC9854D146}"/>
              </a:ext>
            </a:extLst>
          </p:cNvPr>
          <p:cNvSpPr txBox="1"/>
          <p:nvPr/>
        </p:nvSpPr>
        <p:spPr>
          <a:xfrm>
            <a:off x="8570496" y="0"/>
            <a:ext cx="55831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i="0" dirty="0">
                <a:effectLst/>
              </a:rPr>
              <a:t>部分可观察的随机博弈（</a:t>
            </a:r>
            <a:r>
              <a:rPr lang="en-US" altLang="zh-CN" b="1" i="0" dirty="0">
                <a:effectLst/>
              </a:rPr>
              <a:t>POSG</a:t>
            </a:r>
            <a:r>
              <a:rPr lang="zh-CN" altLang="en-US" b="1" i="0" dirty="0">
                <a:effectLst/>
              </a:rPr>
              <a:t>）</a:t>
            </a:r>
            <a:endParaRPr lang="zh-CN" altLang="en-US" b="1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09442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F5EAAA37-469B-4424-A04D-E3F2EC1ECD21}"/>
              </a:ext>
            </a:extLst>
          </p:cNvPr>
          <p:cNvCxnSpPr>
            <a:stCxn id="15" idx="2"/>
            <a:endCxn id="15" idx="0"/>
          </p:cNvCxnSpPr>
          <p:nvPr/>
        </p:nvCxnSpPr>
        <p:spPr>
          <a:xfrm flipV="1">
            <a:off x="2213627" y="2466448"/>
            <a:ext cx="1208682" cy="2645240"/>
          </a:xfrm>
          <a:prstGeom prst="line">
            <a:avLst/>
          </a:prstGeom>
          <a:ln w="635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E8A08DBE-5325-4E33-A1A7-73043DFDC10B}"/>
              </a:ext>
            </a:extLst>
          </p:cNvPr>
          <p:cNvSpPr/>
          <p:nvPr/>
        </p:nvSpPr>
        <p:spPr>
          <a:xfrm rot="1473416">
            <a:off x="2097588" y="2334918"/>
            <a:ext cx="1440760" cy="2908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6018D56-9695-4791-BAFC-75195C46FC72}"/>
              </a:ext>
            </a:extLst>
          </p:cNvPr>
          <p:cNvSpPr txBox="1"/>
          <p:nvPr/>
        </p:nvSpPr>
        <p:spPr>
          <a:xfrm>
            <a:off x="11019884" y="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3E7BCB8-160B-4E6D-B2D8-9AB023AC508C}"/>
              </a:ext>
            </a:extLst>
          </p:cNvPr>
          <p:cNvSpPr txBox="1"/>
          <p:nvPr/>
        </p:nvSpPr>
        <p:spPr>
          <a:xfrm>
            <a:off x="11280532" y="0"/>
            <a:ext cx="911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offroad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BF49724C-7BEF-4835-8E6C-69996CEAD2A7}"/>
              </a:ext>
            </a:extLst>
          </p:cNvPr>
          <p:cNvGrpSpPr/>
          <p:nvPr/>
        </p:nvGrpSpPr>
        <p:grpSpPr>
          <a:xfrm>
            <a:off x="1999150" y="2548423"/>
            <a:ext cx="1094401" cy="1761152"/>
            <a:chOff x="1491150" y="2073004"/>
            <a:chExt cx="1094401" cy="1761152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72597986-BFD4-412E-BC25-E7CE1C00DB78}"/>
                </a:ext>
              </a:extLst>
            </p:cNvPr>
            <p:cNvSpPr/>
            <p:nvPr/>
          </p:nvSpPr>
          <p:spPr>
            <a:xfrm rot="16200000">
              <a:off x="1247775" y="2496380"/>
              <a:ext cx="1581151" cy="91440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5400" b="1" dirty="0"/>
                <a:t>→</a:t>
              </a:r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7BAA3025-E8C0-406E-A8B7-525F7DAE92C6}"/>
                </a:ext>
              </a:extLst>
            </p:cNvPr>
            <p:cNvSpPr/>
            <p:nvPr/>
          </p:nvSpPr>
          <p:spPr>
            <a:xfrm>
              <a:off x="1491150" y="2073004"/>
              <a:ext cx="180000" cy="18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38440BAB-FBF6-448C-BE41-749D897C984B}"/>
                </a:ext>
              </a:extLst>
            </p:cNvPr>
            <p:cNvSpPr/>
            <p:nvPr/>
          </p:nvSpPr>
          <p:spPr>
            <a:xfrm>
              <a:off x="2405551" y="2073004"/>
              <a:ext cx="180000" cy="18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9D316FAC-6C1C-41C9-9E0D-FCA58AB77BA2}"/>
                </a:ext>
              </a:extLst>
            </p:cNvPr>
            <p:cNvSpPr/>
            <p:nvPr/>
          </p:nvSpPr>
          <p:spPr>
            <a:xfrm>
              <a:off x="1491150" y="3654156"/>
              <a:ext cx="180000" cy="18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3DBD9105-C2A5-4716-9B13-AFA905395581}"/>
                </a:ext>
              </a:extLst>
            </p:cNvPr>
            <p:cNvSpPr/>
            <p:nvPr/>
          </p:nvSpPr>
          <p:spPr>
            <a:xfrm>
              <a:off x="2405551" y="3654156"/>
              <a:ext cx="180000" cy="18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F697F209-364C-4A5B-AD46-8654FB2267C2}"/>
                </a:ext>
              </a:extLst>
            </p:cNvPr>
            <p:cNvSpPr/>
            <p:nvPr/>
          </p:nvSpPr>
          <p:spPr>
            <a:xfrm>
              <a:off x="1948350" y="2863580"/>
              <a:ext cx="180000" cy="18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4" name="文本框 13">
            <a:extLst>
              <a:ext uri="{FF2B5EF4-FFF2-40B4-BE49-F238E27FC236}">
                <a16:creationId xmlns:a16="http://schemas.microsoft.com/office/drawing/2014/main" id="{16A6EF8A-24A0-40AB-97CC-ECED133E4EA6}"/>
              </a:ext>
            </a:extLst>
          </p:cNvPr>
          <p:cNvSpPr txBox="1"/>
          <p:nvPr/>
        </p:nvSpPr>
        <p:spPr>
          <a:xfrm>
            <a:off x="2264993" y="1356921"/>
            <a:ext cx="13580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Model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47F50E8-901D-4258-9B98-A63EFF3D6FE0}"/>
              </a:ext>
            </a:extLst>
          </p:cNvPr>
          <p:cNvSpPr txBox="1"/>
          <p:nvPr/>
        </p:nvSpPr>
        <p:spPr>
          <a:xfrm>
            <a:off x="990529" y="5637496"/>
            <a:ext cx="34900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检查是否有点不在</a:t>
            </a:r>
            <a:r>
              <a:rPr lang="en-US" altLang="zh-CN" dirty="0"/>
              <a:t>road surface</a:t>
            </a:r>
            <a:r>
              <a:rPr lang="zh-CN" altLang="en-US" dirty="0"/>
              <a:t>上</a:t>
            </a:r>
          </a:p>
        </p:txBody>
      </p: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9673F18D-3DCF-43E8-8D1E-4A69A70E9144}"/>
              </a:ext>
            </a:extLst>
          </p:cNvPr>
          <p:cNvGrpSpPr/>
          <p:nvPr/>
        </p:nvGrpSpPr>
        <p:grpSpPr>
          <a:xfrm>
            <a:off x="5315322" y="1356920"/>
            <a:ext cx="3600000" cy="4144158"/>
            <a:chOff x="7017122" y="1356921"/>
            <a:chExt cx="3600000" cy="4144158"/>
          </a:xfrm>
        </p:grpSpPr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25D24CD2-4A6F-4819-9DD9-AE0932B0D4FF}"/>
                </a:ext>
              </a:extLst>
            </p:cNvPr>
            <p:cNvSpPr txBox="1"/>
            <p:nvPr/>
          </p:nvSpPr>
          <p:spPr>
            <a:xfrm>
              <a:off x="7645006" y="1356921"/>
              <a:ext cx="11721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弯路</a:t>
              </a:r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/</a:t>
              </a:r>
              <a:r>
                <a: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环岛</a:t>
              </a:r>
            </a:p>
          </p:txBody>
        </p:sp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7A3A3506-2CBB-4C5F-9FD8-8C0B1955B4F5}"/>
                </a:ext>
              </a:extLst>
            </p:cNvPr>
            <p:cNvGrpSpPr/>
            <p:nvPr/>
          </p:nvGrpSpPr>
          <p:grpSpPr>
            <a:xfrm>
              <a:off x="7017122" y="1901079"/>
              <a:ext cx="3600000" cy="3600000"/>
              <a:chOff x="7548609" y="2000805"/>
              <a:chExt cx="3600000" cy="3600000"/>
            </a:xfrm>
          </p:grpSpPr>
          <p:sp>
            <p:nvSpPr>
              <p:cNvPr id="28" name="弧形 27">
                <a:extLst>
                  <a:ext uri="{FF2B5EF4-FFF2-40B4-BE49-F238E27FC236}">
                    <a16:creationId xmlns:a16="http://schemas.microsoft.com/office/drawing/2014/main" id="{7500256F-2282-46D3-A547-3DB46CC6623A}"/>
                  </a:ext>
                </a:extLst>
              </p:cNvPr>
              <p:cNvSpPr/>
              <p:nvPr/>
            </p:nvSpPr>
            <p:spPr>
              <a:xfrm rot="16769514">
                <a:off x="8007416" y="2353331"/>
                <a:ext cx="2672620" cy="2844095"/>
              </a:xfrm>
              <a:prstGeom prst="arc">
                <a:avLst>
                  <a:gd name="adj1" fmla="val 10028118"/>
                  <a:gd name="adj2" fmla="val 0"/>
                </a:avLst>
              </a:prstGeom>
              <a:ln w="6350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" name="空心弧 19">
                <a:extLst>
                  <a:ext uri="{FF2B5EF4-FFF2-40B4-BE49-F238E27FC236}">
                    <a16:creationId xmlns:a16="http://schemas.microsoft.com/office/drawing/2014/main" id="{B679C625-4B66-4D56-9840-20387DB9F0DA}"/>
                  </a:ext>
                </a:extLst>
              </p:cNvPr>
              <p:cNvSpPr/>
              <p:nvPr/>
            </p:nvSpPr>
            <p:spPr>
              <a:xfrm rot="16009421">
                <a:off x="7548609" y="2000805"/>
                <a:ext cx="3600000" cy="3600000"/>
              </a:xfrm>
              <a:prstGeom prst="blockArc">
                <a:avLst>
                  <a:gd name="adj1" fmla="val 10800000"/>
                  <a:gd name="adj2" fmla="val 655265"/>
                  <a:gd name="adj3" fmla="val 28307"/>
                </a:avLst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21" name="组合 20">
                <a:extLst>
                  <a:ext uri="{FF2B5EF4-FFF2-40B4-BE49-F238E27FC236}">
                    <a16:creationId xmlns:a16="http://schemas.microsoft.com/office/drawing/2014/main" id="{EF44A789-96FE-4B16-8F8F-0B8460385742}"/>
                  </a:ext>
                </a:extLst>
              </p:cNvPr>
              <p:cNvGrpSpPr/>
              <p:nvPr/>
            </p:nvGrpSpPr>
            <p:grpSpPr>
              <a:xfrm>
                <a:off x="7831678" y="2908493"/>
                <a:ext cx="1094401" cy="1761152"/>
                <a:chOff x="1491150" y="2073004"/>
                <a:chExt cx="1094401" cy="1761152"/>
              </a:xfrm>
            </p:grpSpPr>
            <p:sp>
              <p:nvSpPr>
                <p:cNvPr id="22" name="矩形 21">
                  <a:extLst>
                    <a:ext uri="{FF2B5EF4-FFF2-40B4-BE49-F238E27FC236}">
                      <a16:creationId xmlns:a16="http://schemas.microsoft.com/office/drawing/2014/main" id="{95E29436-D8BD-47AF-8596-1D833B439288}"/>
                    </a:ext>
                  </a:extLst>
                </p:cNvPr>
                <p:cNvSpPr/>
                <p:nvPr/>
              </p:nvSpPr>
              <p:spPr>
                <a:xfrm rot="16200000">
                  <a:off x="1247775" y="2496380"/>
                  <a:ext cx="1581151" cy="914400"/>
                </a:xfrm>
                <a:prstGeom prst="rect">
                  <a:avLst/>
                </a:prstGeom>
                <a:solidFill>
                  <a:schemeClr val="accent1">
                    <a:alpha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sz="5400" b="1" dirty="0"/>
                    <a:t>→</a:t>
                  </a:r>
                </a:p>
              </p:txBody>
            </p:sp>
            <p:sp>
              <p:nvSpPr>
                <p:cNvPr id="23" name="椭圆 22">
                  <a:extLst>
                    <a:ext uri="{FF2B5EF4-FFF2-40B4-BE49-F238E27FC236}">
                      <a16:creationId xmlns:a16="http://schemas.microsoft.com/office/drawing/2014/main" id="{550ACAE1-89D4-4923-A284-7D6A514F5DF1}"/>
                    </a:ext>
                  </a:extLst>
                </p:cNvPr>
                <p:cNvSpPr/>
                <p:nvPr/>
              </p:nvSpPr>
              <p:spPr>
                <a:xfrm>
                  <a:off x="1491150" y="2073004"/>
                  <a:ext cx="180000" cy="180000"/>
                </a:xfrm>
                <a:prstGeom prst="ellipse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4" name="椭圆 23">
                  <a:extLst>
                    <a:ext uri="{FF2B5EF4-FFF2-40B4-BE49-F238E27FC236}">
                      <a16:creationId xmlns:a16="http://schemas.microsoft.com/office/drawing/2014/main" id="{31F9F87B-9DF5-4D04-868E-E65A54826657}"/>
                    </a:ext>
                  </a:extLst>
                </p:cNvPr>
                <p:cNvSpPr/>
                <p:nvPr/>
              </p:nvSpPr>
              <p:spPr>
                <a:xfrm>
                  <a:off x="2405551" y="2073004"/>
                  <a:ext cx="180000" cy="180000"/>
                </a:xfrm>
                <a:prstGeom prst="ellipse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5" name="椭圆 24">
                  <a:extLst>
                    <a:ext uri="{FF2B5EF4-FFF2-40B4-BE49-F238E27FC236}">
                      <a16:creationId xmlns:a16="http://schemas.microsoft.com/office/drawing/2014/main" id="{8A29BAA5-BDFC-4F72-B6DA-4DC5A4D9D5E2}"/>
                    </a:ext>
                  </a:extLst>
                </p:cNvPr>
                <p:cNvSpPr/>
                <p:nvPr/>
              </p:nvSpPr>
              <p:spPr>
                <a:xfrm>
                  <a:off x="1491150" y="3654156"/>
                  <a:ext cx="180000" cy="180000"/>
                </a:xfrm>
                <a:prstGeom prst="ellipse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6" name="椭圆 25">
                  <a:extLst>
                    <a:ext uri="{FF2B5EF4-FFF2-40B4-BE49-F238E27FC236}">
                      <a16:creationId xmlns:a16="http://schemas.microsoft.com/office/drawing/2014/main" id="{6BD3EA1C-E102-49CB-8624-C1C9BE89FF88}"/>
                    </a:ext>
                  </a:extLst>
                </p:cNvPr>
                <p:cNvSpPr/>
                <p:nvPr/>
              </p:nvSpPr>
              <p:spPr>
                <a:xfrm>
                  <a:off x="2405551" y="3654156"/>
                  <a:ext cx="180000" cy="180000"/>
                </a:xfrm>
                <a:prstGeom prst="ellipse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7" name="椭圆 26">
                  <a:extLst>
                    <a:ext uri="{FF2B5EF4-FFF2-40B4-BE49-F238E27FC236}">
                      <a16:creationId xmlns:a16="http://schemas.microsoft.com/office/drawing/2014/main" id="{CC41346A-0BB8-4D2C-99E5-798AA1BDB60E}"/>
                    </a:ext>
                  </a:extLst>
                </p:cNvPr>
                <p:cNvSpPr/>
                <p:nvPr/>
              </p:nvSpPr>
              <p:spPr>
                <a:xfrm>
                  <a:off x="1948350" y="2863580"/>
                  <a:ext cx="180000" cy="180000"/>
                </a:xfrm>
                <a:prstGeom prst="ellipse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</p:grp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A4AEF38A-CD67-4C69-B9AD-C7AB621EA7F5}"/>
              </a:ext>
            </a:extLst>
          </p:cNvPr>
          <p:cNvCxnSpPr/>
          <p:nvPr/>
        </p:nvCxnSpPr>
        <p:spPr>
          <a:xfrm>
            <a:off x="7645400" y="3701078"/>
            <a:ext cx="9101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矩形 32">
            <a:extLst>
              <a:ext uri="{FF2B5EF4-FFF2-40B4-BE49-F238E27FC236}">
                <a16:creationId xmlns:a16="http://schemas.microsoft.com/office/drawing/2014/main" id="{446C16F3-E8F4-49F4-ACBE-38BC38713C1F}"/>
              </a:ext>
            </a:extLst>
          </p:cNvPr>
          <p:cNvSpPr/>
          <p:nvPr/>
        </p:nvSpPr>
        <p:spPr>
          <a:xfrm rot="16200000">
            <a:off x="8873026" y="3145308"/>
            <a:ext cx="1581151" cy="914400"/>
          </a:xfrm>
          <a:prstGeom prst="rect">
            <a:avLst/>
          </a:prstGeom>
          <a:solidFill>
            <a:schemeClr val="accent1">
              <a:alpha val="5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5400" b="1" dirty="0"/>
              <a:t>→</a:t>
            </a:r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B0833004-9A28-4A9C-8743-30C4020DF7B1}"/>
              </a:ext>
            </a:extLst>
          </p:cNvPr>
          <p:cNvSpPr/>
          <p:nvPr/>
        </p:nvSpPr>
        <p:spPr>
          <a:xfrm>
            <a:off x="9144982" y="3549750"/>
            <a:ext cx="180000" cy="180000"/>
          </a:xfrm>
          <a:prstGeom prst="ellipse">
            <a:avLst/>
          </a:prstGeom>
          <a:solidFill>
            <a:srgbClr val="8BCF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209AFE5A-34FF-4F74-BEF4-F918B39720ED}"/>
              </a:ext>
            </a:extLst>
          </p:cNvPr>
          <p:cNvSpPr/>
          <p:nvPr/>
        </p:nvSpPr>
        <p:spPr>
          <a:xfrm>
            <a:off x="9573601" y="2898766"/>
            <a:ext cx="180000" cy="180000"/>
          </a:xfrm>
          <a:prstGeom prst="ellipse">
            <a:avLst/>
          </a:prstGeom>
          <a:solidFill>
            <a:srgbClr val="8BCF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椭圆 35">
            <a:extLst>
              <a:ext uri="{FF2B5EF4-FFF2-40B4-BE49-F238E27FC236}">
                <a16:creationId xmlns:a16="http://schemas.microsoft.com/office/drawing/2014/main" id="{79702295-167B-468A-A6B7-0781299F9997}"/>
              </a:ext>
            </a:extLst>
          </p:cNvPr>
          <p:cNvSpPr/>
          <p:nvPr/>
        </p:nvSpPr>
        <p:spPr>
          <a:xfrm>
            <a:off x="9281434" y="3316899"/>
            <a:ext cx="180000" cy="180000"/>
          </a:xfrm>
          <a:prstGeom prst="ellipse">
            <a:avLst/>
          </a:prstGeom>
          <a:solidFill>
            <a:srgbClr val="8BCF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2A197618-175F-4EE3-AC82-2FBD9E26401C}"/>
              </a:ext>
            </a:extLst>
          </p:cNvPr>
          <p:cNvSpPr/>
          <p:nvPr/>
        </p:nvSpPr>
        <p:spPr>
          <a:xfrm>
            <a:off x="9417901" y="3078766"/>
            <a:ext cx="180000" cy="180000"/>
          </a:xfrm>
          <a:prstGeom prst="ellipse">
            <a:avLst/>
          </a:prstGeom>
          <a:solidFill>
            <a:srgbClr val="8BCF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551E176E-6977-4434-8181-EA5E1EE51F99}"/>
              </a:ext>
            </a:extLst>
          </p:cNvPr>
          <p:cNvSpPr/>
          <p:nvPr/>
        </p:nvSpPr>
        <p:spPr>
          <a:xfrm>
            <a:off x="8984690" y="3809367"/>
            <a:ext cx="180000" cy="180000"/>
          </a:xfrm>
          <a:prstGeom prst="ellipse">
            <a:avLst/>
          </a:prstGeom>
          <a:solidFill>
            <a:srgbClr val="8BCF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32F06F74-7B76-4E6D-8672-8D86D2FD8A74}"/>
              </a:ext>
            </a:extLst>
          </p:cNvPr>
          <p:cNvSpPr/>
          <p:nvPr/>
        </p:nvSpPr>
        <p:spPr>
          <a:xfrm>
            <a:off x="9836810" y="2728423"/>
            <a:ext cx="180000" cy="180000"/>
          </a:xfrm>
          <a:prstGeom prst="ellipse">
            <a:avLst/>
          </a:prstGeom>
          <a:solidFill>
            <a:srgbClr val="8BCF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椭圆 40">
            <a:extLst>
              <a:ext uri="{FF2B5EF4-FFF2-40B4-BE49-F238E27FC236}">
                <a16:creationId xmlns:a16="http://schemas.microsoft.com/office/drawing/2014/main" id="{B88CF81D-CC7C-448C-8D37-11893B0DF3DA}"/>
              </a:ext>
            </a:extLst>
          </p:cNvPr>
          <p:cNvSpPr/>
          <p:nvPr/>
        </p:nvSpPr>
        <p:spPr>
          <a:xfrm>
            <a:off x="10120802" y="2615559"/>
            <a:ext cx="180000" cy="180000"/>
          </a:xfrm>
          <a:prstGeom prst="ellipse">
            <a:avLst/>
          </a:prstGeom>
          <a:solidFill>
            <a:srgbClr val="8BCF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CEBD1F42-B85C-4A96-BA16-4AEC024A5E22}"/>
              </a:ext>
            </a:extLst>
          </p:cNvPr>
          <p:cNvSpPr txBox="1"/>
          <p:nvPr/>
        </p:nvSpPr>
        <p:spPr>
          <a:xfrm>
            <a:off x="8321010" y="5625295"/>
            <a:ext cx="30315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检测是否有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OOB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落到车框内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5483F5D0-24B5-4169-8E3D-3E4D95579BC7}"/>
              </a:ext>
            </a:extLst>
          </p:cNvPr>
          <p:cNvSpPr txBox="1"/>
          <p:nvPr/>
        </p:nvSpPr>
        <p:spPr>
          <a:xfrm>
            <a:off x="8877168" y="4468763"/>
            <a:ext cx="1572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Bounding box</a:t>
            </a:r>
            <a:endParaRPr lang="zh-CN" altLang="en-US" dirty="0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9E9DB0AB-6B01-4BB1-A8B7-BE1444035464}"/>
              </a:ext>
            </a:extLst>
          </p:cNvPr>
          <p:cNvSpPr txBox="1"/>
          <p:nvPr/>
        </p:nvSpPr>
        <p:spPr>
          <a:xfrm>
            <a:off x="8794613" y="6141967"/>
            <a:ext cx="17379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问题：</a:t>
            </a:r>
            <a:r>
              <a:rPr lang="en-US" altLang="zh-CN" dirty="0"/>
              <a:t>oob</a:t>
            </a:r>
            <a:r>
              <a:rPr lang="zh-CN" altLang="en-US" dirty="0"/>
              <a:t>太多</a:t>
            </a:r>
          </a:p>
        </p:txBody>
      </p:sp>
    </p:spTree>
    <p:extLst>
      <p:ext uri="{BB962C8B-B14F-4D97-AF65-F5344CB8AC3E}">
        <p14:creationId xmlns:p14="http://schemas.microsoft.com/office/powerpoint/2010/main" val="1441788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>
            <a:extLst>
              <a:ext uri="{FF2B5EF4-FFF2-40B4-BE49-F238E27FC236}">
                <a16:creationId xmlns:a16="http://schemas.microsoft.com/office/drawing/2014/main" id="{1FCE99C9-EBF4-4F1D-B69F-81367D03BF4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600"/>
          <a:stretch/>
        </p:blipFill>
        <p:spPr>
          <a:xfrm>
            <a:off x="4428751" y="184666"/>
            <a:ext cx="7307515" cy="6424028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157F38B3-F99F-4AFF-B231-05843551C6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1299" y="1122261"/>
            <a:ext cx="2382801" cy="839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CBA49F5A-0F08-4EBF-B522-B210DC111756}"/>
              </a:ext>
            </a:extLst>
          </p:cNvPr>
          <p:cNvSpPr txBox="1"/>
          <p:nvPr/>
        </p:nvSpPr>
        <p:spPr>
          <a:xfrm>
            <a:off x="11280532" y="0"/>
            <a:ext cx="911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offroad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B3C12B4A-6F67-461F-9D56-947FBE9D83E6}"/>
              </a:ext>
            </a:extLst>
          </p:cNvPr>
          <p:cNvGrpSpPr/>
          <p:nvPr/>
        </p:nvGrpSpPr>
        <p:grpSpPr>
          <a:xfrm>
            <a:off x="1732013" y="2717432"/>
            <a:ext cx="1641371" cy="2364271"/>
            <a:chOff x="1897114" y="3821661"/>
            <a:chExt cx="1641371" cy="2364271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B2FB69DD-6F3B-4EFC-BEED-EF22F966D79B}"/>
                </a:ext>
              </a:extLst>
            </p:cNvPr>
            <p:cNvSpPr/>
            <p:nvPr/>
          </p:nvSpPr>
          <p:spPr>
            <a:xfrm rot="18236258">
              <a:off x="1927224" y="4275609"/>
              <a:ext cx="1581151" cy="91440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5400" b="1" dirty="0"/>
                <a:t>→</a:t>
              </a: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BC826A5E-61C2-43E6-B79E-861359EACA38}"/>
                </a:ext>
              </a:extLst>
            </p:cNvPr>
            <p:cNvSpPr/>
            <p:nvPr/>
          </p:nvSpPr>
          <p:spPr>
            <a:xfrm>
              <a:off x="1897114" y="3821661"/>
              <a:ext cx="1641371" cy="1822296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58B63131-94FD-4EA4-B916-92E1053A6CA8}"/>
                </a:ext>
              </a:extLst>
            </p:cNvPr>
            <p:cNvSpPr txBox="1"/>
            <p:nvPr/>
          </p:nvSpPr>
          <p:spPr>
            <a:xfrm>
              <a:off x="2349750" y="5816600"/>
              <a:ext cx="7360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AABB</a:t>
              </a:r>
              <a:endParaRPr lang="zh-CN" altLang="en-US" dirty="0"/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213B8CC6-A354-4CAF-B7F8-AE80DFF50146}"/>
              </a:ext>
            </a:extLst>
          </p:cNvPr>
          <p:cNvSpPr txBox="1"/>
          <p:nvPr/>
        </p:nvSpPr>
        <p:spPr>
          <a:xfrm>
            <a:off x="0" y="0"/>
            <a:ext cx="5105400" cy="8811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/>
              <a:t>找</a:t>
            </a:r>
            <a:r>
              <a:rPr lang="en-US" altLang="zh-CN" dirty="0"/>
              <a:t>AABB</a:t>
            </a:r>
            <a:r>
              <a:rPr lang="zh-CN" altLang="en-US" dirty="0"/>
              <a:t>涉及到的所有</a:t>
            </a:r>
            <a:r>
              <a:rPr lang="en-US" altLang="zh-CN" dirty="0"/>
              <a:t>bucket</a:t>
            </a:r>
            <a:r>
              <a:rPr lang="zh-CN" altLang="en-US" dirty="0"/>
              <a:t>的</a:t>
            </a:r>
            <a:r>
              <a:rPr lang="en-US" altLang="zh-CN" dirty="0"/>
              <a:t>OOB</a:t>
            </a:r>
            <a:r>
              <a:rPr lang="zh-CN" altLang="en-US" dirty="0"/>
              <a:t>点</a:t>
            </a:r>
            <a:endParaRPr lang="en-US" altLang="zh-CN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/>
              <a:t>计算</a:t>
            </a:r>
            <a:r>
              <a:rPr lang="en-US" altLang="zh-CN" dirty="0"/>
              <a:t>OOB</a:t>
            </a:r>
            <a:r>
              <a:rPr lang="zh-CN" altLang="en-US" dirty="0"/>
              <a:t>是否在</a:t>
            </a:r>
            <a:r>
              <a:rPr lang="en-US" altLang="zh-CN" dirty="0"/>
              <a:t>Bounding box</a:t>
            </a:r>
            <a:r>
              <a:rPr lang="zh-CN" altLang="en-US" dirty="0"/>
              <a:t>内 </a:t>
            </a:r>
            <a:r>
              <a:rPr lang="en-US" altLang="zh-CN" dirty="0"/>
              <a:t>(</a:t>
            </a:r>
            <a:r>
              <a:rPr lang="zh-CN" altLang="en-US" dirty="0"/>
              <a:t>射线投射法</a:t>
            </a:r>
            <a:r>
              <a:rPr lang="en-US" altLang="zh-CN" dirty="0"/>
              <a:t>)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4007797-EFA2-4C64-93BB-FC47656A5CBB}"/>
              </a:ext>
            </a:extLst>
          </p:cNvPr>
          <p:cNvSpPr txBox="1"/>
          <p:nvPr/>
        </p:nvSpPr>
        <p:spPr>
          <a:xfrm>
            <a:off x="1284847" y="5243349"/>
            <a:ext cx="340349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由于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bucket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大小设计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最多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AABB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会跨越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个哈希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bucket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58715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图片 47">
            <a:extLst>
              <a:ext uri="{FF2B5EF4-FFF2-40B4-BE49-F238E27FC236}">
                <a16:creationId xmlns:a16="http://schemas.microsoft.com/office/drawing/2014/main" id="{045A76AD-F5AF-4C3B-8538-0431A09A111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 rot="3064683">
            <a:off x="8736516" y="2152718"/>
            <a:ext cx="2091109" cy="2158171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26FA414F-C8B1-4DF0-AA79-7AE18F6FACD3}"/>
              </a:ext>
            </a:extLst>
          </p:cNvPr>
          <p:cNvSpPr txBox="1"/>
          <p:nvPr/>
        </p:nvSpPr>
        <p:spPr>
          <a:xfrm>
            <a:off x="11199421" y="0"/>
            <a:ext cx="992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collision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131144D9-7B86-4892-953C-0755C991DA45}"/>
              </a:ext>
            </a:extLst>
          </p:cNvPr>
          <p:cNvGrpSpPr/>
          <p:nvPr/>
        </p:nvGrpSpPr>
        <p:grpSpPr>
          <a:xfrm>
            <a:off x="438150" y="600075"/>
            <a:ext cx="5657850" cy="5657850"/>
            <a:chOff x="282121" y="579664"/>
            <a:chExt cx="5657850" cy="5657850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7551BAEB-8263-4862-82C5-2A71AA14ACF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50000"/>
            </a:blip>
            <a:stretch>
              <a:fillRect/>
            </a:stretch>
          </p:blipFill>
          <p:spPr>
            <a:xfrm rot="5400000">
              <a:off x="2168071" y="2465614"/>
              <a:ext cx="3771900" cy="3771900"/>
            </a:xfrm>
            <a:prstGeom prst="rect">
              <a:avLst/>
            </a:prstGeom>
          </p:spPr>
        </p:pic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FF24C4B4-2D3C-4A02-8B8A-98767CC287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50000"/>
            </a:blip>
            <a:stretch>
              <a:fillRect/>
            </a:stretch>
          </p:blipFill>
          <p:spPr>
            <a:xfrm>
              <a:off x="282121" y="579664"/>
              <a:ext cx="3771900" cy="3771900"/>
            </a:xfrm>
            <a:prstGeom prst="rect">
              <a:avLst/>
            </a:prstGeom>
          </p:spPr>
        </p:pic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02FDB3EC-58DF-4CDC-8C24-0FDD27CEA84C}"/>
                </a:ext>
              </a:extLst>
            </p:cNvPr>
            <p:cNvSpPr/>
            <p:nvPr/>
          </p:nvSpPr>
          <p:spPr>
            <a:xfrm>
              <a:off x="2168071" y="2465614"/>
              <a:ext cx="1885950" cy="1885950"/>
            </a:xfrm>
            <a:prstGeom prst="rect">
              <a:avLst/>
            </a:prstGeom>
            <a:noFill/>
            <a:ln w="25400"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AEB44175-AFEC-47B0-8D81-ED762AA7B4D9}"/>
                </a:ext>
              </a:extLst>
            </p:cNvPr>
            <p:cNvSpPr txBox="1"/>
            <p:nvPr/>
          </p:nvSpPr>
          <p:spPr>
            <a:xfrm>
              <a:off x="2247158" y="3085423"/>
              <a:ext cx="177915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b="0" i="0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共享至少</a:t>
              </a:r>
              <a:endParaRPr lang="en-US" altLang="zh-C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zh-CN" altLang="en-US" b="0" i="0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一个哈希</a:t>
              </a:r>
              <a:r>
                <a:rPr lang="en-US" altLang="zh-CN" b="0" i="0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bucket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A34AA77D-73E0-416B-BA95-3521EB51FBDA}"/>
              </a:ext>
            </a:extLst>
          </p:cNvPr>
          <p:cNvGrpSpPr/>
          <p:nvPr/>
        </p:nvGrpSpPr>
        <p:grpSpPr>
          <a:xfrm>
            <a:off x="6826527" y="2089952"/>
            <a:ext cx="1641371" cy="2191628"/>
            <a:chOff x="6826527" y="2089952"/>
            <a:chExt cx="1641371" cy="2191628"/>
          </a:xfrm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693F29CA-A454-4BA6-850B-72EF96CC5CDF}"/>
                </a:ext>
              </a:extLst>
            </p:cNvPr>
            <p:cNvSpPr/>
            <p:nvPr/>
          </p:nvSpPr>
          <p:spPr>
            <a:xfrm rot="18236258">
              <a:off x="6856637" y="2543900"/>
              <a:ext cx="1581151" cy="91440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5400" b="1" dirty="0"/>
                <a:t>→</a:t>
              </a: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37C09B74-D491-4EF1-B9E0-92A53AE5BDA5}"/>
                </a:ext>
              </a:extLst>
            </p:cNvPr>
            <p:cNvSpPr/>
            <p:nvPr/>
          </p:nvSpPr>
          <p:spPr>
            <a:xfrm>
              <a:off x="6826527" y="2089952"/>
              <a:ext cx="1641371" cy="1822296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261B7A3E-91BE-4FA6-A1E3-91D18E580308}"/>
                </a:ext>
              </a:extLst>
            </p:cNvPr>
            <p:cNvSpPr txBox="1"/>
            <p:nvPr/>
          </p:nvSpPr>
          <p:spPr>
            <a:xfrm>
              <a:off x="7017071" y="3912248"/>
              <a:ext cx="12602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agent </a:t>
              </a:r>
              <a:r>
                <a:rPr lang="en-US" altLang="zh-CN" dirty="0" err="1"/>
                <a:t>i</a:t>
              </a:r>
              <a:r>
                <a:rPr lang="en-US" altLang="zh-CN" dirty="0"/>
                <a:t> at t</a:t>
              </a:r>
              <a:endParaRPr lang="zh-CN" altLang="en-US" dirty="0"/>
            </a:p>
          </p:txBody>
        </p:sp>
      </p:grpSp>
      <p:pic>
        <p:nvPicPr>
          <p:cNvPr id="31" name="图片 30">
            <a:extLst>
              <a:ext uri="{FF2B5EF4-FFF2-40B4-BE49-F238E27FC236}">
                <a16:creationId xmlns:a16="http://schemas.microsoft.com/office/drawing/2014/main" id="{1B7762F4-DC69-4603-BB92-4D7E3AA3CABE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 rot="1523715">
            <a:off x="7347644" y="1884245"/>
            <a:ext cx="2005758" cy="1993565"/>
          </a:xfrm>
          <a:prstGeom prst="rect">
            <a:avLst/>
          </a:prstGeom>
        </p:spPr>
      </p:pic>
      <p:sp>
        <p:nvSpPr>
          <p:cNvPr id="32" name="文本框 31">
            <a:extLst>
              <a:ext uri="{FF2B5EF4-FFF2-40B4-BE49-F238E27FC236}">
                <a16:creationId xmlns:a16="http://schemas.microsoft.com/office/drawing/2014/main" id="{24BD1AD7-DE3A-47D7-BA4A-599360006E5F}"/>
              </a:ext>
            </a:extLst>
          </p:cNvPr>
          <p:cNvSpPr txBox="1"/>
          <p:nvPr/>
        </p:nvSpPr>
        <p:spPr>
          <a:xfrm rot="1517863">
            <a:off x="8059299" y="1535954"/>
            <a:ext cx="15295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agent </a:t>
            </a:r>
            <a:r>
              <a:rPr lang="en-US" altLang="zh-CN" dirty="0" err="1"/>
              <a:t>i</a:t>
            </a:r>
            <a:r>
              <a:rPr lang="en-US" altLang="zh-CN" dirty="0"/>
              <a:t> at t+1</a:t>
            </a:r>
            <a:endParaRPr lang="zh-CN" altLang="en-US" dirty="0"/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BB79FC9F-1DF0-48F7-8453-6F4D63B7C12B}"/>
              </a:ext>
            </a:extLst>
          </p:cNvPr>
          <p:cNvGrpSpPr/>
          <p:nvPr/>
        </p:nvGrpSpPr>
        <p:grpSpPr>
          <a:xfrm rot="11517909">
            <a:off x="9891489" y="3178346"/>
            <a:ext cx="1641371" cy="2135870"/>
            <a:chOff x="6826527" y="1776378"/>
            <a:chExt cx="1641371" cy="2135870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AF808C7D-20ED-44AA-902B-537978D566AA}"/>
                </a:ext>
              </a:extLst>
            </p:cNvPr>
            <p:cNvSpPr/>
            <p:nvPr/>
          </p:nvSpPr>
          <p:spPr>
            <a:xfrm rot="18236258">
              <a:off x="6856637" y="2543900"/>
              <a:ext cx="1581151" cy="914400"/>
            </a:xfrm>
            <a:prstGeom prst="rect">
              <a:avLst/>
            </a:prstGeom>
            <a:solidFill>
              <a:srgbClr val="92D050">
                <a:alpha val="50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5400" b="1" dirty="0"/>
                <a:t>→</a:t>
              </a:r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E4B52F04-44F2-4C50-A478-A487E1D48124}"/>
                </a:ext>
              </a:extLst>
            </p:cNvPr>
            <p:cNvSpPr/>
            <p:nvPr/>
          </p:nvSpPr>
          <p:spPr>
            <a:xfrm>
              <a:off x="6826527" y="2089952"/>
              <a:ext cx="1641371" cy="1822296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8CEE6CCC-2CAE-40FE-8A2F-1308DA57DC6A}"/>
                </a:ext>
              </a:extLst>
            </p:cNvPr>
            <p:cNvSpPr txBox="1"/>
            <p:nvPr/>
          </p:nvSpPr>
          <p:spPr>
            <a:xfrm rot="10790063">
              <a:off x="7071982" y="1776378"/>
              <a:ext cx="12602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agent j at t</a:t>
              </a:r>
              <a:endParaRPr lang="zh-CN" altLang="en-US" dirty="0"/>
            </a:p>
          </p:txBody>
        </p:sp>
      </p:grpSp>
      <p:sp>
        <p:nvSpPr>
          <p:cNvPr id="50" name="文本框 49">
            <a:extLst>
              <a:ext uri="{FF2B5EF4-FFF2-40B4-BE49-F238E27FC236}">
                <a16:creationId xmlns:a16="http://schemas.microsoft.com/office/drawing/2014/main" id="{E95C0BC5-2E30-4168-8354-D8088259DBBD}"/>
              </a:ext>
            </a:extLst>
          </p:cNvPr>
          <p:cNvSpPr txBox="1"/>
          <p:nvPr/>
        </p:nvSpPr>
        <p:spPr>
          <a:xfrm rot="20115048">
            <a:off x="9420566" y="4008319"/>
            <a:ext cx="15295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agent j at t+1</a:t>
            </a:r>
            <a:endParaRPr lang="zh-CN" altLang="en-US" dirty="0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173FA51C-E950-4091-8EAB-9214362DC449}"/>
              </a:ext>
            </a:extLst>
          </p:cNvPr>
          <p:cNvSpPr txBox="1"/>
          <p:nvPr/>
        </p:nvSpPr>
        <p:spPr>
          <a:xfrm>
            <a:off x="7159152" y="5379273"/>
            <a:ext cx="388119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相互检查</a:t>
            </a:r>
            <a:r>
              <a:rPr lang="en-US" altLang="zh-CN" dirty="0"/>
              <a:t>t</a:t>
            </a:r>
            <a:r>
              <a:rPr lang="zh-CN" altLang="en-US" dirty="0"/>
              <a:t>和</a:t>
            </a:r>
            <a:r>
              <a:rPr lang="en-US" altLang="zh-CN" dirty="0"/>
              <a:t>t+1</a:t>
            </a:r>
            <a:r>
              <a:rPr lang="zh-CN" altLang="en-US" dirty="0"/>
              <a:t>时刻自己</a:t>
            </a:r>
            <a:r>
              <a:rPr lang="en-US" altLang="zh-CN" dirty="0"/>
              <a:t>corners</a:t>
            </a:r>
            <a:r>
              <a:rPr lang="zh-CN" altLang="en-US" dirty="0"/>
              <a:t>是否</a:t>
            </a:r>
            <a:endParaRPr lang="en-US" altLang="zh-CN" dirty="0"/>
          </a:p>
          <a:p>
            <a:r>
              <a:rPr lang="zh-CN" altLang="en-US" dirty="0"/>
              <a:t>在对应时刻对方</a:t>
            </a:r>
            <a:r>
              <a:rPr lang="en-US" altLang="zh-CN" dirty="0"/>
              <a:t>bounding box</a:t>
            </a:r>
            <a:r>
              <a:rPr lang="zh-CN" altLang="en-US" dirty="0"/>
              <a:t>内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只要有一个检测撞了就是撞了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AE89105E-A6BD-4F2D-87DD-72E40FA7B719}"/>
              </a:ext>
            </a:extLst>
          </p:cNvPr>
          <p:cNvSpPr/>
          <p:nvPr/>
        </p:nvSpPr>
        <p:spPr>
          <a:xfrm>
            <a:off x="6826526" y="1956075"/>
            <a:ext cx="2371899" cy="1956174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D8C36863-867B-41FA-A6B1-32AD83050BB4}"/>
              </a:ext>
            </a:extLst>
          </p:cNvPr>
          <p:cNvSpPr/>
          <p:nvPr/>
        </p:nvSpPr>
        <p:spPr>
          <a:xfrm>
            <a:off x="8972550" y="2743200"/>
            <a:ext cx="2658045" cy="2228187"/>
          </a:xfrm>
          <a:prstGeom prst="rect">
            <a:avLst/>
          </a:prstGeom>
          <a:noFill/>
          <a:ln w="254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B0D481A3-8646-4EC6-808A-D805579DBC00}"/>
              </a:ext>
            </a:extLst>
          </p:cNvPr>
          <p:cNvSpPr txBox="1"/>
          <p:nvPr/>
        </p:nvSpPr>
        <p:spPr>
          <a:xfrm>
            <a:off x="6588502" y="913045"/>
            <a:ext cx="3005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AABB</a:t>
            </a:r>
            <a:r>
              <a:rPr lang="zh-CN" altLang="en-US" dirty="0"/>
              <a:t>框是同时包含</a:t>
            </a:r>
            <a:r>
              <a:rPr lang="en-US" altLang="zh-CN" dirty="0"/>
              <a:t>t</a:t>
            </a:r>
            <a:r>
              <a:rPr lang="zh-CN" altLang="en-US" dirty="0"/>
              <a:t>和</a:t>
            </a:r>
            <a:r>
              <a:rPr lang="en-US" altLang="zh-CN" dirty="0"/>
              <a:t>t+1</a:t>
            </a:r>
            <a:r>
              <a:rPr lang="zh-CN" altLang="en-US" dirty="0"/>
              <a:t>的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A26D1CC8-B0C8-4EB2-AF41-2DD842A34E7B}"/>
              </a:ext>
            </a:extLst>
          </p:cNvPr>
          <p:cNvSpPr txBox="1"/>
          <p:nvPr/>
        </p:nvSpPr>
        <p:spPr>
          <a:xfrm>
            <a:off x="4610100" y="369332"/>
            <a:ext cx="71641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对</a:t>
            </a:r>
            <a:r>
              <a:rPr lang="en-US" altLang="zh-CN" dirty="0"/>
              <a:t>t0</a:t>
            </a:r>
            <a:r>
              <a:rPr lang="zh-CN" altLang="en-US" dirty="0"/>
              <a:t>，除了</a:t>
            </a:r>
            <a:r>
              <a:rPr lang="en-US" altLang="zh-CN" dirty="0"/>
              <a:t>AABB</a:t>
            </a:r>
            <a:r>
              <a:rPr lang="zh-CN" altLang="en-US" dirty="0"/>
              <a:t>框是单独状态下的，其它碰撞检测和下面说的一样。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C2E8A5E1-AF96-4117-8D3D-785F9BE5D395}"/>
              </a:ext>
            </a:extLst>
          </p:cNvPr>
          <p:cNvSpPr txBox="1"/>
          <p:nvPr/>
        </p:nvSpPr>
        <p:spPr>
          <a:xfrm>
            <a:off x="101600" y="6244665"/>
            <a:ext cx="6121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zh-CN" altLang="en-US" b="0" i="0" dirty="0">
                <a:effectLst/>
                <a:latin typeface="inherit"/>
              </a:rPr>
              <a:t>在二维平面上检测到碰撞后，进一步检查这些碰撞是否在三维空间中实际发生。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0CA9F35-782F-47A9-80E2-50C09F566C22}"/>
              </a:ext>
            </a:extLst>
          </p:cNvPr>
          <p:cNvSpPr txBox="1"/>
          <p:nvPr/>
        </p:nvSpPr>
        <p:spPr>
          <a:xfrm>
            <a:off x="8915097" y="1272092"/>
            <a:ext cx="32769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EFB080"/>
                </a:solidFill>
                <a:effectLst/>
                <a:latin typeface="Consolas" panose="020B0609020204030204" pitchFamily="49" charset="0"/>
              </a:rPr>
              <a:t>_check_one_way_collision</a:t>
            </a:r>
            <a:endParaRPr lang="en-US" altLang="zh-CN" b="0" dirty="0">
              <a:solidFill>
                <a:srgbClr val="D8DEE9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4807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0834B9FC-4B8F-4B10-9615-FF8ABC419F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493" y="495300"/>
            <a:ext cx="5067300" cy="58674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D9E90139-D062-47D1-BE6C-F57C54FC5EEA}"/>
              </a:ext>
            </a:extLst>
          </p:cNvPr>
          <p:cNvSpPr txBox="1"/>
          <p:nvPr/>
        </p:nvSpPr>
        <p:spPr>
          <a:xfrm>
            <a:off x="10239469" y="0"/>
            <a:ext cx="1952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hyper-parameters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80652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>
            <a:extLst>
              <a:ext uri="{FF2B5EF4-FFF2-40B4-BE49-F238E27FC236}">
                <a16:creationId xmlns:a16="http://schemas.microsoft.com/office/drawing/2014/main" id="{129361C2-FC2A-4658-A997-54B6F7EB9686}"/>
              </a:ext>
            </a:extLst>
          </p:cNvPr>
          <p:cNvGrpSpPr/>
          <p:nvPr/>
        </p:nvGrpSpPr>
        <p:grpSpPr>
          <a:xfrm>
            <a:off x="2823619" y="1228397"/>
            <a:ext cx="6544761" cy="4401205"/>
            <a:chOff x="363034" y="1042498"/>
            <a:chExt cx="6544761" cy="4401205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660FCA36-2ADA-4DA4-A43F-9AA0ADE1C13B}"/>
                </a:ext>
              </a:extLst>
            </p:cNvPr>
            <p:cNvSpPr/>
            <p:nvPr/>
          </p:nvSpPr>
          <p:spPr>
            <a:xfrm>
              <a:off x="2569674" y="1105361"/>
              <a:ext cx="1341423" cy="24360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generate</a:t>
              </a:r>
              <a:endPara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6" name="直接箭头连接符 5">
              <a:extLst>
                <a:ext uri="{FF2B5EF4-FFF2-40B4-BE49-F238E27FC236}">
                  <a16:creationId xmlns:a16="http://schemas.microsoft.com/office/drawing/2014/main" id="{3C7BB3DB-58A0-48F4-9489-E894ACC3C53A}"/>
                </a:ext>
              </a:extLst>
            </p:cNvPr>
            <p:cNvCxnSpPr>
              <a:cxnSpLocks/>
              <a:stCxn id="4" idx="3"/>
            </p:cNvCxnSpPr>
            <p:nvPr/>
          </p:nvCxnSpPr>
          <p:spPr>
            <a:xfrm>
              <a:off x="3911097" y="1227164"/>
              <a:ext cx="3600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A1E8961D-995F-4CB7-8EB5-5F064310D609}"/>
                </a:ext>
              </a:extLst>
            </p:cNvPr>
            <p:cNvSpPr txBox="1"/>
            <p:nvPr/>
          </p:nvSpPr>
          <p:spPr>
            <a:xfrm>
              <a:off x="4271097" y="1042498"/>
              <a:ext cx="2636698" cy="44012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400" b="1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observation: BxMx151</a:t>
              </a:r>
            </a:p>
            <a:p>
              <a:r>
                <a:rPr lang="en-US" altLang="zh-CN" sz="1400" b="1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 </a:t>
              </a:r>
            </a:p>
            <a:p>
              <a:r>
                <a:rPr lang="en-US" altLang="zh-CN" sz="1400" b="1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B=38400	#</a:t>
              </a:r>
              <a:r>
                <a:rPr lang="zh-CN" altLang="en-US" sz="1400" b="1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世界数量</a:t>
              </a:r>
              <a:endParaRPr lang="en-US" altLang="zh-CN" sz="1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endParaRPr>
            </a:p>
            <a:p>
              <a:r>
                <a:rPr lang="en-US" altLang="zh-CN" sz="1400" b="1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M=1-150	#</a:t>
              </a:r>
              <a:r>
                <a:rPr lang="zh-CN" altLang="en-US" sz="1400" b="1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最多的</a:t>
              </a:r>
              <a:r>
                <a:rPr lang="en-US" altLang="zh-CN" sz="1400" b="1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agent</a:t>
              </a:r>
              <a:r>
                <a:rPr lang="zh-CN" altLang="en-US" sz="1400" b="1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数目</a:t>
              </a:r>
              <a:endPara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altLang="zh-CN" sz="1400" b="1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[</a:t>
              </a:r>
            </a:p>
            <a:p>
              <a:r>
                <a:rPr lang="en-US" altLang="zh-CN" sz="1400" b="1" dirty="0" err="1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local_state_dim</a:t>
              </a:r>
              <a:r>
                <a:rPr lang="en-US" altLang="zh-CN" sz="1400" b="1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: </a:t>
              </a:r>
              <a:endParaRPr lang="en-US" altLang="zh-CN" sz="1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endParaRPr>
            </a:p>
            <a:p>
              <a:r>
                <a:rPr lang="en-US" altLang="zh-CN" sz="1400" b="1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[x, y, yaw, speed]:4</a:t>
              </a:r>
              <a:endParaRPr lang="en-US" altLang="zh-CN" sz="1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altLang="zh-CN" sz="1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altLang="zh-CN" sz="1400" b="1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  neighbor_feature_dim: 5</a:t>
              </a:r>
            </a:p>
            <a:p>
              <a:r>
                <a:rPr lang="en-US" altLang="zh-CN" sz="1400" b="1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  </a:t>
              </a:r>
              <a:r>
                <a:rPr lang="en-US" altLang="zh-CN" sz="1400" b="1" dirty="0" err="1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num_neighbors</a:t>
              </a:r>
              <a:r>
                <a:rPr lang="en-US" altLang="zh-CN" sz="1400" b="1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: M-1</a:t>
              </a:r>
            </a:p>
            <a:p>
              <a:r>
                <a:rPr lang="en-US" altLang="zh-CN" sz="1400" b="1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[x, y, yaw, </a:t>
              </a:r>
              <a:r>
                <a:rPr lang="en-US" altLang="zh-CN" sz="1400" b="1" dirty="0" err="1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speed,activate</a:t>
              </a:r>
              <a:r>
                <a:rPr lang="en-US" altLang="zh-CN" sz="1400" b="1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]:5M-5</a:t>
              </a:r>
              <a:endParaRPr lang="en-US" altLang="zh-CN" sz="1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altLang="zh-CN" sz="1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altLang="zh-CN" sz="1400" b="1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  </a:t>
              </a:r>
              <a:r>
                <a:rPr lang="en-US" altLang="zh-CN" sz="1400" b="1" dirty="0" err="1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waypoint_feature_dim</a:t>
              </a:r>
              <a:r>
                <a:rPr lang="en-US" altLang="zh-CN" sz="1400" b="1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: 2</a:t>
              </a:r>
            </a:p>
            <a:p>
              <a:r>
                <a:rPr lang="en-US" altLang="zh-CN" sz="1400" b="1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  </a:t>
              </a:r>
              <a:r>
                <a:rPr lang="en-US" altLang="zh-CN" sz="1400" b="1" dirty="0" err="1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num_w_lanes</a:t>
              </a:r>
              <a:r>
                <a:rPr lang="en-US" altLang="zh-CN" sz="1400" b="1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: 25</a:t>
              </a:r>
            </a:p>
            <a:p>
              <a:r>
                <a:rPr lang="en-US" altLang="zh-CN" sz="1400" b="1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  </a:t>
              </a:r>
              <a:r>
                <a:rPr lang="en-US" altLang="zh-CN" sz="1400" b="1" dirty="0" err="1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num_w_boundaries</a:t>
              </a:r>
              <a:r>
                <a:rPr lang="en-US" altLang="zh-CN" sz="1400" b="1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: 26</a:t>
              </a:r>
            </a:p>
            <a:p>
              <a:r>
                <a:rPr lang="en-US" altLang="zh-CN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</a:t>
              </a:r>
              <a:r>
                <a:rPr lang="en-US" altLang="zh-CN" sz="14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x,y</a:t>
              </a:r>
              <a:r>
                <a:rPr lang="en-US" altLang="zh-CN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,….,</a:t>
              </a:r>
              <a:r>
                <a:rPr lang="en-US" altLang="zh-CN" sz="14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x,y</a:t>
              </a:r>
              <a:r>
                <a:rPr lang="en-US" altLang="zh-CN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]</a:t>
              </a:r>
              <a:r>
                <a:rPr lang="zh-CN" altLang="en-US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：</a:t>
              </a:r>
              <a:r>
                <a:rPr lang="en-US" altLang="zh-CN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102</a:t>
              </a:r>
              <a:endParaRPr lang="en-US" altLang="zh-CN" sz="1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altLang="zh-CN" sz="1400" b="1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]</a:t>
              </a:r>
            </a:p>
            <a:p>
              <a:endPara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zh-CN" altLang="en-US" sz="1400" b="1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总长度：</a:t>
              </a:r>
              <a:r>
                <a:rPr lang="en-US" altLang="zh-CN" sz="1400" b="1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B x M x (5M+101)</a:t>
              </a:r>
            </a:p>
          </p:txBody>
        </p:sp>
        <p:cxnSp>
          <p:nvCxnSpPr>
            <p:cNvPr id="10" name="直接箭头连接符 9">
              <a:extLst>
                <a:ext uri="{FF2B5EF4-FFF2-40B4-BE49-F238E27FC236}">
                  <a16:creationId xmlns:a16="http://schemas.microsoft.com/office/drawing/2014/main" id="{1C1B7043-3CF6-4BCF-A4D3-A9B23BEFF36C}"/>
                </a:ext>
              </a:extLst>
            </p:cNvPr>
            <p:cNvCxnSpPr>
              <a:cxnSpLocks/>
            </p:cNvCxnSpPr>
            <p:nvPr/>
          </p:nvCxnSpPr>
          <p:spPr>
            <a:xfrm>
              <a:off x="2209674" y="1227164"/>
              <a:ext cx="3600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A19C39C5-4FF4-473C-82CA-9D588B3B9E94}"/>
                </a:ext>
              </a:extLst>
            </p:cNvPr>
            <p:cNvSpPr txBox="1"/>
            <p:nvPr/>
          </p:nvSpPr>
          <p:spPr>
            <a:xfrm>
              <a:off x="363034" y="1042498"/>
              <a:ext cx="3071858" cy="203132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400" b="1" dirty="0" err="1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agents_state</a:t>
              </a:r>
              <a:r>
                <a:rPr lang="zh-CN" altLang="en-US" sz="1400" b="1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：</a:t>
              </a:r>
              <a:r>
                <a:rPr lang="en-US" altLang="zh-CN" sz="1400" b="1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BxMx7</a:t>
              </a:r>
            </a:p>
            <a:p>
              <a:endParaRPr lang="en-US" altLang="zh-CN" sz="1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endParaRPr>
            </a:p>
            <a:p>
              <a:r>
                <a:rPr lang="en-US" altLang="zh-CN" sz="1400" b="1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B=38400 	#</a:t>
              </a:r>
              <a:r>
                <a:rPr lang="zh-CN" altLang="en-US" sz="1400" b="1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世界数量</a:t>
              </a:r>
              <a:endParaRPr lang="en-US" altLang="zh-CN" sz="1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endParaRPr>
            </a:p>
            <a:p>
              <a:r>
                <a:rPr lang="en-US" altLang="zh-CN" sz="1400" b="1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M=1-150    	#</a:t>
              </a:r>
              <a:r>
                <a:rPr lang="zh-CN" altLang="en-US" sz="1400" b="1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最多的</a:t>
              </a:r>
              <a:r>
                <a:rPr lang="en-US" altLang="zh-CN" sz="1400" b="1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agent</a:t>
              </a:r>
              <a:r>
                <a:rPr lang="zh-CN" altLang="en-US" sz="1400" b="1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数目</a:t>
              </a:r>
              <a:endParaRPr lang="en-US" altLang="zh-CN" sz="1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endParaRPr>
            </a:p>
            <a:p>
              <a:endParaRPr lang="en-US" altLang="zh-CN" sz="1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endParaRPr>
            </a:p>
            <a:p>
              <a:r>
                <a:rPr lang="en-US" altLang="zh-CN" sz="1400" b="1" dirty="0" err="1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agents_state</a:t>
              </a:r>
              <a:r>
                <a:rPr lang="en-US" altLang="zh-CN" sz="1400" b="1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:</a:t>
              </a:r>
            </a:p>
            <a:p>
              <a:r>
                <a:rPr lang="en-US" altLang="zh-CN" sz="1400" b="1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[x, y, yaw, speed, length, width, active]</a:t>
              </a:r>
            </a:p>
            <a:p>
              <a:endParaRPr lang="en-US" altLang="zh-CN" sz="1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endParaRPr>
            </a:p>
            <a:p>
              <a:r>
                <a:rPr lang="zh-CN" altLang="en-US" sz="1400" b="1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总长度：</a:t>
              </a:r>
              <a:r>
                <a:rPr lang="en-US" altLang="zh-CN" sz="1400" b="1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B x M</a:t>
              </a:r>
              <a:r>
                <a:rPr lang="zh-CN" altLang="en-US" sz="1400" b="1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sz="1400" b="1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x 7</a:t>
              </a:r>
            </a:p>
          </p:txBody>
        </p:sp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29D74B3A-F5B6-4295-9E93-566209B55E04}"/>
              </a:ext>
            </a:extLst>
          </p:cNvPr>
          <p:cNvSpPr txBox="1"/>
          <p:nvPr/>
        </p:nvSpPr>
        <p:spPr>
          <a:xfrm>
            <a:off x="10239469" y="0"/>
            <a:ext cx="1952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E914D7C0-89DD-4D6C-A646-AF3B82FBF46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79"/>
          <a:stretch/>
        </p:blipFill>
        <p:spPr>
          <a:xfrm>
            <a:off x="66021" y="3535418"/>
            <a:ext cx="6305661" cy="2031322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6354BDB5-9B9F-4337-AB76-F2FB38B286F0}"/>
              </a:ext>
            </a:extLst>
          </p:cNvPr>
          <p:cNvSpPr/>
          <p:nvPr/>
        </p:nvSpPr>
        <p:spPr>
          <a:xfrm>
            <a:off x="624689" y="4551079"/>
            <a:ext cx="1448555" cy="60939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5469D74-8A1A-4404-93A8-417C8D3DB141}"/>
              </a:ext>
            </a:extLst>
          </p:cNvPr>
          <p:cNvSpPr/>
          <p:nvPr/>
        </p:nvSpPr>
        <p:spPr>
          <a:xfrm>
            <a:off x="526474" y="3651537"/>
            <a:ext cx="1884218" cy="60939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41461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6356CA7A-24BB-4D72-92AD-1D5D392A62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149" y="520574"/>
            <a:ext cx="5816851" cy="5816851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7EF892AE-914E-4A7F-BCF3-FA38296095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520573"/>
            <a:ext cx="5816851" cy="5816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6046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44AED84-BE50-41B1-BF7B-07FFAB3368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364" y="669956"/>
            <a:ext cx="5187636" cy="5187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3876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19394</TotalTime>
  <Words>1360</Words>
  <Application>Microsoft Office PowerPoint</Application>
  <PresentationFormat>宽屏</PresentationFormat>
  <Paragraphs>347</Paragraphs>
  <Slides>28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9" baseType="lpstr">
      <vt:lpstr>-apple-system</vt:lpstr>
      <vt:lpstr>inherit</vt:lpstr>
      <vt:lpstr>等线</vt:lpstr>
      <vt:lpstr>等线 Light</vt:lpstr>
      <vt:lpstr>Arial</vt:lpstr>
      <vt:lpstr>BankGothic Md BT</vt:lpstr>
      <vt:lpstr>Cambria Math</vt:lpstr>
      <vt:lpstr>Consolas</vt:lpstr>
      <vt:lpstr>Times New Roman</vt:lpstr>
      <vt:lpstr>Office 主题​​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宏飞 万</dc:creator>
  <cp:lastModifiedBy>宏飞 万</cp:lastModifiedBy>
  <cp:revision>553</cp:revision>
  <dcterms:created xsi:type="dcterms:W3CDTF">2025-06-24T06:25:07Z</dcterms:created>
  <dcterms:modified xsi:type="dcterms:W3CDTF">2025-08-29T05:56:41Z</dcterms:modified>
</cp:coreProperties>
</file>