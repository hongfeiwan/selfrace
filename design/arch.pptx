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85" r:id="rId2"/>
    <p:sldId id="286" r:id="rId3"/>
    <p:sldId id="287" r:id="rId4"/>
    <p:sldId id="288" r:id="rId5"/>
    <p:sldId id="289" r:id="rId6"/>
    <p:sldId id="290" r:id="rId7"/>
    <p:sldId id="291" r:id="rId8"/>
    <p:sldId id="256" r:id="rId9"/>
    <p:sldId id="257" r:id="rId10"/>
    <p:sldId id="270" r:id="rId11"/>
    <p:sldId id="268" r:id="rId12"/>
    <p:sldId id="260" r:id="rId13"/>
    <p:sldId id="259" r:id="rId14"/>
    <p:sldId id="269" r:id="rId15"/>
    <p:sldId id="276" r:id="rId16"/>
    <p:sldId id="258" r:id="rId17"/>
    <p:sldId id="277" r:id="rId18"/>
    <p:sldId id="274" r:id="rId19"/>
    <p:sldId id="265" r:id="rId20"/>
    <p:sldId id="293" r:id="rId21"/>
    <p:sldId id="292" r:id="rId22"/>
    <p:sldId id="271" r:id="rId23"/>
    <p:sldId id="272" r:id="rId24"/>
    <p:sldId id="280" r:id="rId25"/>
    <p:sldId id="281" r:id="rId26"/>
    <p:sldId id="282" r:id="rId27"/>
    <p:sldId id="283" r:id="rId28"/>
    <p:sldId id="284" r:id="rId29"/>
    <p:sldId id="266" r:id="rId30"/>
    <p:sldId id="261" r:id="rId31"/>
    <p:sldId id="262" r:id="rId32"/>
    <p:sldId id="263" r:id="rId33"/>
    <p:sldId id="273" r:id="rId34"/>
    <p:sldId id="275" r:id="rId35"/>
    <p:sldId id="278" r:id="rId3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宏飞 万" initials="宏飞" lastIdx="1" clrIdx="0">
    <p:extLst>
      <p:ext uri="{19B8F6BF-5375-455C-9EA6-DF929625EA0E}">
        <p15:presenceInfo xmlns:p15="http://schemas.microsoft.com/office/powerpoint/2012/main" userId="e76c8b1eb7ef5f1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A5A5A5"/>
    <a:srgbClr val="FA080C"/>
    <a:srgbClr val="FF0000"/>
    <a:srgbClr val="FF4EF9"/>
    <a:srgbClr val="8BCFEC"/>
    <a:srgbClr val="D3D7D3"/>
    <a:srgbClr val="F7CFC7"/>
    <a:srgbClr val="0000FF"/>
    <a:srgbClr val="00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2" autoAdjust="0"/>
    <p:restoredTop sz="94411" autoAdjust="0"/>
  </p:normalViewPr>
  <p:slideViewPr>
    <p:cSldViewPr snapToGrid="0">
      <p:cViewPr>
        <p:scale>
          <a:sx n="66" d="100"/>
          <a:sy n="66" d="100"/>
        </p:scale>
        <p:origin x="4168" y="19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0" u="none" strike="noStrike" kern="1200" spc="0" baseline="0">
              <a:solidFill>
                <a:schemeClr val="tx1"/>
              </a:solidFill>
              <a:latin typeface="+mn-ea"/>
              <a:ea typeface="+mn-ea"/>
              <a:cs typeface="Adobe Thai" panose="02040503050201020203" pitchFamily="18" charset="-34"/>
            </a:defRPr>
          </a:pPr>
          <a:endParaRPr lang="zh-CN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Self-Race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E8BF-41A5-8D3D-E20FF630D69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815-43F3-B84C-A78AD036738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815-43F3-B84C-A78AD036738C}"/>
              </c:ext>
            </c:extLst>
          </c:dPt>
          <c:cat>
            <c:strRef>
              <c:f>Sheet1!$A$2:$A$4</c:f>
              <c:strCache>
                <c:ptCount val="3"/>
                <c:pt idx="0">
                  <c:v>自博弈训练</c:v>
                </c:pt>
                <c:pt idx="1">
                  <c:v>海量数据</c:v>
                </c:pt>
                <c:pt idx="2">
                  <c:v>GPU闭环自动化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8.1999999999999993</c:v>
                </c:pt>
                <c:pt idx="2">
                  <c:v>8.1999999999999993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BF-41A5-8D3D-E20FF630D6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e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image" Target="../media/image26.wmf"/><Relationship Id="rId1" Type="http://schemas.openxmlformats.org/officeDocument/2006/relationships/image" Target="../media/image25.wmf"/><Relationship Id="rId4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7.wmf"/><Relationship Id="rId3" Type="http://schemas.openxmlformats.org/officeDocument/2006/relationships/image" Target="../media/image32.wmf"/><Relationship Id="rId7" Type="http://schemas.openxmlformats.org/officeDocument/2006/relationships/image" Target="../media/image36.emf"/><Relationship Id="rId12" Type="http://schemas.openxmlformats.org/officeDocument/2006/relationships/image" Target="../media/image41.wmf"/><Relationship Id="rId2" Type="http://schemas.openxmlformats.org/officeDocument/2006/relationships/image" Target="../media/image31.wmf"/><Relationship Id="rId1" Type="http://schemas.openxmlformats.org/officeDocument/2006/relationships/image" Target="../media/image30.wmf"/><Relationship Id="rId6" Type="http://schemas.openxmlformats.org/officeDocument/2006/relationships/image" Target="../media/image35.wmf"/><Relationship Id="rId11" Type="http://schemas.openxmlformats.org/officeDocument/2006/relationships/image" Target="../media/image40.wmf"/><Relationship Id="rId5" Type="http://schemas.openxmlformats.org/officeDocument/2006/relationships/image" Target="../media/image34.wmf"/><Relationship Id="rId10" Type="http://schemas.openxmlformats.org/officeDocument/2006/relationships/image" Target="../media/image39.wmf"/><Relationship Id="rId4" Type="http://schemas.openxmlformats.org/officeDocument/2006/relationships/image" Target="../media/image33.wmf"/><Relationship Id="rId9" Type="http://schemas.openxmlformats.org/officeDocument/2006/relationships/image" Target="../media/image3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2025/9/26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4.emf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wmf"/><Relationship Id="rId13" Type="http://schemas.openxmlformats.org/officeDocument/2006/relationships/image" Target="../media/image28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3.bin"/><Relationship Id="rId12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25.wmf"/><Relationship Id="rId11" Type="http://schemas.openxmlformats.org/officeDocument/2006/relationships/image" Target="../media/image27.wmf"/><Relationship Id="rId5" Type="http://schemas.openxmlformats.org/officeDocument/2006/relationships/oleObject" Target="../embeddings/oleObject2.bin"/><Relationship Id="rId10" Type="http://schemas.openxmlformats.org/officeDocument/2006/relationships/oleObject" Target="../embeddings/oleObject4.bin"/><Relationship Id="rId4" Type="http://schemas.openxmlformats.org/officeDocument/2006/relationships/image" Target="../media/image29.png"/><Relationship Id="rId9" Type="http://schemas.openxmlformats.org/officeDocument/2006/relationships/image" Target="../media/image19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wmf"/><Relationship Id="rId13" Type="http://schemas.openxmlformats.org/officeDocument/2006/relationships/image" Target="../media/image34.wmf"/><Relationship Id="rId18" Type="http://schemas.openxmlformats.org/officeDocument/2006/relationships/oleObject" Target="../embeddings/oleObject13.bin"/><Relationship Id="rId26" Type="http://schemas.openxmlformats.org/officeDocument/2006/relationships/oleObject" Target="../embeddings/oleObject17.bin"/><Relationship Id="rId3" Type="http://schemas.openxmlformats.org/officeDocument/2006/relationships/oleObject" Target="../embeddings/oleObject6.bin"/><Relationship Id="rId21" Type="http://schemas.openxmlformats.org/officeDocument/2006/relationships/image" Target="../media/image38.wmf"/><Relationship Id="rId7" Type="http://schemas.openxmlformats.org/officeDocument/2006/relationships/oleObject" Target="../embeddings/oleObject8.bin"/><Relationship Id="rId12" Type="http://schemas.openxmlformats.org/officeDocument/2006/relationships/oleObject" Target="../embeddings/oleObject10.bin"/><Relationship Id="rId17" Type="http://schemas.openxmlformats.org/officeDocument/2006/relationships/image" Target="../media/image36.emf"/><Relationship Id="rId25" Type="http://schemas.openxmlformats.org/officeDocument/2006/relationships/image" Target="../media/image4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2.bin"/><Relationship Id="rId20" Type="http://schemas.openxmlformats.org/officeDocument/2006/relationships/oleObject" Target="../embeddings/oleObject14.bin"/><Relationship Id="rId1" Type="http://schemas.openxmlformats.org/officeDocument/2006/relationships/vmlDrawing" Target="../drawings/vmlDrawing3.vml"/><Relationship Id="rId6" Type="http://schemas.openxmlformats.org/officeDocument/2006/relationships/image" Target="../media/image31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6.bin"/><Relationship Id="rId5" Type="http://schemas.openxmlformats.org/officeDocument/2006/relationships/oleObject" Target="../embeddings/oleObject7.bin"/><Relationship Id="rId15" Type="http://schemas.openxmlformats.org/officeDocument/2006/relationships/image" Target="../media/image35.wmf"/><Relationship Id="rId23" Type="http://schemas.openxmlformats.org/officeDocument/2006/relationships/image" Target="../media/image39.wmf"/><Relationship Id="rId10" Type="http://schemas.openxmlformats.org/officeDocument/2006/relationships/image" Target="../media/image33.wmf"/><Relationship Id="rId19" Type="http://schemas.openxmlformats.org/officeDocument/2006/relationships/image" Target="../media/image37.wmf"/><Relationship Id="rId4" Type="http://schemas.openxmlformats.org/officeDocument/2006/relationships/image" Target="../media/image30.wmf"/><Relationship Id="rId9" Type="http://schemas.openxmlformats.org/officeDocument/2006/relationships/oleObject" Target="../embeddings/oleObject9.bin"/><Relationship Id="rId14" Type="http://schemas.openxmlformats.org/officeDocument/2006/relationships/oleObject" Target="../embeddings/oleObject11.bin"/><Relationship Id="rId22" Type="http://schemas.openxmlformats.org/officeDocument/2006/relationships/oleObject" Target="../embeddings/oleObject15.bin"/><Relationship Id="rId27" Type="http://schemas.openxmlformats.org/officeDocument/2006/relationships/image" Target="../media/image41.w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gif"/><Relationship Id="rId2" Type="http://schemas.openxmlformats.org/officeDocument/2006/relationships/image" Target="../media/image5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B9FA38F-A94B-4119-B58B-C82B5C472AC0}"/>
              </a:ext>
            </a:extLst>
          </p:cNvPr>
          <p:cNvGrpSpPr/>
          <p:nvPr/>
        </p:nvGrpSpPr>
        <p:grpSpPr>
          <a:xfrm>
            <a:off x="2147112" y="2057502"/>
            <a:ext cx="7897775" cy="2742996"/>
            <a:chOff x="2147112" y="2271053"/>
            <a:chExt cx="7897775" cy="2742996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C511825-B5A9-46E8-9495-CF64ED4486C7}"/>
                </a:ext>
              </a:extLst>
            </p:cNvPr>
            <p:cNvGrpSpPr/>
            <p:nvPr/>
          </p:nvGrpSpPr>
          <p:grpSpPr>
            <a:xfrm>
              <a:off x="2147112" y="2271053"/>
              <a:ext cx="7897775" cy="2315894"/>
              <a:chOff x="2147112" y="2271053"/>
              <a:chExt cx="7897775" cy="2315894"/>
            </a:xfrm>
          </p:grpSpPr>
          <p:pic>
            <p:nvPicPr>
              <p:cNvPr id="6" name="图形 5" descr="汽车 纯色填充">
                <a:extLst>
                  <a:ext uri="{FF2B5EF4-FFF2-40B4-BE49-F238E27FC236}">
                    <a16:creationId xmlns:a16="http://schemas.microsoft.com/office/drawing/2014/main" id="{E7FF3745-6A63-4413-8F25-C7B18AF969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918598" y="2271053"/>
                <a:ext cx="2315894" cy="2315894"/>
              </a:xfrm>
              <a:prstGeom prst="rect">
                <a:avLst/>
              </a:prstGeom>
            </p:spPr>
          </p:pic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7164499-8C6B-4F2E-AC2E-B435BF9C03FD}"/>
                  </a:ext>
                </a:extLst>
              </p:cNvPr>
              <p:cNvSpPr txBox="1"/>
              <p:nvPr/>
            </p:nvSpPr>
            <p:spPr>
              <a:xfrm>
                <a:off x="2147112" y="2767280"/>
                <a:ext cx="78977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0" b="1" dirty="0">
                    <a:solidFill>
                      <a:srgbClr val="7030A0"/>
                    </a:solidFill>
                    <a:latin typeface="BankGothic Md BT" panose="020B0807020203060204" pitchFamily="34" charset="0"/>
                  </a:rPr>
                  <a:t>Self      Race</a:t>
                </a:r>
                <a:endParaRPr lang="zh-CN" altLang="en-US" sz="8000" b="1" dirty="0">
                  <a:solidFill>
                    <a:srgbClr val="7030A0"/>
                  </a:solidFill>
                  <a:latin typeface="BankGothic Md BT" panose="020B0807020203060204" pitchFamily="34" charset="0"/>
                </a:endParaRPr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C024309-3D70-4D03-BA3C-1FE572C6C8D1}"/>
                </a:ext>
              </a:extLst>
            </p:cNvPr>
            <p:cNvSpPr txBox="1"/>
            <p:nvPr/>
          </p:nvSpPr>
          <p:spPr>
            <a:xfrm>
              <a:off x="2147112" y="4090719"/>
              <a:ext cx="78977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5400" b="1" dirty="0">
                  <a:solidFill>
                    <a:srgbClr val="7030A0"/>
                  </a:solidFill>
                  <a:latin typeface="BankGothic Md BT" panose="020B0807020203060204" pitchFamily="34" charset="0"/>
                </a:rPr>
                <a:t>自博弈强化学习端到端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5456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1133C6C4-046F-4AFE-ADB7-680D21F417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275454"/>
              </p:ext>
            </p:extLst>
          </p:nvPr>
        </p:nvGraphicFramePr>
        <p:xfrm>
          <a:off x="-872066" y="457199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等腰三角形 7">
            <a:extLst>
              <a:ext uri="{FF2B5EF4-FFF2-40B4-BE49-F238E27FC236}">
                <a16:creationId xmlns:a16="http://schemas.microsoft.com/office/drawing/2014/main" id="{B91A15B6-1CE1-4CFA-88F8-34DDCBE7D5AB}"/>
              </a:ext>
            </a:extLst>
          </p:cNvPr>
          <p:cNvSpPr/>
          <p:nvPr/>
        </p:nvSpPr>
        <p:spPr>
          <a:xfrm rot="12611096">
            <a:off x="4155440" y="4328160"/>
            <a:ext cx="1060704" cy="91440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>
            <a:extLst>
              <a:ext uri="{FF2B5EF4-FFF2-40B4-BE49-F238E27FC236}">
                <a16:creationId xmlns:a16="http://schemas.microsoft.com/office/drawing/2014/main" id="{E6DEA5B8-1D10-42B7-8318-3C901CF1AD4B}"/>
              </a:ext>
            </a:extLst>
          </p:cNvPr>
          <p:cNvSpPr/>
          <p:nvPr/>
        </p:nvSpPr>
        <p:spPr>
          <a:xfrm rot="19798869">
            <a:off x="706119" y="3545839"/>
            <a:ext cx="1060704" cy="914400"/>
          </a:xfrm>
          <a:prstGeom prst="triangl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等腰三角形 9">
            <a:extLst>
              <a:ext uri="{FF2B5EF4-FFF2-40B4-BE49-F238E27FC236}">
                <a16:creationId xmlns:a16="http://schemas.microsoft.com/office/drawing/2014/main" id="{1377D970-457D-4A5A-B43E-9F5813C2ADE7}"/>
              </a:ext>
            </a:extLst>
          </p:cNvPr>
          <p:cNvSpPr/>
          <p:nvPr/>
        </p:nvSpPr>
        <p:spPr>
          <a:xfrm rot="5400000">
            <a:off x="3118782" y="953576"/>
            <a:ext cx="1060704" cy="914400"/>
          </a:xfrm>
          <a:prstGeom prst="triangle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BF48465-5D46-434E-AF1B-CBE00C53FE54}"/>
              </a:ext>
            </a:extLst>
          </p:cNvPr>
          <p:cNvSpPr txBox="1"/>
          <p:nvPr/>
        </p:nvSpPr>
        <p:spPr>
          <a:xfrm rot="7152168">
            <a:off x="2253956" y="1776251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自博弈数据驱动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2A5F0A-C76D-406A-BA9C-849EB9EF80F2}"/>
              </a:ext>
            </a:extLst>
          </p:cNvPr>
          <p:cNvSpPr txBox="1"/>
          <p:nvPr/>
        </p:nvSpPr>
        <p:spPr>
          <a:xfrm rot="21007632">
            <a:off x="1346504" y="1644928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高效</a:t>
            </a:r>
            <a:r>
              <a:rPr lang="en-US" altLang="zh-CN" b="1" spc="300" dirty="0"/>
              <a:t>GPU</a:t>
            </a:r>
            <a:r>
              <a:rPr lang="zh-CN" altLang="en-US" b="1" spc="300" dirty="0"/>
              <a:t>自动化训练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467FA9-7116-4B9D-97D2-B185B4B1B19F}"/>
              </a:ext>
            </a:extLst>
          </p:cNvPr>
          <p:cNvSpPr txBox="1"/>
          <p:nvPr/>
        </p:nvSpPr>
        <p:spPr>
          <a:xfrm rot="14240856">
            <a:off x="1670287" y="2492837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海量生成式数据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0739F04-C9A0-46A5-89B6-A04A784A3D98}"/>
              </a:ext>
            </a:extLst>
          </p:cNvPr>
          <p:cNvSpPr txBox="1"/>
          <p:nvPr/>
        </p:nvSpPr>
        <p:spPr>
          <a:xfrm>
            <a:off x="6096000" y="1190114"/>
            <a:ext cx="5152874" cy="3789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自博弈数据驱动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相比人类数据，全流程的</a:t>
            </a:r>
            <a:r>
              <a:rPr lang="en-US" altLang="zh-CN" dirty="0"/>
              <a:t>Self-race</a:t>
            </a:r>
            <a:r>
              <a:rPr lang="zh-CN" altLang="en-US" dirty="0"/>
              <a:t>模拟器数据驱动的算法可实现低成本，高速的自动驾驶迭代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海量数据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通过</a:t>
            </a:r>
            <a:r>
              <a:rPr lang="en-US" altLang="zh-CN" dirty="0"/>
              <a:t>8-GPU</a:t>
            </a:r>
            <a:r>
              <a:rPr lang="zh-CN" altLang="en-US" dirty="0"/>
              <a:t>节点实现低成本</a:t>
            </a:r>
            <a:r>
              <a:rPr lang="en-US" altLang="zh-CN" dirty="0"/>
              <a:t>(5 </a:t>
            </a:r>
            <a:r>
              <a:rPr lang="zh-CN" altLang="en-US" dirty="0"/>
              <a:t>美元</a:t>
            </a:r>
            <a:r>
              <a:rPr lang="en-US" altLang="zh-CN" dirty="0"/>
              <a:t> / </a:t>
            </a:r>
            <a:r>
              <a:rPr lang="zh-CN" altLang="en-US" dirty="0"/>
              <a:t>百万公里</a:t>
            </a:r>
            <a:r>
              <a:rPr lang="en-US" altLang="zh-CN" dirty="0"/>
              <a:t>)</a:t>
            </a:r>
            <a:r>
              <a:rPr lang="zh-CN" altLang="en-US" dirty="0"/>
              <a:t>海量数据回流。</a:t>
            </a:r>
            <a:endParaRPr lang="en-US" altLang="zh-CN" b="1" dirty="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b="1" dirty="0"/>
              <a:t>高效</a:t>
            </a:r>
            <a:r>
              <a:rPr lang="en-US" altLang="zh-CN" b="1" dirty="0"/>
              <a:t>GPU</a:t>
            </a:r>
            <a:r>
              <a:rPr lang="zh-CN" altLang="en-US" b="1" dirty="0"/>
              <a:t>自动化训练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低成本处理海量数据的高效自动化迭代的工具链（基于</a:t>
            </a:r>
            <a:r>
              <a:rPr lang="en-US" altLang="zh-CN" dirty="0" err="1"/>
              <a:t>Cuda</a:t>
            </a:r>
            <a:r>
              <a:rPr lang="zh-CN" altLang="en-US" dirty="0"/>
              <a:t> 编程加速以及高效</a:t>
            </a:r>
            <a:r>
              <a:rPr lang="en-US" altLang="zh-CN" dirty="0" err="1"/>
              <a:t>pytorch</a:t>
            </a:r>
            <a:r>
              <a:rPr lang="zh-CN" altLang="en-US" dirty="0"/>
              <a:t>框架）</a:t>
            </a:r>
          </a:p>
        </p:txBody>
      </p:sp>
    </p:spTree>
    <p:extLst>
      <p:ext uri="{BB962C8B-B14F-4D97-AF65-F5344CB8AC3E}">
        <p14:creationId xmlns:p14="http://schemas.microsoft.com/office/powerpoint/2010/main" val="374674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D724876-177B-4319-9F84-3A132E69F86F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Duffytec </a:t>
            </a:r>
            <a:r>
              <a:rPr lang="zh-CN" altLang="en-US" b="1" dirty="0"/>
              <a:t>端到端模型</a:t>
            </a:r>
            <a:endParaRPr lang="en-US" altLang="zh-CN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5940EE0-BDEB-4602-AFD4-B6C3FC7D7ACA}"/>
              </a:ext>
            </a:extLst>
          </p:cNvPr>
          <p:cNvSpPr txBox="1"/>
          <p:nvPr/>
        </p:nvSpPr>
        <p:spPr>
          <a:xfrm>
            <a:off x="3091170" y="2916535"/>
            <a:ext cx="58828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感知与规划整合进一个大模型中，模仿人类的</a:t>
            </a:r>
            <a:r>
              <a:rPr lang="zh-CN" altLang="en-US" b="1" dirty="0">
                <a:solidFill>
                  <a:srgbClr val="FF0000"/>
                </a:solidFill>
              </a:rPr>
              <a:t>驾驶直觉</a:t>
            </a:r>
            <a:r>
              <a:rPr lang="zh-CN" altLang="en-US" dirty="0"/>
              <a:t>。同时保留</a:t>
            </a:r>
            <a:r>
              <a:rPr lang="en-US" altLang="zh-CN" dirty="0"/>
              <a:t>MLP</a:t>
            </a:r>
            <a:r>
              <a:rPr lang="zh-CN" altLang="en-US" dirty="0"/>
              <a:t>模型，以此保证高质量的大模型训练数据</a:t>
            </a:r>
            <a:r>
              <a:rPr lang="en-US" altLang="zh-CN" dirty="0"/>
              <a:t>+</a:t>
            </a:r>
            <a:r>
              <a:rPr lang="zh-CN" altLang="en-US" dirty="0"/>
              <a:t>低成本的训练方法。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9F1C882-B0C7-4823-BF6C-393AD4118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170" y="4022745"/>
            <a:ext cx="5882804" cy="23488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82A1924-4F5D-428C-ACAB-F3A6F69C3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771" y="5319757"/>
            <a:ext cx="1359237" cy="40476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BFF12B04-D0B1-475D-A538-BBD1C4285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617" y="0"/>
            <a:ext cx="4864503" cy="297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1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211F3B1-969A-43BD-BECC-60427343D35F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4D2829-E92C-4547-A9E3-43A7AAD9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714" y="614714"/>
            <a:ext cx="8428571" cy="5628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89EF817-BF4E-4C3B-B9A1-0329C062897A}"/>
              </a:ext>
            </a:extLst>
          </p:cNvPr>
          <p:cNvSpPr txBox="1"/>
          <p:nvPr/>
        </p:nvSpPr>
        <p:spPr>
          <a:xfrm>
            <a:off x="3548371" y="6304605"/>
            <a:ext cx="6018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数据集上多个考察维度、都达到了该数据集历史最优成绩</a:t>
            </a:r>
          </a:p>
        </p:txBody>
      </p:sp>
    </p:spTree>
    <p:extLst>
      <p:ext uri="{BB962C8B-B14F-4D97-AF65-F5344CB8AC3E}">
        <p14:creationId xmlns:p14="http://schemas.microsoft.com/office/powerpoint/2010/main" val="279992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86F1FBFC-4BFD-4CF2-AD01-1EBA67192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28" y="648047"/>
            <a:ext cx="8657143" cy="556190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D141D11-FD7E-496E-A92A-BE5CAF59C0E6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0B8B5DC-3989-463A-90D8-93840C7578CB}"/>
              </a:ext>
            </a:extLst>
          </p:cNvPr>
          <p:cNvCxnSpPr>
            <a:cxnSpLocks/>
          </p:cNvCxnSpPr>
          <p:nvPr/>
        </p:nvCxnSpPr>
        <p:spPr>
          <a:xfrm>
            <a:off x="10507133" y="825500"/>
            <a:ext cx="0" cy="352636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5E11D0A-CB85-4DB8-B636-1AF0DD93565A}"/>
              </a:ext>
            </a:extLst>
          </p:cNvPr>
          <p:cNvSpPr txBox="1"/>
          <p:nvPr/>
        </p:nvSpPr>
        <p:spPr>
          <a:xfrm>
            <a:off x="2707634" y="6304605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随着训练次数</a:t>
            </a:r>
            <a:r>
              <a:rPr lang="en-US" altLang="zh-CN" b="1" dirty="0"/>
              <a:t>K</a:t>
            </a:r>
            <a:r>
              <a:rPr lang="zh-CN" altLang="en-US" b="1" dirty="0"/>
              <a:t>增加，逐渐学会路口</a:t>
            </a:r>
            <a:r>
              <a:rPr lang="zh-CN" altLang="en-US" b="1" dirty="0">
                <a:solidFill>
                  <a:srgbClr val="FF0000"/>
                </a:solidFill>
              </a:rPr>
              <a:t>复杂并道、跟车、超车</a:t>
            </a:r>
            <a:r>
              <a:rPr lang="zh-CN" altLang="en-US" b="1" dirty="0"/>
              <a:t>等操作</a:t>
            </a:r>
          </a:p>
        </p:txBody>
      </p:sp>
    </p:spTree>
    <p:extLst>
      <p:ext uri="{BB962C8B-B14F-4D97-AF65-F5344CB8AC3E}">
        <p14:creationId xmlns:p14="http://schemas.microsoft.com/office/powerpoint/2010/main" val="4130450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11F1CD-3748-4EC4-8236-F682C67D5CF6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4BA79FE-8480-4336-A9D9-688F2A76B6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458" y="644997"/>
            <a:ext cx="8725084" cy="556800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7E69A03-8EA3-48BB-BA48-753BEC5AD936}"/>
              </a:ext>
            </a:extLst>
          </p:cNvPr>
          <p:cNvSpPr txBox="1"/>
          <p:nvPr/>
        </p:nvSpPr>
        <p:spPr>
          <a:xfrm>
            <a:off x="2707634" y="6304605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随着训练次数</a:t>
            </a:r>
            <a:r>
              <a:rPr lang="en-US" altLang="zh-CN" b="1" dirty="0"/>
              <a:t>K</a:t>
            </a:r>
            <a:r>
              <a:rPr lang="zh-CN" altLang="en-US" b="1" dirty="0"/>
              <a:t>增加，展现出惊人的与人类驾驶习惯一致性的现象</a:t>
            </a:r>
          </a:p>
        </p:txBody>
      </p:sp>
    </p:spTree>
    <p:extLst>
      <p:ext uri="{BB962C8B-B14F-4D97-AF65-F5344CB8AC3E}">
        <p14:creationId xmlns:p14="http://schemas.microsoft.com/office/powerpoint/2010/main" val="253220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00407E2-2000-4345-93C1-6293C4A77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1068224"/>
            <a:ext cx="8915400" cy="472155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F6F30FD-6FEE-444D-B6B8-594232DCCE55}"/>
              </a:ext>
            </a:extLst>
          </p:cNvPr>
          <p:cNvSpPr txBox="1"/>
          <p:nvPr/>
        </p:nvSpPr>
        <p:spPr>
          <a:xfrm>
            <a:off x="2707635" y="5923606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训练到</a:t>
            </a:r>
            <a:r>
              <a:rPr lang="en-US" altLang="zh-CN" b="1" dirty="0"/>
              <a:t>80</a:t>
            </a:r>
            <a:r>
              <a:rPr lang="zh-CN" altLang="en-US" b="1" dirty="0"/>
              <a:t>小时，已经做到</a:t>
            </a:r>
            <a:r>
              <a:rPr lang="zh-CN" altLang="en-US" b="1" dirty="0">
                <a:solidFill>
                  <a:srgbClr val="FF0000"/>
                </a:solidFill>
              </a:rPr>
              <a:t>平均</a:t>
            </a:r>
            <a:r>
              <a:rPr lang="en-US" altLang="zh-CN" b="1" dirty="0">
                <a:solidFill>
                  <a:srgbClr val="FF0000"/>
                </a:solidFill>
              </a:rPr>
              <a:t>100</a:t>
            </a:r>
            <a:r>
              <a:rPr lang="zh-CN" altLang="en-US" b="1" dirty="0">
                <a:solidFill>
                  <a:srgbClr val="FF0000"/>
                </a:solidFill>
              </a:rPr>
              <a:t>万公里才发生</a:t>
            </a:r>
            <a:r>
              <a:rPr lang="en-US" altLang="zh-CN" b="1" dirty="0">
                <a:solidFill>
                  <a:srgbClr val="FF0000"/>
                </a:solidFill>
              </a:rPr>
              <a:t>1</a:t>
            </a:r>
            <a:r>
              <a:rPr lang="zh-CN" altLang="en-US" b="1" dirty="0">
                <a:solidFill>
                  <a:srgbClr val="FF0000"/>
                </a:solidFill>
              </a:rPr>
              <a:t>次交通事故</a:t>
            </a:r>
          </a:p>
        </p:txBody>
      </p:sp>
    </p:spTree>
    <p:extLst>
      <p:ext uri="{BB962C8B-B14F-4D97-AF65-F5344CB8AC3E}">
        <p14:creationId xmlns:p14="http://schemas.microsoft.com/office/powerpoint/2010/main" val="480310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17507ACB-0931-45A3-AC3C-F0743DAD1C43}"/>
              </a:ext>
            </a:extLst>
          </p:cNvPr>
          <p:cNvGrpSpPr/>
          <p:nvPr/>
        </p:nvGrpSpPr>
        <p:grpSpPr>
          <a:xfrm>
            <a:off x="1230982" y="1255049"/>
            <a:ext cx="6105478" cy="3788135"/>
            <a:chOff x="4520282" y="747049"/>
            <a:chExt cx="6105478" cy="3788135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16372977-B253-4D38-B20D-6CF72CC3C803}"/>
                </a:ext>
              </a:extLst>
            </p:cNvPr>
            <p:cNvGrpSpPr/>
            <p:nvPr/>
          </p:nvGrpSpPr>
          <p:grpSpPr>
            <a:xfrm rot="19748169">
              <a:off x="4520282" y="967047"/>
              <a:ext cx="4959248" cy="3568137"/>
              <a:chOff x="4471989" y="1205267"/>
              <a:chExt cx="4959248" cy="35681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EA64AA7-3116-4AA4-8010-0497218C8648}"/>
                  </a:ext>
                </a:extLst>
              </p:cNvPr>
              <p:cNvSpPr/>
              <p:nvPr/>
            </p:nvSpPr>
            <p:spPr>
              <a:xfrm>
                <a:off x="4471989" y="2516206"/>
                <a:ext cx="1581153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5400" b="1" dirty="0"/>
                  <a:t>→</a:t>
                </a:r>
              </a:p>
            </p:txBody>
          </p:sp>
          <p:sp>
            <p:nvSpPr>
              <p:cNvPr id="18" name="弧形 17">
                <a:extLst>
                  <a:ext uri="{FF2B5EF4-FFF2-40B4-BE49-F238E27FC236}">
                    <a16:creationId xmlns:a16="http://schemas.microsoft.com/office/drawing/2014/main" id="{C77ECEC5-C2CE-435C-A9AD-AB42FBA7B35C}"/>
                  </a:ext>
                </a:extLst>
              </p:cNvPr>
              <p:cNvSpPr/>
              <p:nvPr/>
            </p:nvSpPr>
            <p:spPr>
              <a:xfrm rot="16200000" flipV="1">
                <a:off x="5151707" y="2961216"/>
                <a:ext cx="1800000" cy="1824376"/>
              </a:xfrm>
              <a:prstGeom prst="arc">
                <a:avLst>
                  <a:gd name="adj1" fmla="val 16386859"/>
                  <a:gd name="adj2" fmla="val 0"/>
                </a:avLst>
              </a:prstGeom>
              <a:ln>
                <a:headEnd type="triangle" w="sm" len="lg"/>
                <a:tailEnd type="none" w="sm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F6A94400-A9AB-4AF3-92D2-DDAC8EA38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2565" y="2973403"/>
                <a:ext cx="17013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5BDC302-6618-41F7-858B-BFEA779401C9}"/>
                  </a:ext>
                </a:extLst>
              </p:cNvPr>
              <p:cNvCxnSpPr>
                <a:cxnSpLocks/>
              </p:cNvCxnSpPr>
              <p:nvPr/>
            </p:nvCxnSpPr>
            <p:spPr>
              <a:xfrm rot="1851831" flipH="1" flipV="1">
                <a:off x="4889316" y="1725870"/>
                <a:ext cx="717625" cy="1144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5D5DA66-FEC8-4510-8049-4614C04B9DE1}"/>
                  </a:ext>
                </a:extLst>
              </p:cNvPr>
              <p:cNvSpPr txBox="1"/>
              <p:nvPr/>
            </p:nvSpPr>
            <p:spPr>
              <a:xfrm>
                <a:off x="6963895" y="2788736"/>
                <a:ext cx="23071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C8587D4E-97FC-45D6-A7D7-A0BDF2FB5BA3}"/>
                  </a:ext>
                </a:extLst>
              </p:cNvPr>
              <p:cNvSpPr txBox="1"/>
              <p:nvPr/>
            </p:nvSpPr>
            <p:spPr>
              <a:xfrm rot="5400000">
                <a:off x="4443235" y="1616514"/>
                <a:ext cx="11918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64CDA9E-3B4A-4B46-9267-1AD5B1143B17}"/>
                  </a:ext>
                </a:extLst>
              </p:cNvPr>
              <p:cNvSpPr txBox="1"/>
              <p:nvPr/>
            </p:nvSpPr>
            <p:spPr>
              <a:xfrm>
                <a:off x="6963895" y="3480742"/>
                <a:ext cx="24673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Steering_angle(Positive)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2A8F0BB-96C6-4845-A56C-476FC0745221}"/>
                </a:ext>
              </a:extLst>
            </p:cNvPr>
            <p:cNvCxnSpPr/>
            <p:nvPr/>
          </p:nvCxnSpPr>
          <p:spPr>
            <a:xfrm flipV="1">
              <a:off x="5541872" y="1193800"/>
              <a:ext cx="0" cy="241012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2DB250B-D9BC-4CE2-9212-51D002BC4935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72" y="3594945"/>
              <a:ext cx="3818028" cy="5128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93D699D5-F031-4C8E-91C3-C2142EF66C95}"/>
                </a:ext>
              </a:extLst>
            </p:cNvPr>
            <p:cNvSpPr/>
            <p:nvPr/>
          </p:nvSpPr>
          <p:spPr>
            <a:xfrm rot="19738885" flipV="1">
              <a:off x="4943676" y="2516812"/>
              <a:ext cx="1800000" cy="1824376"/>
            </a:xfrm>
            <a:prstGeom prst="arc">
              <a:avLst>
                <a:gd name="adj1" fmla="val 19096673"/>
                <a:gd name="adj2" fmla="val 0"/>
              </a:avLst>
            </a:prstGeom>
            <a:ln>
              <a:solidFill>
                <a:srgbClr val="FF0000"/>
              </a:solidFill>
              <a:headEnd type="none" w="sm" len="lg"/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9BD058F7-0E8C-48F2-A554-F597D96C6BC9}"/>
                </a:ext>
              </a:extLst>
            </p:cNvPr>
            <p:cNvSpPr txBox="1"/>
            <p:nvPr/>
          </p:nvSpPr>
          <p:spPr>
            <a:xfrm>
              <a:off x="6659816" y="3663346"/>
              <a:ext cx="39659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Yaw(Positive 0-pi)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16D129C-9556-4A32-8BEF-D3CB1674E39E}"/>
                </a:ext>
              </a:extLst>
            </p:cNvPr>
            <p:cNvSpPr txBox="1"/>
            <p:nvPr/>
          </p:nvSpPr>
          <p:spPr>
            <a:xfrm>
              <a:off x="9431059" y="346156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X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AE0F7FB-7464-4E33-9170-429DA39207F3}"/>
                </a:ext>
              </a:extLst>
            </p:cNvPr>
            <p:cNvSpPr txBox="1"/>
            <p:nvPr/>
          </p:nvSpPr>
          <p:spPr>
            <a:xfrm>
              <a:off x="5047986" y="747049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Y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29040B3D-ED0F-4173-A178-D5464B390F72}"/>
              </a:ext>
            </a:extLst>
          </p:cNvPr>
          <p:cNvSpPr/>
          <p:nvPr/>
        </p:nvSpPr>
        <p:spPr>
          <a:xfrm>
            <a:off x="7786029" y="1143000"/>
            <a:ext cx="3250271" cy="45771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319683F-99E9-4F8C-8583-4E41796BB5E8}"/>
              </a:ext>
            </a:extLst>
          </p:cNvPr>
          <p:cNvCxnSpPr>
            <a:stCxn id="6" idx="2"/>
            <a:endCxn id="6" idx="0"/>
          </p:cNvCxnSpPr>
          <p:nvPr/>
        </p:nvCxnSpPr>
        <p:spPr>
          <a:xfrm flipV="1">
            <a:off x="9411165" y="1143000"/>
            <a:ext cx="0" cy="457714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736AFC4-8945-4F87-A553-BAEDE52A8AEA}"/>
              </a:ext>
            </a:extLst>
          </p:cNvPr>
          <p:cNvCxnSpPr>
            <a:cxnSpLocks/>
          </p:cNvCxnSpPr>
          <p:nvPr/>
        </p:nvCxnSpPr>
        <p:spPr>
          <a:xfrm>
            <a:off x="9411166" y="1897078"/>
            <a:ext cx="16251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94A7ED5A-6E0C-484A-A65E-A03CA17079FE}"/>
              </a:ext>
            </a:extLst>
          </p:cNvPr>
          <p:cNvSpPr txBox="1"/>
          <p:nvPr/>
        </p:nvSpPr>
        <p:spPr>
          <a:xfrm>
            <a:off x="9674122" y="1911533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弧形 11">
            <a:extLst>
              <a:ext uri="{FF2B5EF4-FFF2-40B4-BE49-F238E27FC236}">
                <a16:creationId xmlns:a16="http://schemas.microsoft.com/office/drawing/2014/main" id="{DB75E760-1E76-421D-81C8-8D732C73D947}"/>
              </a:ext>
            </a:extLst>
          </p:cNvPr>
          <p:cNvSpPr/>
          <p:nvPr/>
        </p:nvSpPr>
        <p:spPr>
          <a:xfrm rot="16200000">
            <a:off x="9415136" y="1304025"/>
            <a:ext cx="914400" cy="914400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2287732-068E-436B-8A22-F8E902052420}"/>
              </a:ext>
            </a:extLst>
          </p:cNvPr>
          <p:cNvSpPr txBox="1"/>
          <p:nvPr/>
        </p:nvSpPr>
        <p:spPr>
          <a:xfrm>
            <a:off x="9872336" y="1150707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223438" y="2404628"/>
            <a:ext cx="11821075" cy="38080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5CAB23E-C3B8-495A-B28C-3B33644F5FCA}"/>
              </a:ext>
            </a:extLst>
          </p:cNvPr>
          <p:cNvSpPr txBox="1"/>
          <p:nvPr/>
        </p:nvSpPr>
        <p:spPr>
          <a:xfrm>
            <a:off x="5821265" y="1594729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</a:t>
            </a:r>
            <a:r>
              <a:rPr lang="zh-CN" altLang="en-US" sz="1200" b="1" strike="sngStrike" dirty="0">
                <a:solidFill>
                  <a:srgbClr val="FF0000"/>
                </a:solidFill>
              </a:rPr>
              <a:t>39.4432, -150.0381, </a:t>
            </a:r>
            <a:r>
              <a:rPr lang="en-US" altLang="zh-CN" sz="1200" b="1" dirty="0">
                <a:solidFill>
                  <a:srgbClr val="FF0000"/>
                </a:solidFill>
              </a:rPr>
              <a:t>cos(</a:t>
            </a:r>
            <a:r>
              <a:rPr lang="zh-CN" altLang="en-US" sz="1200" b="1" dirty="0">
                <a:solidFill>
                  <a:srgbClr val="FF0000"/>
                </a:solidFill>
              </a:rPr>
              <a:t>2.8227</a:t>
            </a:r>
            <a:r>
              <a:rPr lang="en-US" altLang="zh-CN" sz="1200" b="1" dirty="0">
                <a:solidFill>
                  <a:srgbClr val="FF0000"/>
                </a:solidFill>
              </a:rPr>
              <a:t>)</a:t>
            </a:r>
            <a:r>
              <a:rPr lang="zh-CN" altLang="en-US" sz="1200" b="1" dirty="0">
                <a:solidFill>
                  <a:srgbClr val="FF0000"/>
                </a:solidFill>
              </a:rPr>
              <a:t>, -2.0000, 4.5000, 2.0000, 1.0000]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55BDA2A-80D4-47A2-8420-0F38E522D6FD}"/>
              </a:ext>
            </a:extLst>
          </p:cNvPr>
          <p:cNvSpPr txBox="1"/>
          <p:nvPr/>
        </p:nvSpPr>
        <p:spPr>
          <a:xfrm>
            <a:off x="5821265" y="507831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</a:t>
            </a:r>
            <a:r>
              <a:rPr lang="en-US" altLang="zh-CN" sz="1200" b="1" dirty="0">
                <a:solidFill>
                  <a:srgbClr val="FF0000"/>
                </a:solidFill>
              </a:rPr>
              <a:t>11.5453,  -9.1490,   1.0044,  -1.7346,   4.5000,   2.0000,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6245A77-2E48-446B-BD8A-DB2EDE274423}"/>
              </a:ext>
            </a:extLst>
          </p:cNvPr>
          <p:cNvSpPr txBox="1"/>
          <p:nvPr/>
        </p:nvSpPr>
        <p:spPr>
          <a:xfrm>
            <a:off x="5818750" y="2720957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[3.0733, </a:t>
            </a:r>
            <a:r>
              <a:rPr lang="en-US" altLang="zh-CN" sz="1200" b="1" dirty="0">
                <a:solidFill>
                  <a:srgbClr val="FF0000"/>
                </a:solidFill>
              </a:rPr>
              <a:t>0.0924</a:t>
            </a:r>
            <a:r>
              <a:rPr lang="zh-CN" altLang="en-US" sz="1200" b="1" dirty="0">
                <a:solidFill>
                  <a:srgbClr val="FF0000"/>
                </a:solidFill>
              </a:rPr>
              <a:t>, 2.7407, </a:t>
            </a:r>
            <a:r>
              <a:rPr lang="en-US" altLang="zh-CN" sz="1200" b="1" dirty="0">
                <a:solidFill>
                  <a:srgbClr val="FF0000"/>
                </a:solidFill>
              </a:rPr>
              <a:t>0.0686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0.0106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0.1389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0.0069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0.0610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0.0005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0.1459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4D4169C-BF4B-4DE8-898B-8427FE4B6328}"/>
              </a:ext>
            </a:extLst>
          </p:cNvPr>
          <p:cNvSpPr txBox="1"/>
          <p:nvPr/>
        </p:nvSpPr>
        <p:spPr>
          <a:xfrm>
            <a:off x="1762125" y="348139"/>
            <a:ext cx="2028825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       </a:t>
            </a:r>
            <a:r>
              <a:rPr lang="zh-CN" altLang="en-US" sz="1200" b="1" dirty="0">
                <a:solidFill>
                  <a:srgbClr val="FF0000"/>
                </a:solidFill>
              </a:rPr>
              <a:t>[  0.1486,  -3.7811],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-5.0321,   0.8461],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[ 20.4447,  -4.3435],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[-17.7755,   9.8508],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[ 19.7461,  -7.7731],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[ 21.8419,   2.5157],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[-17.7314,  13.3506],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[ 22.5405,   5.9452],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[ 28.3193, -22.7189],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[ 31.7605, -23.3578],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[-40.1456,  -9.9977],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[-44.4001,  -9.5309],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[ 46.0289,  -5.9143],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[ 44.8044, -12.8064],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[ 46.6411,  -2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.4682],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[ 44.1922, -16.2524],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[ 47.9980,  -6.2641],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[ 48.6102,  -2.8181],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[-53.8447,  -4.5274],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[-53.5307,  -9.9508],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[ 21.9308, -57.1309],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[ 25.3720, -57.7698],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[-58.3209, -46.4113],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[-61.7454, -45.6884],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[ 33.9889, -70.4993]]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D113882-96BE-46C0-9510-08B69117B260}"/>
              </a:ext>
            </a:extLst>
          </p:cNvPr>
          <p:cNvSpPr txBox="1"/>
          <p:nvPr/>
        </p:nvSpPr>
        <p:spPr>
          <a:xfrm>
            <a:off x="76200" y="348139"/>
            <a:ext cx="190500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     [ 0.7265,  1.5611],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[-0.2534,  1.7607],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[ 1.7064,  1.3615],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[ 2.6863,  1.1619],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[-1.2332,  1.9603],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[-2.2131,  2.1599],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[ 3.6661,  0.9623],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[ 4.6460,  0.7627],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[-3.1930,  2.3595],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[ 1.3852,  4.7947],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[ 0.4053,  4.9943],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[ 2.3651,  4.5951],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[ 5.6259,  0.5631],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[-4.1729,  2.5591],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[-0.7106, -5.4940],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[-1.6905, -5.2944],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[ 0.2693, -5.6936],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[-0.5746,  5.1939],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[ 3.3449,  4.3955],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[-2.6704, -5.0948],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[ 1.2491, -5.8932],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[-1.5544,  5.3935],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[ 4.3248,  4.1959],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[ 2.2290, -6.0928],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[-3.6502, -4.8952],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[-5.1528,  2.7587]]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16A709C-AC87-427A-8EF9-AFF907169F20}"/>
              </a:ext>
            </a:extLst>
          </p:cNvPr>
          <p:cNvSpPr txBox="1"/>
          <p:nvPr/>
        </p:nvSpPr>
        <p:spPr>
          <a:xfrm>
            <a:off x="353675" y="24974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Wboundary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8A4E835-EE35-496C-B8D4-547F27E88F80}"/>
              </a:ext>
            </a:extLst>
          </p:cNvPr>
          <p:cNvSpPr txBox="1"/>
          <p:nvPr/>
        </p:nvSpPr>
        <p:spPr>
          <a:xfrm>
            <a:off x="2481957" y="24974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Wlane</a:t>
            </a:r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F72064-A4D2-41FC-AA22-E3B05CFC4C7C}"/>
              </a:ext>
            </a:extLst>
          </p:cNvPr>
          <p:cNvSpPr txBox="1"/>
          <p:nvPr/>
        </p:nvSpPr>
        <p:spPr>
          <a:xfrm>
            <a:off x="3667125" y="323457"/>
            <a:ext cx="2208519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     [-54.5062, 135.2031],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[-59.0051, 135.3049],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[-61.0045, 135.3502],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[ 91.4610,  54.5348],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[-61.0045, 135.3502],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[-74.6352, 146.9200],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[-62.0428, 185.9934],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[-32.4085, 193.6119],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[-20.4085, 193.5820],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[ 17.6513, 193.4870],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[ 17.6513, 193.4870],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[ 57.6512, 193.3872],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[ 97.6511, 193.2874],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[137.6510, 193.1876],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[178.2233, 190.1073],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[213.8548, 171.9010],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[228.3453, 134.5573],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[229.1841, 100.0675],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。。。</a:t>
            </a:r>
          </a:p>
          <a:p>
            <a:r>
              <a:rPr lang="zh-CN" altLang="en-US" sz="1200" b="1" dirty="0">
                <a:solidFill>
                  <a:srgbClr val="FF0000"/>
                </a:solidFill>
              </a:rPr>
              <a:t>        [  0.0000,   0.0000]]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113D4FE-C14D-4500-AF0C-5BC1807DE93C}"/>
              </a:ext>
            </a:extLst>
          </p:cNvPr>
          <p:cNvSpPr txBox="1"/>
          <p:nvPr/>
        </p:nvSpPr>
        <p:spPr>
          <a:xfrm>
            <a:off x="4404136" y="5239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Goals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CB239C0-7AAC-4B70-B500-1688B5F9538D}"/>
              </a:ext>
            </a:extLst>
          </p:cNvPr>
          <p:cNvSpPr txBox="1"/>
          <p:nvPr/>
        </p:nvSpPr>
        <p:spPr>
          <a:xfrm>
            <a:off x="5878159" y="184666"/>
            <a:ext cx="1418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Other Agent</a:t>
            </a:r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6422081-6F7C-4328-97E1-C8834BADC893}"/>
              </a:ext>
            </a:extLst>
          </p:cNvPr>
          <p:cNvSpPr txBox="1"/>
          <p:nvPr/>
        </p:nvSpPr>
        <p:spPr>
          <a:xfrm>
            <a:off x="5878159" y="1225397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State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9390D6B-AFF4-4B52-B964-897EDF95C1DE}"/>
              </a:ext>
            </a:extLst>
          </p:cNvPr>
          <p:cNvSpPr txBox="1"/>
          <p:nvPr/>
        </p:nvSpPr>
        <p:spPr>
          <a:xfrm>
            <a:off x="5821265" y="1929148"/>
            <a:ext cx="24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trike="sngStrike" dirty="0" err="1"/>
              <a:t>x,y,</a:t>
            </a:r>
            <a:r>
              <a:rPr lang="en-US" altLang="zh-CN" dirty="0" err="1"/>
              <a:t>yaw,speed,w,l,active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067ED483-D401-45C8-8D77-2D469100878D}"/>
              </a:ext>
            </a:extLst>
          </p:cNvPr>
          <p:cNvSpPr txBox="1"/>
          <p:nvPr/>
        </p:nvSpPr>
        <p:spPr>
          <a:xfrm>
            <a:off x="5821265" y="784830"/>
            <a:ext cx="2507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dx </a:t>
            </a:r>
            <a:r>
              <a:rPr lang="en-US" altLang="zh-CN" dirty="0" err="1"/>
              <a:t>dy</a:t>
            </a:r>
            <a:r>
              <a:rPr lang="en-US" altLang="zh-CN" dirty="0"/>
              <a:t> </a:t>
            </a:r>
            <a:r>
              <a:rPr lang="en-US" altLang="zh-CN" dirty="0" err="1"/>
              <a:t>dvx</a:t>
            </a:r>
            <a:r>
              <a:rPr lang="en-US" altLang="zh-CN" dirty="0"/>
              <a:t> </a:t>
            </a:r>
            <a:r>
              <a:rPr lang="en-US" altLang="zh-CN" dirty="0" err="1"/>
              <a:t>dvy</a:t>
            </a:r>
            <a:r>
              <a:rPr lang="en-US" altLang="zh-CN" dirty="0"/>
              <a:t> w l active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CC5B34D8-BA2A-48CC-A4CF-3FF7322ED43F}"/>
              </a:ext>
            </a:extLst>
          </p:cNvPr>
          <p:cNvSpPr txBox="1"/>
          <p:nvPr/>
        </p:nvSpPr>
        <p:spPr>
          <a:xfrm>
            <a:off x="5875644" y="2396296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Condition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547D5C7-08FC-474F-A87C-ED952A2186CB}"/>
              </a:ext>
            </a:extLst>
          </p:cNvPr>
          <p:cNvSpPr txBox="1"/>
          <p:nvPr/>
        </p:nvSpPr>
        <p:spPr>
          <a:xfrm>
            <a:off x="5875644" y="3182330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Stoplines</a:t>
            </a:r>
            <a:endParaRPr lang="zh-CN" altLang="en-US" dirty="0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A476C2C-FAD6-4BC3-9A22-6B6AA5813F1B}"/>
              </a:ext>
            </a:extLst>
          </p:cNvPr>
          <p:cNvSpPr txBox="1"/>
          <p:nvPr/>
        </p:nvSpPr>
        <p:spPr>
          <a:xfrm>
            <a:off x="5875644" y="3551662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0 0 0 0 0 0 0 0 0 0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895B1DF-0E84-4C15-B2C0-7DDE58681E4A}"/>
              </a:ext>
            </a:extLst>
          </p:cNvPr>
          <p:cNvSpPr txBox="1"/>
          <p:nvPr/>
        </p:nvSpPr>
        <p:spPr>
          <a:xfrm>
            <a:off x="4217386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绝对坐标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7FF33ABD-90D0-4E45-BFAD-53F24E012EA8}"/>
              </a:ext>
            </a:extLst>
          </p:cNvPr>
          <p:cNvSpPr txBox="1"/>
          <p:nvPr/>
        </p:nvSpPr>
        <p:spPr>
          <a:xfrm>
            <a:off x="2332076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相对坐标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62BCE00C-A25B-40EC-AEA0-BCBF01700E57}"/>
              </a:ext>
            </a:extLst>
          </p:cNvPr>
          <p:cNvSpPr txBox="1"/>
          <p:nvPr/>
        </p:nvSpPr>
        <p:spPr>
          <a:xfrm>
            <a:off x="474702" y="536407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相对坐标</a:t>
            </a: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5330FCCB-CF1C-4C5F-B67C-37F47BAAB6CA}"/>
              </a:ext>
            </a:extLst>
          </p:cNvPr>
          <p:cNvCxnSpPr>
            <a:stCxn id="26" idx="2"/>
          </p:cNvCxnSpPr>
          <p:nvPr/>
        </p:nvCxnSpPr>
        <p:spPr>
          <a:xfrm>
            <a:off x="4771384" y="5733406"/>
            <a:ext cx="2747" cy="2727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F84C6B81-5208-4245-A47C-5093FDF0DB38}"/>
              </a:ext>
            </a:extLst>
          </p:cNvPr>
          <p:cNvSpPr txBox="1"/>
          <p:nvPr/>
        </p:nvSpPr>
        <p:spPr>
          <a:xfrm>
            <a:off x="4217386" y="606504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相对坐标</a:t>
            </a:r>
          </a:p>
        </p:txBody>
      </p:sp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9BF602C-FA7A-4069-A0AD-CDD517BE2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0EDDDA-ECE4-4B4C-A2FD-AF26E8358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C16DFA4-C9C0-4437-AA5E-5BBE3AFDAC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223438" y="2404628"/>
            <a:ext cx="11821075" cy="3808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0329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21DD14A-BA13-487F-99B2-04DC61FD67CB}"/>
              </a:ext>
            </a:extLst>
          </p:cNvPr>
          <p:cNvSpPr txBox="1"/>
          <p:nvPr/>
        </p:nvSpPr>
        <p:spPr>
          <a:xfrm>
            <a:off x="387417" y="554205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 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yaw </a:t>
            </a:r>
            <a:r>
              <a:rPr lang="zh-CN" altLang="en-US" sz="1200" b="1" dirty="0">
                <a:solidFill>
                  <a:srgbClr val="FF0000"/>
                </a:solidFill>
              </a:rPr>
              <a:t> </a:t>
            </a:r>
            <a:r>
              <a:rPr lang="en-US" altLang="zh-CN" sz="1200" b="1" dirty="0">
                <a:solidFill>
                  <a:srgbClr val="FF0000"/>
                </a:solidFill>
              </a:rPr>
              <a:t>speed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w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l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active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08A77D5-53FC-43D4-A2D9-5A63BEA8DEBD}"/>
              </a:ext>
            </a:extLst>
          </p:cNvPr>
          <p:cNvSpPr txBox="1"/>
          <p:nvPr/>
        </p:nvSpPr>
        <p:spPr>
          <a:xfrm>
            <a:off x="444311" y="184873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State</a:t>
            </a:r>
            <a:endParaRPr lang="zh-CN" altLang="en-US" dirty="0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C2836B67-9FB5-4AFB-9C20-31E93143E955}"/>
              </a:ext>
            </a:extLst>
          </p:cNvPr>
          <p:cNvCxnSpPr>
            <a:cxnSpLocks/>
          </p:cNvCxnSpPr>
          <p:nvPr/>
        </p:nvCxnSpPr>
        <p:spPr>
          <a:xfrm>
            <a:off x="1871537" y="831204"/>
            <a:ext cx="270530" cy="4472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FFA4D648-3F9F-4DB1-82AC-507B0C0E6516}"/>
              </a:ext>
            </a:extLst>
          </p:cNvPr>
          <p:cNvSpPr txBox="1"/>
          <p:nvPr/>
        </p:nvSpPr>
        <p:spPr>
          <a:xfrm>
            <a:off x="387417" y="1278467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[ 0, [</a:t>
            </a:r>
            <a:r>
              <a:rPr lang="en-US" altLang="zh-CN" sz="1200" b="1" dirty="0" err="1">
                <a:solidFill>
                  <a:srgbClr val="FF0000"/>
                </a:solidFill>
              </a:rPr>
              <a:t>sinyaw</a:t>
            </a:r>
            <a:r>
              <a:rPr lang="en-US" altLang="zh-CN" sz="1200" b="1" dirty="0">
                <a:solidFill>
                  <a:srgbClr val="FF0000"/>
                </a:solidFill>
              </a:rPr>
              <a:t> </a:t>
            </a:r>
            <a:r>
              <a:rPr lang="en-US" altLang="zh-CN" sz="1200" b="1" dirty="0" err="1">
                <a:solidFill>
                  <a:srgbClr val="FF0000"/>
                </a:solidFill>
              </a:rPr>
              <a:t>cosyaw</a:t>
            </a:r>
            <a:r>
              <a:rPr lang="en-US" altLang="zh-CN" sz="1200" b="1" dirty="0">
                <a:solidFill>
                  <a:srgbClr val="FF0000"/>
                </a:solidFill>
              </a:rPr>
              <a:t>] 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</a:t>
            </a:r>
            <a:r>
              <a:rPr lang="zh-CN" altLang="en-US" sz="1200" b="1" dirty="0">
                <a:solidFill>
                  <a:srgbClr val="FF0000"/>
                </a:solidFill>
              </a:rPr>
              <a:t> 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），（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），</a:t>
            </a:r>
            <a:r>
              <a:rPr lang="en-US" altLang="zh-CN" sz="1200" b="1" dirty="0">
                <a:solidFill>
                  <a:srgbClr val="FF0000"/>
                </a:solidFill>
              </a:rPr>
              <a:t>1]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187394B-6129-4738-8E8A-B62B16E66AED}"/>
              </a:ext>
            </a:extLst>
          </p:cNvPr>
          <p:cNvSpPr txBox="1"/>
          <p:nvPr/>
        </p:nvSpPr>
        <p:spPr>
          <a:xfrm>
            <a:off x="1563107" y="882451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[-2,20]</a:t>
            </a:r>
            <a:endParaRPr lang="zh-CN" altLang="en-US" sz="1200" dirty="0"/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892AD8DC-F9B8-4157-A7F1-71E73AD6C519}"/>
              </a:ext>
            </a:extLst>
          </p:cNvPr>
          <p:cNvCxnSpPr>
            <a:cxnSpLocks/>
          </p:cNvCxnSpPr>
          <p:nvPr/>
        </p:nvCxnSpPr>
        <p:spPr>
          <a:xfrm>
            <a:off x="2353078" y="792238"/>
            <a:ext cx="1260072" cy="5158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98EA4EE8-22AB-41C3-BA32-54BDC21CB093}"/>
              </a:ext>
            </a:extLst>
          </p:cNvPr>
          <p:cNvSpPr txBox="1"/>
          <p:nvPr/>
        </p:nvSpPr>
        <p:spPr>
          <a:xfrm>
            <a:off x="2177247" y="894108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[0.8,3]</a:t>
            </a:r>
            <a:endParaRPr lang="zh-CN" altLang="en-US" sz="1200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B149B5E-2505-4E2A-B9E2-DD53B8C6147F}"/>
              </a:ext>
            </a:extLst>
          </p:cNvPr>
          <p:cNvSpPr txBox="1"/>
          <p:nvPr/>
        </p:nvSpPr>
        <p:spPr>
          <a:xfrm>
            <a:off x="2798212" y="896637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[0.8,7]</a:t>
            </a:r>
            <a:endParaRPr lang="zh-CN" altLang="en-US" sz="1200" dirty="0"/>
          </a:p>
        </p:txBody>
      </p: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71AEB185-0D8B-4B70-BAA8-56F6E5A32B8B}"/>
              </a:ext>
            </a:extLst>
          </p:cNvPr>
          <p:cNvCxnSpPr>
            <a:cxnSpLocks/>
          </p:cNvCxnSpPr>
          <p:nvPr/>
        </p:nvCxnSpPr>
        <p:spPr>
          <a:xfrm>
            <a:off x="2173817" y="792238"/>
            <a:ext cx="728133" cy="486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F61AC714-A100-415E-90B5-8E919ECAEF59}"/>
              </a:ext>
            </a:extLst>
          </p:cNvPr>
          <p:cNvSpPr txBox="1"/>
          <p:nvPr/>
        </p:nvSpPr>
        <p:spPr>
          <a:xfrm>
            <a:off x="444311" y="1618491"/>
            <a:ext cx="1156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Condition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3D5015F-A302-4014-B485-01EB9F8A69D9}"/>
              </a:ext>
            </a:extLst>
          </p:cNvPr>
          <p:cNvSpPr txBox="1"/>
          <p:nvPr/>
        </p:nvSpPr>
        <p:spPr>
          <a:xfrm>
            <a:off x="387417" y="2002729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[3.0733, </a:t>
            </a:r>
            <a:r>
              <a:rPr lang="en-US" altLang="zh-CN" sz="1200" b="1" dirty="0">
                <a:solidFill>
                  <a:srgbClr val="FF0000"/>
                </a:solidFill>
              </a:rPr>
              <a:t>0.0924</a:t>
            </a:r>
            <a:r>
              <a:rPr lang="zh-CN" altLang="en-US" sz="1200" b="1" dirty="0">
                <a:solidFill>
                  <a:srgbClr val="FF0000"/>
                </a:solidFill>
              </a:rPr>
              <a:t>, 2.7407, </a:t>
            </a:r>
            <a:r>
              <a:rPr lang="en-US" altLang="zh-CN" sz="1200" b="1" dirty="0">
                <a:solidFill>
                  <a:srgbClr val="FF0000"/>
                </a:solidFill>
              </a:rPr>
              <a:t>0.0686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0.0106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0.1389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0.0069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0.0610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0.0005</a:t>
            </a:r>
            <a:r>
              <a:rPr lang="zh-CN" altLang="en-US" sz="1200" b="1" dirty="0">
                <a:solidFill>
                  <a:srgbClr val="FF0000"/>
                </a:solidFill>
              </a:rPr>
              <a:t>, </a:t>
            </a:r>
            <a:r>
              <a:rPr lang="en-US" altLang="zh-CN" sz="1200" b="1" dirty="0">
                <a:solidFill>
                  <a:srgbClr val="FF0000"/>
                </a:solidFill>
              </a:rPr>
              <a:t>0.1459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55AAFB26-5444-4B80-B635-87FAF354DE13}"/>
              </a:ext>
            </a:extLst>
          </p:cNvPr>
          <p:cNvCxnSpPr>
            <a:stCxn id="23" idx="2"/>
          </p:cNvCxnSpPr>
          <p:nvPr/>
        </p:nvCxnSpPr>
        <p:spPr>
          <a:xfrm>
            <a:off x="3171966" y="2279728"/>
            <a:ext cx="0" cy="488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1A395E76-9660-4BD6-91FF-D9280DD434F9}"/>
              </a:ext>
            </a:extLst>
          </p:cNvPr>
          <p:cNvSpPr txBox="1"/>
          <p:nvPr/>
        </p:nvSpPr>
        <p:spPr>
          <a:xfrm>
            <a:off x="3302000" y="2339498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根据各自的范围归一化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49B0412E-0FDC-4F4E-9665-C87457AB96D0}"/>
              </a:ext>
            </a:extLst>
          </p:cNvPr>
          <p:cNvSpPr txBox="1"/>
          <p:nvPr/>
        </p:nvSpPr>
        <p:spPr>
          <a:xfrm>
            <a:off x="387417" y="3866867"/>
            <a:ext cx="1418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Other Agent</a:t>
            </a:r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A4906C4-E192-4771-83B6-5186DF913F25}"/>
              </a:ext>
            </a:extLst>
          </p:cNvPr>
          <p:cNvSpPr txBox="1"/>
          <p:nvPr/>
        </p:nvSpPr>
        <p:spPr>
          <a:xfrm>
            <a:off x="387417" y="2964683"/>
            <a:ext cx="1085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Stoplines</a:t>
            </a:r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009CA85-D0D6-4FBD-8170-27C864CE68B4}"/>
              </a:ext>
            </a:extLst>
          </p:cNvPr>
          <p:cNvSpPr txBox="1"/>
          <p:nvPr/>
        </p:nvSpPr>
        <p:spPr>
          <a:xfrm>
            <a:off x="387417" y="3334015"/>
            <a:ext cx="556909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</a:t>
            </a:r>
            <a:r>
              <a:rPr lang="en-US" altLang="zh-CN" sz="1200" b="1" dirty="0">
                <a:solidFill>
                  <a:srgbClr val="FF0000"/>
                </a:solidFill>
              </a:rPr>
              <a:t>0 0 0 0 0 0 0 0 0 0</a:t>
            </a:r>
            <a:r>
              <a:rPr lang="zh-CN" altLang="en-US" sz="1200" b="1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D2B6836-F191-47C0-A20C-54DB77A74B91}"/>
              </a:ext>
            </a:extLst>
          </p:cNvPr>
          <p:cNvSpPr txBox="1"/>
          <p:nvPr/>
        </p:nvSpPr>
        <p:spPr>
          <a:xfrm>
            <a:off x="387417" y="4526801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 </a:t>
            </a:r>
            <a:r>
              <a:rPr lang="en-US" altLang="zh-CN" sz="1200" b="1" dirty="0">
                <a:solidFill>
                  <a:srgbClr val="FF0000"/>
                </a:solidFill>
              </a:rPr>
              <a:t>11.5453,  -9.1490,   1.0044,  -1.7346,   4.5000,   2.0000,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B68570B-5742-485D-B45A-4CCCD6682683}"/>
              </a:ext>
            </a:extLst>
          </p:cNvPr>
          <p:cNvSpPr txBox="1"/>
          <p:nvPr/>
        </p:nvSpPr>
        <p:spPr>
          <a:xfrm>
            <a:off x="530155" y="4243000"/>
            <a:ext cx="490591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Dx,dy,dvx,dvy,w,l,active</a:t>
            </a:r>
            <a:r>
              <a:rPr lang="zh-CN" altLang="en-US" sz="1200" b="1" dirty="0">
                <a:solidFill>
                  <a:srgbClr val="FF0000"/>
                </a:solidFill>
              </a:rPr>
              <a:t>，</a:t>
            </a: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C6A1D36E-64F3-4E21-8AEB-62AE51E57FBD}"/>
              </a:ext>
            </a:extLst>
          </p:cNvPr>
          <p:cNvCxnSpPr>
            <a:cxnSpLocks/>
          </p:cNvCxnSpPr>
          <p:nvPr/>
        </p:nvCxnSpPr>
        <p:spPr>
          <a:xfrm>
            <a:off x="673100" y="4445000"/>
            <a:ext cx="0" cy="6591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7F54FA6B-255F-44E3-B545-110EF5CAA3C7}"/>
              </a:ext>
            </a:extLst>
          </p:cNvPr>
          <p:cNvSpPr txBox="1"/>
          <p:nvPr/>
        </p:nvSpPr>
        <p:spPr>
          <a:xfrm>
            <a:off x="137889" y="553492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根据视野归一化（右图）</a:t>
            </a:r>
          </a:p>
        </p:txBody>
      </p:sp>
      <p:graphicFrame>
        <p:nvGraphicFramePr>
          <p:cNvPr id="39" name="对象 38">
            <a:extLst>
              <a:ext uri="{FF2B5EF4-FFF2-40B4-BE49-F238E27FC236}">
                <a16:creationId xmlns:a16="http://schemas.microsoft.com/office/drawing/2014/main" id="{A60054E9-CAD2-48E0-8D89-39DC26A03AA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70248595"/>
              </p:ext>
            </p:extLst>
          </p:nvPr>
        </p:nvGraphicFramePr>
        <p:xfrm>
          <a:off x="5955069" y="2768600"/>
          <a:ext cx="5794043" cy="35526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94" name="AxGlyph" r:id="rId3" imgW="2897277" imgH="1776774" progId="AxGlyph.Document">
                  <p:embed/>
                </p:oleObj>
              </mc:Choice>
              <mc:Fallback>
                <p:oleObj name="AxGlyph" r:id="rId3" imgW="2897277" imgH="1776774" progId="AxGlyph.Document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55069" y="2768600"/>
                        <a:ext cx="5794043" cy="355262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" name="文本框 39">
            <a:extLst>
              <a:ext uri="{FF2B5EF4-FFF2-40B4-BE49-F238E27FC236}">
                <a16:creationId xmlns:a16="http://schemas.microsoft.com/office/drawing/2014/main" id="{6AC79453-800F-4FC6-A40A-0D0D80007969}"/>
              </a:ext>
            </a:extLst>
          </p:cNvPr>
          <p:cNvSpPr txBox="1"/>
          <p:nvPr/>
        </p:nvSpPr>
        <p:spPr>
          <a:xfrm>
            <a:off x="8162223" y="6291787"/>
            <a:ext cx="2052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所有地图坐标信息</a:t>
            </a:r>
          </a:p>
        </p:txBody>
      </p: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9E80ED22-8DDF-428C-8753-760F1E86AC65}"/>
              </a:ext>
            </a:extLst>
          </p:cNvPr>
          <p:cNvCxnSpPr>
            <a:cxnSpLocks/>
          </p:cNvCxnSpPr>
          <p:nvPr/>
        </p:nvCxnSpPr>
        <p:spPr>
          <a:xfrm>
            <a:off x="1336495" y="4503480"/>
            <a:ext cx="0" cy="600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CD03CAC5-5AA2-4D59-B681-94A4F39DCBD5}"/>
              </a:ext>
            </a:extLst>
          </p:cNvPr>
          <p:cNvSpPr txBox="1"/>
          <p:nvPr/>
        </p:nvSpPr>
        <p:spPr>
          <a:xfrm>
            <a:off x="1322337" y="4781554"/>
            <a:ext cx="68446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</a:rPr>
              <a:t>[-40,40]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D4BEA2-02C9-4047-A0FD-F0E11F68FDC6}"/>
              </a:ext>
            </a:extLst>
          </p:cNvPr>
          <p:cNvSpPr txBox="1"/>
          <p:nvPr/>
        </p:nvSpPr>
        <p:spPr>
          <a:xfrm>
            <a:off x="314333" y="5212355"/>
            <a:ext cx="53812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[（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 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</a:t>
            </a:r>
            <a:r>
              <a:rPr lang="zh-CN" altLang="en-US" sz="1200" b="1" dirty="0">
                <a:solidFill>
                  <a:srgbClr val="FF0000"/>
                </a:solidFill>
              </a:rPr>
              <a:t>（</a:t>
            </a:r>
            <a:r>
              <a:rPr lang="en-US" altLang="zh-CN" sz="1200" b="1" dirty="0">
                <a:solidFill>
                  <a:srgbClr val="FF0000"/>
                </a:solidFill>
              </a:rPr>
              <a:t>-1,1</a:t>
            </a:r>
            <a:r>
              <a:rPr lang="zh-CN" altLang="en-US" sz="1200" b="1" dirty="0">
                <a:solidFill>
                  <a:srgbClr val="FF0000"/>
                </a:solidFill>
              </a:rPr>
              <a:t>）</a:t>
            </a:r>
            <a:r>
              <a:rPr lang="en-US" altLang="zh-CN" sz="1200" b="1" dirty="0">
                <a:solidFill>
                  <a:srgbClr val="FF0000"/>
                </a:solidFill>
              </a:rPr>
              <a:t>,   1.0000</a:t>
            </a:r>
            <a:r>
              <a:rPr lang="zh-CN" altLang="en-US" sz="1200" b="1" dirty="0">
                <a:solidFill>
                  <a:srgbClr val="FF0000"/>
                </a:solidFill>
              </a:rPr>
              <a:t> ]</a:t>
            </a:r>
            <a:r>
              <a:rPr lang="en-US" altLang="zh-CN" sz="1200" b="1" dirty="0">
                <a:solidFill>
                  <a:srgbClr val="FF0000"/>
                </a:solidFill>
              </a:rPr>
              <a:t> x 20</a:t>
            </a:r>
            <a:endParaRPr lang="zh-CN" altLang="en-US" sz="1200" b="1" dirty="0">
              <a:solidFill>
                <a:srgbClr val="FF0000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7C604E6-8CDC-454A-AA12-37D529B0495F}"/>
              </a:ext>
            </a:extLst>
          </p:cNvPr>
          <p:cNvSpPr txBox="1"/>
          <p:nvPr/>
        </p:nvSpPr>
        <p:spPr>
          <a:xfrm>
            <a:off x="6525875" y="216616"/>
            <a:ext cx="1350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Wboundary</a:t>
            </a:r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51ACFEB-9053-4B75-8E07-E7092DB39406}"/>
              </a:ext>
            </a:extLst>
          </p:cNvPr>
          <p:cNvSpPr txBox="1"/>
          <p:nvPr/>
        </p:nvSpPr>
        <p:spPr>
          <a:xfrm>
            <a:off x="8654157" y="216616"/>
            <a:ext cx="808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Wlane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1ECA583-D484-4445-BB92-68DAAA1E1B13}"/>
              </a:ext>
            </a:extLst>
          </p:cNvPr>
          <p:cNvSpPr txBox="1"/>
          <p:nvPr/>
        </p:nvSpPr>
        <p:spPr>
          <a:xfrm>
            <a:off x="10576336" y="196881"/>
            <a:ext cx="7344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Goals</a:t>
            </a:r>
            <a:endParaRPr lang="zh-CN" altLang="en-US" dirty="0"/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1D5D6EAB-B74C-4210-8E4C-805F775D0EDB}"/>
              </a:ext>
            </a:extLst>
          </p:cNvPr>
          <p:cNvCxnSpPr/>
          <p:nvPr/>
        </p:nvCxnSpPr>
        <p:spPr>
          <a:xfrm>
            <a:off x="8654157" y="1159450"/>
            <a:ext cx="0" cy="1549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5910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65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4066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67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68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0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1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2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3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4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5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06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07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708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09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0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711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44697</TotalTime>
  <Words>2644</Words>
  <Application>Microsoft Office PowerPoint</Application>
  <PresentationFormat>宽屏</PresentationFormat>
  <Paragraphs>480</Paragraphs>
  <Slides>35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35</vt:i4>
      </vt:variant>
    </vt:vector>
  </HeadingPairs>
  <TitlesOfParts>
    <vt:vector size="47" baseType="lpstr">
      <vt:lpstr>-apple-system</vt:lpstr>
      <vt:lpstr>inherit</vt:lpstr>
      <vt:lpstr>等线</vt:lpstr>
      <vt:lpstr>等线 Light</vt:lpstr>
      <vt:lpstr>Arial</vt:lpstr>
      <vt:lpstr>BankGothic Md BT</vt:lpstr>
      <vt:lpstr>Cambria Math</vt:lpstr>
      <vt:lpstr>Consolas</vt:lpstr>
      <vt:lpstr>Times New Roman</vt:lpstr>
      <vt:lpstr>Office 主题​​</vt:lpstr>
      <vt:lpstr>AxGlyph.Document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643</cp:revision>
  <dcterms:created xsi:type="dcterms:W3CDTF">2025-06-24T06:25:07Z</dcterms:created>
  <dcterms:modified xsi:type="dcterms:W3CDTF">2025-10-06T04:22:12Z</dcterms:modified>
</cp:coreProperties>
</file>